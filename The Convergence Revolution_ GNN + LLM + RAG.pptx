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embeddedFontLst>
    <p:embeddedFont>
      <p:font typeface="Quattrocento Sans" charset="-122" pitchFamily="34"/>
      <p:regular r:id="rId25"/>
    </p:embeddedFont>
    <p:embeddedFont>
      <p:font typeface="Liter" charset="-122" pitchFamily="34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font" Target="fonts/font1.fntdata"/><Relationship Id="rId2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63e6c4d9b522f4152ce8fa57df27536fbdba73e2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111" r="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457200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360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Deep Dive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3400" y="723900"/>
            <a:ext cx="2466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March 2026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629728"/>
            <a:ext cx="11849100" cy="159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Convergence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66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Revolution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4810" y="3454718"/>
            <a:ext cx="798195" cy="464820"/>
          </a:xfrm>
          <a:custGeom>
            <a:avLst/>
            <a:gdLst/>
            <a:ahLst/>
            <a:cxnLst/>
            <a:rect l="l" t="t" r="r" b="b"/>
            <a:pathLst>
              <a:path w="798195" h="464820">
                <a:moveTo>
                  <a:pt x="76198" y="0"/>
                </a:moveTo>
                <a:lnTo>
                  <a:pt x="721997" y="0"/>
                </a:lnTo>
                <a:cubicBezTo>
                  <a:pt x="764080" y="0"/>
                  <a:pt x="798195" y="34115"/>
                  <a:pt x="798195" y="76198"/>
                </a:cubicBezTo>
                <a:lnTo>
                  <a:pt x="798195" y="388622"/>
                </a:lnTo>
                <a:cubicBezTo>
                  <a:pt x="798195" y="430705"/>
                  <a:pt x="764080" y="464820"/>
                  <a:pt x="721997" y="464820"/>
                </a:cubicBezTo>
                <a:lnTo>
                  <a:pt x="76198" y="464820"/>
                </a:lnTo>
                <a:cubicBezTo>
                  <a:pt x="34115" y="464820"/>
                  <a:pt x="0" y="430705"/>
                  <a:pt x="0" y="38862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4ECDC4">
              <a:alpha val="14902"/>
            </a:srgbClr>
          </a:solidFill>
          <a:ln w="1016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9120" y="3546158"/>
            <a:ext cx="506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GNN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41120" y="3515678"/>
            <a:ext cx="285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639372" y="3454718"/>
            <a:ext cx="769620" cy="464820"/>
          </a:xfrm>
          <a:custGeom>
            <a:avLst/>
            <a:gdLst/>
            <a:ahLst/>
            <a:cxnLst/>
            <a:rect l="l" t="t" r="r" b="b"/>
            <a:pathLst>
              <a:path w="769620" h="464820">
                <a:moveTo>
                  <a:pt x="76198" y="0"/>
                </a:moveTo>
                <a:lnTo>
                  <a:pt x="693422" y="0"/>
                </a:lnTo>
                <a:cubicBezTo>
                  <a:pt x="735505" y="0"/>
                  <a:pt x="769620" y="34115"/>
                  <a:pt x="769620" y="76198"/>
                </a:cubicBezTo>
                <a:lnTo>
                  <a:pt x="769620" y="388622"/>
                </a:lnTo>
                <a:cubicBezTo>
                  <a:pt x="769620" y="430705"/>
                  <a:pt x="735505" y="464820"/>
                  <a:pt x="693422" y="464820"/>
                </a:cubicBezTo>
                <a:lnTo>
                  <a:pt x="76198" y="464820"/>
                </a:lnTo>
                <a:cubicBezTo>
                  <a:pt x="34115" y="464820"/>
                  <a:pt x="0" y="430705"/>
                  <a:pt x="0" y="38862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FD166">
              <a:alpha val="14902"/>
            </a:srgbClr>
          </a:solidFill>
          <a:ln w="10160">
            <a:solidFill>
              <a:srgbClr val="FFD166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33682" y="3546158"/>
            <a:ext cx="476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565202" y="3515678"/>
            <a:ext cx="285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863453" y="3454718"/>
            <a:ext cx="769620" cy="464820"/>
          </a:xfrm>
          <a:custGeom>
            <a:avLst/>
            <a:gdLst/>
            <a:ahLst/>
            <a:cxnLst/>
            <a:rect l="l" t="t" r="r" b="b"/>
            <a:pathLst>
              <a:path w="769620" h="464820">
                <a:moveTo>
                  <a:pt x="76198" y="0"/>
                </a:moveTo>
                <a:lnTo>
                  <a:pt x="693422" y="0"/>
                </a:lnTo>
                <a:cubicBezTo>
                  <a:pt x="735505" y="0"/>
                  <a:pt x="769620" y="34115"/>
                  <a:pt x="769620" y="76198"/>
                </a:cubicBezTo>
                <a:lnTo>
                  <a:pt x="769620" y="388622"/>
                </a:lnTo>
                <a:cubicBezTo>
                  <a:pt x="769620" y="430705"/>
                  <a:pt x="735505" y="464820"/>
                  <a:pt x="693422" y="464820"/>
                </a:cubicBezTo>
                <a:lnTo>
                  <a:pt x="76198" y="464820"/>
                </a:lnTo>
                <a:cubicBezTo>
                  <a:pt x="34115" y="464820"/>
                  <a:pt x="0" y="430705"/>
                  <a:pt x="0" y="38862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4ECDC4">
              <a:alpha val="14902"/>
            </a:srgbClr>
          </a:solidFill>
          <a:ln w="1016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57763" y="3546158"/>
            <a:ext cx="4732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81000" y="4228147"/>
            <a:ext cx="74295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Unlocking the Synergy of Graph Neural Networks, Large Language Models,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Retrieval-Augmented Generation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94097" y="62960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83046" y="29468"/>
                </a:moveTo>
                <a:lnTo>
                  <a:pt x="109835" y="29468"/>
                </a:lnTo>
                <a:lnTo>
                  <a:pt x="109835" y="45541"/>
                </a:lnTo>
                <a:lnTo>
                  <a:pt x="83046" y="45541"/>
                </a:lnTo>
                <a:lnTo>
                  <a:pt x="83046" y="29468"/>
                </a:lnTo>
                <a:close/>
                <a:moveTo>
                  <a:pt x="80367" y="10716"/>
                </a:moveTo>
                <a:cubicBezTo>
                  <a:pt x="71493" y="10716"/>
                  <a:pt x="64294" y="17915"/>
                  <a:pt x="64294" y="26789"/>
                </a:cubicBezTo>
                <a:lnTo>
                  <a:pt x="64294" y="48220"/>
                </a:lnTo>
                <a:cubicBezTo>
                  <a:pt x="64294" y="57094"/>
                  <a:pt x="71493" y="64294"/>
                  <a:pt x="80367" y="64294"/>
                </a:cubicBezTo>
                <a:lnTo>
                  <a:pt x="85725" y="64294"/>
                </a:lnTo>
                <a:lnTo>
                  <a:pt x="85725" y="75009"/>
                </a:lnTo>
                <a:lnTo>
                  <a:pt x="10716" y="75009"/>
                </a:ln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42863" y="96441"/>
                </a:lnTo>
                <a:lnTo>
                  <a:pt x="42863" y="107156"/>
                </a:lnTo>
                <a:lnTo>
                  <a:pt x="37505" y="107156"/>
                </a:lnTo>
                <a:cubicBezTo>
                  <a:pt x="28631" y="107156"/>
                  <a:pt x="21431" y="114356"/>
                  <a:pt x="21431" y="123230"/>
                </a:cubicBezTo>
                <a:lnTo>
                  <a:pt x="21431" y="144661"/>
                </a:lnTo>
                <a:cubicBezTo>
                  <a:pt x="21431" y="153535"/>
                  <a:pt x="28631" y="160734"/>
                  <a:pt x="37505" y="160734"/>
                </a:cubicBezTo>
                <a:lnTo>
                  <a:pt x="69652" y="160734"/>
                </a:lnTo>
                <a:cubicBezTo>
                  <a:pt x="78525" y="160734"/>
                  <a:pt x="85725" y="153535"/>
                  <a:pt x="85725" y="144661"/>
                </a:cubicBezTo>
                <a:lnTo>
                  <a:pt x="85725" y="123230"/>
                </a:lnTo>
                <a:cubicBezTo>
                  <a:pt x="85725" y="114356"/>
                  <a:pt x="78525" y="107156"/>
                  <a:pt x="69652" y="107156"/>
                </a:cubicBezTo>
                <a:lnTo>
                  <a:pt x="64294" y="107156"/>
                </a:lnTo>
                <a:lnTo>
                  <a:pt x="64294" y="96441"/>
                </a:lnTo>
                <a:lnTo>
                  <a:pt x="128588" y="96441"/>
                </a:lnTo>
                <a:lnTo>
                  <a:pt x="128588" y="107156"/>
                </a:lnTo>
                <a:lnTo>
                  <a:pt x="123230" y="107156"/>
                </a:lnTo>
                <a:cubicBezTo>
                  <a:pt x="114356" y="107156"/>
                  <a:pt x="107156" y="114356"/>
                  <a:pt x="107156" y="123230"/>
                </a:cubicBezTo>
                <a:lnTo>
                  <a:pt x="107156" y="144661"/>
                </a:lnTo>
                <a:cubicBezTo>
                  <a:pt x="107156" y="153535"/>
                  <a:pt x="114356" y="160734"/>
                  <a:pt x="123230" y="160734"/>
                </a:cubicBezTo>
                <a:lnTo>
                  <a:pt x="155377" y="160734"/>
                </a:lnTo>
                <a:cubicBezTo>
                  <a:pt x="164250" y="160734"/>
                  <a:pt x="171450" y="153535"/>
                  <a:pt x="171450" y="144661"/>
                </a:cubicBezTo>
                <a:lnTo>
                  <a:pt x="171450" y="123230"/>
                </a:lnTo>
                <a:cubicBezTo>
                  <a:pt x="171450" y="114356"/>
                  <a:pt x="164250" y="107156"/>
                  <a:pt x="155377" y="107156"/>
                </a:cubicBezTo>
                <a:lnTo>
                  <a:pt x="150019" y="107156"/>
                </a:lnTo>
                <a:lnTo>
                  <a:pt x="150019" y="96441"/>
                </a:lnTo>
                <a:lnTo>
                  <a:pt x="182166" y="96441"/>
                </a:lnTo>
                <a:cubicBezTo>
                  <a:pt x="188093" y="96441"/>
                  <a:pt x="192881" y="91652"/>
                  <a:pt x="192881" y="85725"/>
                </a:cubicBezTo>
                <a:cubicBezTo>
                  <a:pt x="192881" y="79798"/>
                  <a:pt x="188093" y="75009"/>
                  <a:pt x="182166" y="75009"/>
                </a:cubicBezTo>
                <a:lnTo>
                  <a:pt x="107156" y="75009"/>
                </a:lnTo>
                <a:lnTo>
                  <a:pt x="107156" y="64294"/>
                </a:lnTo>
                <a:lnTo>
                  <a:pt x="112514" y="64294"/>
                </a:lnTo>
                <a:cubicBezTo>
                  <a:pt x="121388" y="64294"/>
                  <a:pt x="128588" y="57094"/>
                  <a:pt x="128588" y="48220"/>
                </a:cubicBezTo>
                <a:lnTo>
                  <a:pt x="128588" y="26789"/>
                </a:lnTo>
                <a:cubicBezTo>
                  <a:pt x="128588" y="17915"/>
                  <a:pt x="121388" y="10716"/>
                  <a:pt x="112514" y="10716"/>
                </a:cubicBezTo>
                <a:lnTo>
                  <a:pt x="80367" y="10716"/>
                </a:lnTo>
                <a:close/>
                <a:moveTo>
                  <a:pt x="150019" y="125909"/>
                </a:moveTo>
                <a:lnTo>
                  <a:pt x="152698" y="125909"/>
                </a:lnTo>
                <a:lnTo>
                  <a:pt x="152698" y="141982"/>
                </a:lnTo>
                <a:lnTo>
                  <a:pt x="125909" y="141982"/>
                </a:lnTo>
                <a:lnTo>
                  <a:pt x="125909" y="125909"/>
                </a:lnTo>
                <a:lnTo>
                  <a:pt x="150019" y="125909"/>
                </a:lnTo>
                <a:close/>
                <a:moveTo>
                  <a:pt x="64294" y="125909"/>
                </a:moveTo>
                <a:lnTo>
                  <a:pt x="66973" y="125909"/>
                </a:lnTo>
                <a:lnTo>
                  <a:pt x="66973" y="141982"/>
                </a:lnTo>
                <a:lnTo>
                  <a:pt x="40184" y="141982"/>
                </a:lnTo>
                <a:lnTo>
                  <a:pt x="40184" y="125909"/>
                </a:lnTo>
                <a:lnTo>
                  <a:pt x="64294" y="125909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8" name="Text 15"/>
          <p:cNvSpPr/>
          <p:nvPr/>
        </p:nvSpPr>
        <p:spPr>
          <a:xfrm>
            <a:off x="690563" y="6286500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Structural Reasoning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129314" y="62960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20" name="Text 17"/>
          <p:cNvSpPr/>
          <p:nvPr/>
        </p:nvSpPr>
        <p:spPr>
          <a:xfrm>
            <a:off x="2415064" y="6286500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 Intelligence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903821" y="62960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2" name="Text 19"/>
          <p:cNvSpPr/>
          <p:nvPr/>
        </p:nvSpPr>
        <p:spPr>
          <a:xfrm>
            <a:off x="4178856" y="6286500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Knowledge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874210" y="628650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Next-Generation AI Architecture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4067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63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62000"/>
            <a:ext cx="4229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Journey Through the </a:t>
            </a:r>
            <a:pPr>
              <a:lnSpc>
                <a:spcPct val="100000"/>
              </a:lnSpc>
            </a:pPr>
            <a:r>
              <a:rPr lang="en-US" sz="36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Convergence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057400"/>
            <a:ext cx="407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Explore the revolutionary integration of three transformative AI technologies reshaping intelligent systems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8620" y="4848225"/>
            <a:ext cx="15240" cy="704850"/>
          </a:xfrm>
          <a:custGeom>
            <a:avLst/>
            <a:gdLst/>
            <a:ahLst/>
            <a:cxnLst/>
            <a:rect l="l" t="t" r="r" b="b"/>
            <a:pathLst>
              <a:path w="15240" h="704850">
                <a:moveTo>
                  <a:pt x="0" y="0"/>
                </a:moveTo>
                <a:lnTo>
                  <a:pt x="15240" y="0"/>
                </a:lnTo>
                <a:lnTo>
                  <a:pt x="15240" y="704850"/>
                </a:lnTo>
                <a:lnTo>
                  <a:pt x="0" y="70485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48225"/>
            <a:ext cx="3905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114925"/>
            <a:ext cx="38957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convergence addresses critical limitations of individual technologies while amplifying their collective strengths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8620" y="5700713"/>
            <a:ext cx="15240" cy="704850"/>
          </a:xfrm>
          <a:custGeom>
            <a:avLst/>
            <a:gdLst/>
            <a:ahLst/>
            <a:cxnLst/>
            <a:rect l="l" t="t" r="r" b="b"/>
            <a:pathLst>
              <a:path w="15240" h="704850">
                <a:moveTo>
                  <a:pt x="0" y="0"/>
                </a:moveTo>
                <a:lnTo>
                  <a:pt x="15240" y="0"/>
                </a:lnTo>
                <a:lnTo>
                  <a:pt x="15240" y="704850"/>
                </a:lnTo>
                <a:lnTo>
                  <a:pt x="0" y="704850"/>
                </a:lnTo>
                <a:lnTo>
                  <a:pt x="0" y="0"/>
                </a:lnTo>
                <a:close/>
              </a:path>
            </a:pathLst>
          </a:custGeom>
          <a:solidFill>
            <a:srgbClr val="FFD166">
              <a:alpha val="3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700713"/>
            <a:ext cx="3905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You'll Learn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5967413"/>
            <a:ext cx="38957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foundations, breakthrough frameworks, real-world applications, and future directions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90110" y="1075849"/>
            <a:ext cx="3436620" cy="1341120"/>
          </a:xfrm>
          <a:custGeom>
            <a:avLst/>
            <a:gdLst/>
            <a:ahLst/>
            <a:cxnLst/>
            <a:rect l="l" t="t" r="r" b="b"/>
            <a:pathLst>
              <a:path w="3436620" h="1341120">
                <a:moveTo>
                  <a:pt x="114304" y="0"/>
                </a:moveTo>
                <a:lnTo>
                  <a:pt x="3322316" y="0"/>
                </a:lnTo>
                <a:cubicBezTo>
                  <a:pt x="3385445" y="0"/>
                  <a:pt x="3436620" y="51175"/>
                  <a:pt x="3436620" y="114304"/>
                </a:cubicBezTo>
                <a:lnTo>
                  <a:pt x="3436620" y="1226816"/>
                </a:lnTo>
                <a:cubicBezTo>
                  <a:pt x="3436620" y="1289945"/>
                  <a:pt x="3385445" y="1341120"/>
                  <a:pt x="3322316" y="1341120"/>
                </a:cubicBezTo>
                <a:lnTo>
                  <a:pt x="114304" y="1341120"/>
                </a:lnTo>
                <a:cubicBezTo>
                  <a:pt x="51175" y="1341120"/>
                  <a:pt x="0" y="1289945"/>
                  <a:pt x="0" y="122681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23205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14902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975979" y="1327309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55920" y="1232059"/>
            <a:ext cx="2600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Triad Convergence Paradigm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55920" y="1555909"/>
            <a:ext cx="25812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why GNNs, LLMs, and RAG are stronger together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66760" y="1075849"/>
            <a:ext cx="3436620" cy="1341120"/>
          </a:xfrm>
          <a:custGeom>
            <a:avLst/>
            <a:gdLst/>
            <a:ahLst/>
            <a:cxnLst/>
            <a:rect l="l" t="t" r="r" b="b"/>
            <a:pathLst>
              <a:path w="3436620" h="1341120">
                <a:moveTo>
                  <a:pt x="114304" y="0"/>
                </a:moveTo>
                <a:lnTo>
                  <a:pt x="3322316" y="0"/>
                </a:lnTo>
                <a:cubicBezTo>
                  <a:pt x="3385445" y="0"/>
                  <a:pt x="3436620" y="51175"/>
                  <a:pt x="3436620" y="114304"/>
                </a:cubicBezTo>
                <a:lnTo>
                  <a:pt x="3436620" y="1226816"/>
                </a:lnTo>
                <a:cubicBezTo>
                  <a:pt x="3436620" y="1289945"/>
                  <a:pt x="3385445" y="1341120"/>
                  <a:pt x="3322316" y="1341120"/>
                </a:cubicBezTo>
                <a:lnTo>
                  <a:pt x="114304" y="1341120"/>
                </a:lnTo>
                <a:cubicBezTo>
                  <a:pt x="51175" y="1341120"/>
                  <a:pt x="0" y="1289945"/>
                  <a:pt x="0" y="122681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22970" y="123205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D166">
              <a:alpha val="14902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635365" y="1327309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32570" y="1232059"/>
            <a:ext cx="26003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Foundations &amp; Architecture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32570" y="1822609"/>
            <a:ext cx="25812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GNNs, LLMs, and RAG integrate at the architectural level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90110" y="2610326"/>
            <a:ext cx="3436620" cy="1074420"/>
          </a:xfrm>
          <a:custGeom>
            <a:avLst/>
            <a:gdLst/>
            <a:ahLst/>
            <a:cxnLst/>
            <a:rect l="l" t="t" r="r" b="b"/>
            <a:pathLst>
              <a:path w="3436620" h="1074420">
                <a:moveTo>
                  <a:pt x="114297" y="0"/>
                </a:moveTo>
                <a:lnTo>
                  <a:pt x="3322323" y="0"/>
                </a:lnTo>
                <a:cubicBezTo>
                  <a:pt x="3385448" y="0"/>
                  <a:pt x="3436620" y="51172"/>
                  <a:pt x="3436620" y="114297"/>
                </a:cubicBezTo>
                <a:lnTo>
                  <a:pt x="3436620" y="960123"/>
                </a:lnTo>
                <a:cubicBezTo>
                  <a:pt x="3436620" y="1023248"/>
                  <a:pt x="3385448" y="1074420"/>
                  <a:pt x="3322323" y="1074420"/>
                </a:cubicBezTo>
                <a:lnTo>
                  <a:pt x="114297" y="1074420"/>
                </a:lnTo>
                <a:cubicBezTo>
                  <a:pt x="51172" y="1074420"/>
                  <a:pt x="0" y="1023248"/>
                  <a:pt x="0" y="96012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76653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14902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957882" y="2861787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55920" y="2766537"/>
            <a:ext cx="2600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Leading Frameworks &amp; Methods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55920" y="3090387"/>
            <a:ext cx="25812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State-of-the-art approaches driving the convergence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66760" y="2610326"/>
            <a:ext cx="3436620" cy="1074420"/>
          </a:xfrm>
          <a:custGeom>
            <a:avLst/>
            <a:gdLst/>
            <a:ahLst/>
            <a:cxnLst/>
            <a:rect l="l" t="t" r="r" b="b"/>
            <a:pathLst>
              <a:path w="3436620" h="1074420">
                <a:moveTo>
                  <a:pt x="114297" y="0"/>
                </a:moveTo>
                <a:lnTo>
                  <a:pt x="3322323" y="0"/>
                </a:lnTo>
                <a:cubicBezTo>
                  <a:pt x="3385448" y="0"/>
                  <a:pt x="3436620" y="51172"/>
                  <a:pt x="3436620" y="114297"/>
                </a:cubicBezTo>
                <a:lnTo>
                  <a:pt x="3436620" y="960123"/>
                </a:lnTo>
                <a:cubicBezTo>
                  <a:pt x="3436620" y="1023248"/>
                  <a:pt x="3385448" y="1074420"/>
                  <a:pt x="3322323" y="1074420"/>
                </a:cubicBezTo>
                <a:lnTo>
                  <a:pt x="114297" y="1074420"/>
                </a:lnTo>
                <a:cubicBezTo>
                  <a:pt x="51172" y="1074420"/>
                  <a:pt x="0" y="1023248"/>
                  <a:pt x="0" y="96012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22970" y="276653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D166">
              <a:alpha val="14902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634651" y="2861787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32570" y="2766537"/>
            <a:ext cx="2600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Applications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32570" y="3090387"/>
            <a:ext cx="25812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 the convergence delivers transformative impact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690110" y="3878104"/>
            <a:ext cx="3436620" cy="855345"/>
          </a:xfrm>
          <a:custGeom>
            <a:avLst/>
            <a:gdLst/>
            <a:ahLst/>
            <a:cxnLst/>
            <a:rect l="l" t="t" r="r" b="b"/>
            <a:pathLst>
              <a:path w="3436620" h="855345">
                <a:moveTo>
                  <a:pt x="114300" y="0"/>
                </a:moveTo>
                <a:lnTo>
                  <a:pt x="3322320" y="0"/>
                </a:lnTo>
                <a:cubicBezTo>
                  <a:pt x="3385446" y="0"/>
                  <a:pt x="3436620" y="51174"/>
                  <a:pt x="3436620" y="114300"/>
                </a:cubicBezTo>
                <a:lnTo>
                  <a:pt x="3436620" y="741045"/>
                </a:lnTo>
                <a:cubicBezTo>
                  <a:pt x="3436620" y="804171"/>
                  <a:pt x="3385446" y="855345"/>
                  <a:pt x="3322320" y="855345"/>
                </a:cubicBezTo>
                <a:lnTo>
                  <a:pt x="114300" y="855345"/>
                </a:lnTo>
                <a:cubicBezTo>
                  <a:pt x="51174" y="855345"/>
                  <a:pt x="0" y="804171"/>
                  <a:pt x="0" y="74104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403431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14902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959191" y="4129564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55920" y="4034314"/>
            <a:ext cx="2371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Breakthroughs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455920" y="4358164"/>
            <a:ext cx="23526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Quantifying the convergence advantage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66760" y="3878104"/>
            <a:ext cx="3436620" cy="855345"/>
          </a:xfrm>
          <a:custGeom>
            <a:avLst/>
            <a:gdLst/>
            <a:ahLst/>
            <a:cxnLst/>
            <a:rect l="l" t="t" r="r" b="b"/>
            <a:pathLst>
              <a:path w="3436620" h="855345">
                <a:moveTo>
                  <a:pt x="114300" y="0"/>
                </a:moveTo>
                <a:lnTo>
                  <a:pt x="3322320" y="0"/>
                </a:lnTo>
                <a:cubicBezTo>
                  <a:pt x="3385446" y="0"/>
                  <a:pt x="3436620" y="51174"/>
                  <a:pt x="3436620" y="114300"/>
                </a:cubicBezTo>
                <a:lnTo>
                  <a:pt x="3436620" y="741045"/>
                </a:lnTo>
                <a:cubicBezTo>
                  <a:pt x="3436620" y="804171"/>
                  <a:pt x="3385446" y="855345"/>
                  <a:pt x="3322320" y="855345"/>
                </a:cubicBezTo>
                <a:lnTo>
                  <a:pt x="114300" y="855345"/>
                </a:lnTo>
                <a:cubicBezTo>
                  <a:pt x="51174" y="855345"/>
                  <a:pt x="0" y="804171"/>
                  <a:pt x="0" y="74104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22970" y="403431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D166">
              <a:alpha val="14902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633817" y="4129564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32570" y="4034314"/>
            <a:ext cx="243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&amp; Frontiers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32570" y="4358164"/>
            <a:ext cx="24193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Navigating the path to mature integration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690110" y="4929187"/>
            <a:ext cx="7113270" cy="855345"/>
          </a:xfrm>
          <a:custGeom>
            <a:avLst/>
            <a:gdLst/>
            <a:ahLst/>
            <a:cxnLst/>
            <a:rect l="l" t="t" r="r" b="b"/>
            <a:pathLst>
              <a:path w="7113270" h="855345">
                <a:moveTo>
                  <a:pt x="114300" y="0"/>
                </a:moveTo>
                <a:lnTo>
                  <a:pt x="6998970" y="0"/>
                </a:lnTo>
                <a:cubicBezTo>
                  <a:pt x="7062096" y="0"/>
                  <a:pt x="7113270" y="51174"/>
                  <a:pt x="7113270" y="114300"/>
                </a:cubicBezTo>
                <a:lnTo>
                  <a:pt x="7113270" y="741045"/>
                </a:lnTo>
                <a:cubicBezTo>
                  <a:pt x="7113270" y="804171"/>
                  <a:pt x="7062096" y="855345"/>
                  <a:pt x="6998970" y="855345"/>
                </a:cubicBezTo>
                <a:lnTo>
                  <a:pt x="114300" y="855345"/>
                </a:lnTo>
                <a:cubicBezTo>
                  <a:pt x="51174" y="855345"/>
                  <a:pt x="0" y="804171"/>
                  <a:pt x="0" y="74104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508539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14902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965382" y="5180648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455920" y="5085398"/>
            <a:ext cx="511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Road Ahead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455920" y="5409248"/>
            <a:ext cx="50958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Emerging trends and future directions shaping the next generation of intelligent systems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fbe4dc8d107cd176971782a69f88b34e3b49aa41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8620" y="1000126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152398" y="0"/>
                </a:moveTo>
                <a:lnTo>
                  <a:pt x="596267" y="0"/>
                </a:lnTo>
                <a:cubicBezTo>
                  <a:pt x="680378" y="0"/>
                  <a:pt x="748665" y="68287"/>
                  <a:pt x="748665" y="152398"/>
                </a:cubicBezTo>
                <a:lnTo>
                  <a:pt x="748665" y="596267"/>
                </a:lnTo>
                <a:cubicBezTo>
                  <a:pt x="748665" y="680378"/>
                  <a:pt x="680378" y="748665"/>
                  <a:pt x="596267" y="748665"/>
                </a:cubicBezTo>
                <a:lnTo>
                  <a:pt x="152398" y="748665"/>
                </a:lnTo>
                <a:cubicBezTo>
                  <a:pt x="68287" y="748665"/>
                  <a:pt x="0" y="680378"/>
                  <a:pt x="0" y="59626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20320">
            <a:solidFill>
              <a:srgbClr val="4ECDC4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4002" y="1183006"/>
            <a:ext cx="523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368743"/>
            <a:ext cx="6705600" cy="9525"/>
          </a:xfrm>
          <a:custGeom>
            <a:avLst/>
            <a:gdLst/>
            <a:ahLst/>
            <a:cxnLst/>
            <a:rect l="l" t="t" r="r" b="b"/>
            <a:pathLst>
              <a:path w="6705600" h="9525">
                <a:moveTo>
                  <a:pt x="0" y="0"/>
                </a:moveTo>
                <a:lnTo>
                  <a:pt x="6705600" y="0"/>
                </a:lnTo>
                <a:lnTo>
                  <a:pt x="6705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381000" y="2059306"/>
            <a:ext cx="7962900" cy="2266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Triad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Convergence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Paradigm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551045"/>
            <a:ext cx="5600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why GNNs, LLMs, and RAG are stronger together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73214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0" name="Text 7"/>
          <p:cNvSpPr/>
          <p:nvPr/>
        </p:nvSpPr>
        <p:spPr>
          <a:xfrm>
            <a:off x="552450" y="5674995"/>
            <a:ext cx="1581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Complementary Strengths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292667" y="573214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12" name="Text 9"/>
          <p:cNvSpPr/>
          <p:nvPr/>
        </p:nvSpPr>
        <p:spPr>
          <a:xfrm>
            <a:off x="2464118" y="5674995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Synergistic Integration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973473" y="573214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4" name="Text 11"/>
          <p:cNvSpPr/>
          <p:nvPr/>
        </p:nvSpPr>
        <p:spPr>
          <a:xfrm>
            <a:off x="4144923" y="5674995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Transformative Impact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63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Triad Convergence Paradigm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Convergence Matters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23010"/>
            <a:ext cx="6789420" cy="3550920"/>
          </a:xfrm>
          <a:custGeom>
            <a:avLst/>
            <a:gdLst/>
            <a:ahLst/>
            <a:cxnLst/>
            <a:rect l="l" t="t" r="r" b="b"/>
            <a:pathLst>
              <a:path w="6789420" h="3550920">
                <a:moveTo>
                  <a:pt x="114304" y="0"/>
                </a:moveTo>
                <a:lnTo>
                  <a:pt x="6675116" y="0"/>
                </a:lnTo>
                <a:cubicBezTo>
                  <a:pt x="6738244" y="0"/>
                  <a:pt x="6789420" y="51176"/>
                  <a:pt x="6789420" y="114304"/>
                </a:cubicBezTo>
                <a:lnTo>
                  <a:pt x="6789420" y="3436616"/>
                </a:lnTo>
                <a:cubicBezTo>
                  <a:pt x="6789420" y="3499744"/>
                  <a:pt x="6738244" y="3550920"/>
                  <a:pt x="6675116" y="3550920"/>
                </a:cubicBezTo>
                <a:lnTo>
                  <a:pt x="114304" y="3550920"/>
                </a:lnTo>
                <a:cubicBezTo>
                  <a:pt x="51176" y="3550920"/>
                  <a:pt x="0" y="3499744"/>
                  <a:pt x="0" y="343661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556677">
              <a:alpha val="10196"/>
            </a:srgbClr>
          </a:solidFill>
          <a:ln w="10160">
            <a:solidFill>
              <a:srgbClr val="556677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2932" y="146494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5009" y="0"/>
                </a:moveTo>
                <a:cubicBezTo>
                  <a:pt x="86830" y="0"/>
                  <a:pt x="96441" y="7200"/>
                  <a:pt x="96441" y="16073"/>
                </a:cubicBezTo>
                <a:cubicBezTo>
                  <a:pt x="96441" y="19556"/>
                  <a:pt x="94967" y="22771"/>
                  <a:pt x="92422" y="25416"/>
                </a:cubicBezTo>
                <a:cubicBezTo>
                  <a:pt x="90212" y="27727"/>
                  <a:pt x="88404" y="30540"/>
                  <a:pt x="88404" y="33754"/>
                </a:cubicBezTo>
                <a:cubicBezTo>
                  <a:pt x="88404" y="38777"/>
                  <a:pt x="92489" y="42863"/>
                  <a:pt x="97512" y="42863"/>
                </a:cubicBezTo>
                <a:lnTo>
                  <a:pt x="112514" y="42863"/>
                </a:lnTo>
                <a:cubicBezTo>
                  <a:pt x="121388" y="42863"/>
                  <a:pt x="128588" y="50062"/>
                  <a:pt x="128588" y="58936"/>
                </a:cubicBezTo>
                <a:lnTo>
                  <a:pt x="128588" y="73938"/>
                </a:lnTo>
                <a:cubicBezTo>
                  <a:pt x="128588" y="78961"/>
                  <a:pt x="132673" y="83046"/>
                  <a:pt x="137696" y="83046"/>
                </a:cubicBezTo>
                <a:cubicBezTo>
                  <a:pt x="140877" y="83046"/>
                  <a:pt x="143723" y="81238"/>
                  <a:pt x="146034" y="79028"/>
                </a:cubicBezTo>
                <a:cubicBezTo>
                  <a:pt x="148679" y="76516"/>
                  <a:pt x="151894" y="75009"/>
                  <a:pt x="155377" y="75009"/>
                </a:cubicBezTo>
                <a:cubicBezTo>
                  <a:pt x="164250" y="75009"/>
                  <a:pt x="171450" y="84620"/>
                  <a:pt x="171450" y="96441"/>
                </a:cubicBezTo>
                <a:cubicBezTo>
                  <a:pt x="171450" y="108261"/>
                  <a:pt x="164250" y="117872"/>
                  <a:pt x="155377" y="117872"/>
                </a:cubicBezTo>
                <a:cubicBezTo>
                  <a:pt x="151894" y="117872"/>
                  <a:pt x="148646" y="116398"/>
                  <a:pt x="146034" y="113854"/>
                </a:cubicBezTo>
                <a:cubicBezTo>
                  <a:pt x="143723" y="111643"/>
                  <a:pt x="140910" y="109835"/>
                  <a:pt x="137696" y="109835"/>
                </a:cubicBezTo>
                <a:cubicBezTo>
                  <a:pt x="132673" y="109835"/>
                  <a:pt x="128588" y="113920"/>
                  <a:pt x="128588" y="118943"/>
                </a:cubicBezTo>
                <a:lnTo>
                  <a:pt x="128588" y="155377"/>
                </a:lnTo>
                <a:cubicBezTo>
                  <a:pt x="128588" y="164250"/>
                  <a:pt x="121388" y="171450"/>
                  <a:pt x="112514" y="171450"/>
                </a:cubicBezTo>
                <a:lnTo>
                  <a:pt x="93494" y="171450"/>
                </a:lnTo>
                <a:cubicBezTo>
                  <a:pt x="89208" y="171450"/>
                  <a:pt x="85725" y="167967"/>
                  <a:pt x="85725" y="163681"/>
                </a:cubicBezTo>
                <a:cubicBezTo>
                  <a:pt x="85725" y="160600"/>
                  <a:pt x="87667" y="157888"/>
                  <a:pt x="90145" y="156046"/>
                </a:cubicBezTo>
                <a:cubicBezTo>
                  <a:pt x="94030" y="153133"/>
                  <a:pt x="96441" y="149115"/>
                  <a:pt x="96441" y="144661"/>
                </a:cubicBezTo>
                <a:cubicBezTo>
                  <a:pt x="96441" y="135787"/>
                  <a:pt x="86830" y="128588"/>
                  <a:pt x="75009" y="128588"/>
                </a:cubicBezTo>
                <a:cubicBezTo>
                  <a:pt x="63189" y="128588"/>
                  <a:pt x="53578" y="135787"/>
                  <a:pt x="53578" y="144661"/>
                </a:cubicBezTo>
                <a:cubicBezTo>
                  <a:pt x="53578" y="149115"/>
                  <a:pt x="55989" y="153133"/>
                  <a:pt x="59874" y="156046"/>
                </a:cubicBezTo>
                <a:cubicBezTo>
                  <a:pt x="62352" y="157888"/>
                  <a:pt x="64294" y="160567"/>
                  <a:pt x="64294" y="163681"/>
                </a:cubicBezTo>
                <a:cubicBezTo>
                  <a:pt x="64294" y="167967"/>
                  <a:pt x="60811" y="171450"/>
                  <a:pt x="56525" y="171450"/>
                </a:cubicBezTo>
                <a:lnTo>
                  <a:pt x="16073" y="171450"/>
                </a:lnTo>
                <a:cubicBezTo>
                  <a:pt x="7200" y="171450"/>
                  <a:pt x="0" y="164250"/>
                  <a:pt x="0" y="155377"/>
                </a:cubicBezTo>
                <a:lnTo>
                  <a:pt x="0" y="114925"/>
                </a:lnTo>
                <a:cubicBezTo>
                  <a:pt x="0" y="110639"/>
                  <a:pt x="3483" y="107156"/>
                  <a:pt x="7769" y="107156"/>
                </a:cubicBezTo>
                <a:cubicBezTo>
                  <a:pt x="10850" y="107156"/>
                  <a:pt x="13562" y="109098"/>
                  <a:pt x="15404" y="111576"/>
                </a:cubicBezTo>
                <a:cubicBezTo>
                  <a:pt x="18317" y="115461"/>
                  <a:pt x="22335" y="117872"/>
                  <a:pt x="26789" y="117872"/>
                </a:cubicBezTo>
                <a:cubicBezTo>
                  <a:pt x="35663" y="117872"/>
                  <a:pt x="42863" y="108261"/>
                  <a:pt x="42863" y="96441"/>
                </a:cubicBezTo>
                <a:cubicBezTo>
                  <a:pt x="42863" y="84620"/>
                  <a:pt x="35663" y="75009"/>
                  <a:pt x="26789" y="75009"/>
                </a:cubicBezTo>
                <a:cubicBezTo>
                  <a:pt x="22335" y="75009"/>
                  <a:pt x="18317" y="77420"/>
                  <a:pt x="15404" y="81305"/>
                </a:cubicBezTo>
                <a:cubicBezTo>
                  <a:pt x="13562" y="83783"/>
                  <a:pt x="10883" y="85725"/>
                  <a:pt x="7769" y="85725"/>
                </a:cubicBezTo>
                <a:cubicBezTo>
                  <a:pt x="3483" y="85725"/>
                  <a:pt x="0" y="82242"/>
                  <a:pt x="0" y="77956"/>
                </a:cubicBezTo>
                <a:lnTo>
                  <a:pt x="0" y="58936"/>
                </a:lnTo>
                <a:cubicBezTo>
                  <a:pt x="0" y="50062"/>
                  <a:pt x="7200" y="42863"/>
                  <a:pt x="16073" y="42863"/>
                </a:cubicBezTo>
                <a:lnTo>
                  <a:pt x="52507" y="42863"/>
                </a:lnTo>
                <a:cubicBezTo>
                  <a:pt x="57530" y="42863"/>
                  <a:pt x="61615" y="38777"/>
                  <a:pt x="61615" y="33754"/>
                </a:cubicBezTo>
                <a:cubicBezTo>
                  <a:pt x="61615" y="30573"/>
                  <a:pt x="59807" y="27727"/>
                  <a:pt x="57596" y="25416"/>
                </a:cubicBezTo>
                <a:cubicBezTo>
                  <a:pt x="55085" y="22771"/>
                  <a:pt x="53578" y="19556"/>
                  <a:pt x="53578" y="16073"/>
                </a:cubicBezTo>
                <a:cubicBezTo>
                  <a:pt x="53578" y="7200"/>
                  <a:pt x="63189" y="0"/>
                  <a:pt x="75009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" name="Text 4"/>
          <p:cNvSpPr/>
          <p:nvPr/>
        </p:nvSpPr>
        <p:spPr>
          <a:xfrm>
            <a:off x="798195" y="1417320"/>
            <a:ext cx="6276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Complementary Challenge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9120" y="185547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7226" y="194119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0" y="20836"/>
                </a:moveTo>
                <a:cubicBezTo>
                  <a:pt x="0" y="13934"/>
                  <a:pt x="5600" y="8334"/>
                  <a:pt x="12502" y="8334"/>
                </a:cubicBezTo>
                <a:lnTo>
                  <a:pt x="37505" y="8334"/>
                </a:lnTo>
                <a:cubicBezTo>
                  <a:pt x="44407" y="8334"/>
                  <a:pt x="50006" y="13934"/>
                  <a:pt x="50006" y="20836"/>
                </a:cubicBezTo>
                <a:lnTo>
                  <a:pt x="50006" y="25003"/>
                </a:lnTo>
                <a:lnTo>
                  <a:pt x="83344" y="25003"/>
                </a:lnTo>
                <a:lnTo>
                  <a:pt x="83344" y="20836"/>
                </a:lnTo>
                <a:cubicBezTo>
                  <a:pt x="83344" y="13934"/>
                  <a:pt x="88943" y="8334"/>
                  <a:pt x="95845" y="8334"/>
                </a:cubicBezTo>
                <a:lnTo>
                  <a:pt x="120848" y="8334"/>
                </a:lnTo>
                <a:cubicBezTo>
                  <a:pt x="127750" y="8334"/>
                  <a:pt x="133350" y="13934"/>
                  <a:pt x="133350" y="20836"/>
                </a:cubicBezTo>
                <a:lnTo>
                  <a:pt x="133350" y="45839"/>
                </a:lnTo>
                <a:cubicBezTo>
                  <a:pt x="133350" y="52741"/>
                  <a:pt x="127750" y="58341"/>
                  <a:pt x="120848" y="58341"/>
                </a:cubicBezTo>
                <a:lnTo>
                  <a:pt x="95845" y="58341"/>
                </a:lnTo>
                <a:cubicBezTo>
                  <a:pt x="88943" y="58341"/>
                  <a:pt x="83344" y="52741"/>
                  <a:pt x="83344" y="45839"/>
                </a:cubicBezTo>
                <a:lnTo>
                  <a:pt x="83344" y="41672"/>
                </a:lnTo>
                <a:lnTo>
                  <a:pt x="50006" y="41672"/>
                </a:lnTo>
                <a:lnTo>
                  <a:pt x="50006" y="45839"/>
                </a:lnTo>
                <a:cubicBezTo>
                  <a:pt x="50006" y="47740"/>
                  <a:pt x="49563" y="49563"/>
                  <a:pt x="48808" y="51178"/>
                </a:cubicBezTo>
                <a:lnTo>
                  <a:pt x="66675" y="75009"/>
                </a:lnTo>
                <a:lnTo>
                  <a:pt x="87511" y="75009"/>
                </a:lnTo>
                <a:cubicBezTo>
                  <a:pt x="94413" y="75009"/>
                  <a:pt x="100013" y="80609"/>
                  <a:pt x="100013" y="87511"/>
                </a:cubicBezTo>
                <a:lnTo>
                  <a:pt x="100013" y="112514"/>
                </a:lnTo>
                <a:cubicBezTo>
                  <a:pt x="100013" y="119416"/>
                  <a:pt x="94413" y="125016"/>
                  <a:pt x="87511" y="125016"/>
                </a:cubicBezTo>
                <a:lnTo>
                  <a:pt x="62508" y="125016"/>
                </a:lnTo>
                <a:cubicBezTo>
                  <a:pt x="55606" y="125016"/>
                  <a:pt x="50006" y="119416"/>
                  <a:pt x="50006" y="112514"/>
                </a:cubicBezTo>
                <a:lnTo>
                  <a:pt x="50006" y="87511"/>
                </a:lnTo>
                <a:cubicBezTo>
                  <a:pt x="50006" y="85610"/>
                  <a:pt x="50449" y="83787"/>
                  <a:pt x="51204" y="82172"/>
                </a:cubicBezTo>
                <a:lnTo>
                  <a:pt x="33337" y="58341"/>
                </a:lnTo>
                <a:lnTo>
                  <a:pt x="12502" y="58341"/>
                </a:lnTo>
                <a:cubicBezTo>
                  <a:pt x="5600" y="58341"/>
                  <a:pt x="0" y="52741"/>
                  <a:pt x="0" y="45839"/>
                </a:cubicBezTo>
                <a:lnTo>
                  <a:pt x="0" y="20836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9" name="Text 7"/>
          <p:cNvSpPr/>
          <p:nvPr/>
        </p:nvSpPr>
        <p:spPr>
          <a:xfrm>
            <a:off x="998220" y="1836420"/>
            <a:ext cx="604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GNNs Excel at Structure, Struggle with Language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8220" y="2103120"/>
            <a:ext cx="60388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 graph topology and multi-hop reasoning but lack semantic understanding and world knowledge.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9120" y="245316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D166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58892" y="2538889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00013" y="37505"/>
                </a:moveTo>
                <a:cubicBezTo>
                  <a:pt x="100013" y="62820"/>
                  <a:pt x="77614" y="83344"/>
                  <a:pt x="50006" y="83344"/>
                </a:cubicBezTo>
                <a:cubicBezTo>
                  <a:pt x="43052" y="83344"/>
                  <a:pt x="36437" y="82042"/>
                  <a:pt x="30420" y="79697"/>
                </a:cubicBezTo>
                <a:lnTo>
                  <a:pt x="9168" y="90949"/>
                </a:lnTo>
                <a:cubicBezTo>
                  <a:pt x="6746" y="92225"/>
                  <a:pt x="3777" y="91782"/>
                  <a:pt x="1823" y="89855"/>
                </a:cubicBezTo>
                <a:cubicBezTo>
                  <a:pt x="-130" y="87928"/>
                  <a:pt x="-573" y="84932"/>
                  <a:pt x="729" y="82510"/>
                </a:cubicBezTo>
                <a:lnTo>
                  <a:pt x="10001" y="65008"/>
                </a:lnTo>
                <a:cubicBezTo>
                  <a:pt x="3724" y="57351"/>
                  <a:pt x="0" y="47818"/>
                  <a:pt x="0" y="37505"/>
                </a:cubicBezTo>
                <a:cubicBezTo>
                  <a:pt x="0" y="12189"/>
                  <a:pt x="22399" y="-8334"/>
                  <a:pt x="50006" y="-8334"/>
                </a:cubicBezTo>
                <a:cubicBezTo>
                  <a:pt x="77614" y="-8334"/>
                  <a:pt x="100013" y="12189"/>
                  <a:pt x="100013" y="37505"/>
                </a:cubicBezTo>
                <a:close/>
                <a:moveTo>
                  <a:pt x="100013" y="133350"/>
                </a:moveTo>
                <a:cubicBezTo>
                  <a:pt x="75504" y="133350"/>
                  <a:pt x="55111" y="117176"/>
                  <a:pt x="50840" y="95845"/>
                </a:cubicBezTo>
                <a:cubicBezTo>
                  <a:pt x="82094" y="95455"/>
                  <a:pt x="109258" y="73212"/>
                  <a:pt x="112254" y="43052"/>
                </a:cubicBezTo>
                <a:cubicBezTo>
                  <a:pt x="133949" y="48053"/>
                  <a:pt x="150019" y="66050"/>
                  <a:pt x="150019" y="87511"/>
                </a:cubicBezTo>
                <a:cubicBezTo>
                  <a:pt x="150019" y="97825"/>
                  <a:pt x="146294" y="107357"/>
                  <a:pt x="140018" y="115014"/>
                </a:cubicBezTo>
                <a:lnTo>
                  <a:pt x="149289" y="132517"/>
                </a:lnTo>
                <a:cubicBezTo>
                  <a:pt x="150566" y="134939"/>
                  <a:pt x="150123" y="137908"/>
                  <a:pt x="148196" y="139861"/>
                </a:cubicBezTo>
                <a:cubicBezTo>
                  <a:pt x="146268" y="141815"/>
                  <a:pt x="143273" y="142257"/>
                  <a:pt x="140851" y="140955"/>
                </a:cubicBezTo>
                <a:lnTo>
                  <a:pt x="119598" y="129704"/>
                </a:lnTo>
                <a:cubicBezTo>
                  <a:pt x="113582" y="132048"/>
                  <a:pt x="106966" y="133350"/>
                  <a:pt x="100013" y="13335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13" name="Text 11"/>
          <p:cNvSpPr/>
          <p:nvPr/>
        </p:nvSpPr>
        <p:spPr>
          <a:xfrm>
            <a:off x="998220" y="2434114"/>
            <a:ext cx="605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LLMs Master Language, Lack Graph Reasoning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8220" y="2700814"/>
            <a:ext cx="60483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 natural language and generate text but hallucinate and cannot natively process graph structures.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9120" y="326755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67226" y="335327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8347" y="54173"/>
                </a:moveTo>
                <a:cubicBezTo>
                  <a:pt x="108347" y="66128"/>
                  <a:pt x="104466" y="77171"/>
                  <a:pt x="97929" y="86131"/>
                </a:cubicBezTo>
                <a:lnTo>
                  <a:pt x="130902" y="119129"/>
                </a:lnTo>
                <a:cubicBezTo>
                  <a:pt x="134157" y="122385"/>
                  <a:pt x="134157" y="127672"/>
                  <a:pt x="130902" y="130928"/>
                </a:cubicBezTo>
                <a:cubicBezTo>
                  <a:pt x="127646" y="134183"/>
                  <a:pt x="122359" y="134183"/>
                  <a:pt x="119103" y="130928"/>
                </a:cubicBezTo>
                <a:lnTo>
                  <a:pt x="86131" y="97929"/>
                </a:lnTo>
                <a:cubicBezTo>
                  <a:pt x="77171" y="104466"/>
                  <a:pt x="66128" y="108347"/>
                  <a:pt x="54173" y="108347"/>
                </a:cubicBezTo>
                <a:cubicBezTo>
                  <a:pt x="24248" y="108347"/>
                  <a:pt x="0" y="84099"/>
                  <a:pt x="0" y="54173"/>
                </a:cubicBezTo>
                <a:cubicBezTo>
                  <a:pt x="0" y="24248"/>
                  <a:pt x="24248" y="0"/>
                  <a:pt x="54173" y="0"/>
                </a:cubicBezTo>
                <a:cubicBezTo>
                  <a:pt x="84099" y="0"/>
                  <a:pt x="108347" y="24248"/>
                  <a:pt x="108347" y="54173"/>
                </a:cubicBezTo>
                <a:close/>
                <a:moveTo>
                  <a:pt x="54173" y="91678"/>
                </a:moveTo>
                <a:cubicBezTo>
                  <a:pt x="74873" y="91678"/>
                  <a:pt x="91678" y="74873"/>
                  <a:pt x="91678" y="54173"/>
                </a:cubicBezTo>
                <a:cubicBezTo>
                  <a:pt x="91678" y="33474"/>
                  <a:pt x="74873" y="16669"/>
                  <a:pt x="54173" y="16669"/>
                </a:cubicBezTo>
                <a:cubicBezTo>
                  <a:pt x="33474" y="16669"/>
                  <a:pt x="16669" y="33474"/>
                  <a:pt x="16669" y="54173"/>
                </a:cubicBezTo>
                <a:cubicBezTo>
                  <a:pt x="16669" y="74873"/>
                  <a:pt x="33474" y="91678"/>
                  <a:pt x="54173" y="91678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7" name="Text 15"/>
          <p:cNvSpPr/>
          <p:nvPr/>
        </p:nvSpPr>
        <p:spPr>
          <a:xfrm>
            <a:off x="998220" y="3248502"/>
            <a:ext cx="605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RAG Provides Knowledge, Misses Relationships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8220" y="3515202"/>
            <a:ext cx="60483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Retrieves relevant information dynamically but traditional vector search misses critical relational structure.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4810" y="4936332"/>
            <a:ext cx="6789420" cy="1760220"/>
          </a:xfrm>
          <a:custGeom>
            <a:avLst/>
            <a:gdLst/>
            <a:ahLst/>
            <a:cxnLst/>
            <a:rect l="l" t="t" r="r" b="b"/>
            <a:pathLst>
              <a:path w="6789420" h="1760220">
                <a:moveTo>
                  <a:pt x="114309" y="0"/>
                </a:moveTo>
                <a:lnTo>
                  <a:pt x="6675111" y="0"/>
                </a:lnTo>
                <a:cubicBezTo>
                  <a:pt x="6738242" y="0"/>
                  <a:pt x="6789420" y="51178"/>
                  <a:pt x="6789420" y="114309"/>
                </a:cubicBezTo>
                <a:lnTo>
                  <a:pt x="6789420" y="1645911"/>
                </a:lnTo>
                <a:cubicBezTo>
                  <a:pt x="6789420" y="1709042"/>
                  <a:pt x="6738242" y="1760220"/>
                  <a:pt x="6675111" y="1760220"/>
                </a:cubicBezTo>
                <a:lnTo>
                  <a:pt x="114309" y="1760220"/>
                </a:lnTo>
                <a:cubicBezTo>
                  <a:pt x="51178" y="1760220"/>
                  <a:pt x="0" y="1709042"/>
                  <a:pt x="0" y="1645911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016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4364" y="5178268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21" name="Text 19"/>
          <p:cNvSpPr/>
          <p:nvPr/>
        </p:nvSpPr>
        <p:spPr>
          <a:xfrm>
            <a:off x="798195" y="5130643"/>
            <a:ext cx="6276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Convergence Solution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9120" y="5511643"/>
            <a:ext cx="6477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GNNs ground LLMs in structured knowledge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providing explicit reasoning paths.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LLMs infuse semantic richness into graph reasoning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enabling natural language interfaces.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Together they enable multi-hop reasoning with reduced hallucination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creating systems greater than the sum of their parts.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34250" y="1223010"/>
            <a:ext cx="4474845" cy="4351020"/>
          </a:xfrm>
          <a:custGeom>
            <a:avLst/>
            <a:gdLst/>
            <a:ahLst/>
            <a:cxnLst/>
            <a:rect l="l" t="t" r="r" b="b"/>
            <a:pathLst>
              <a:path w="4474845" h="4351020">
                <a:moveTo>
                  <a:pt x="114301" y="0"/>
                </a:moveTo>
                <a:lnTo>
                  <a:pt x="4360544" y="0"/>
                </a:lnTo>
                <a:cubicBezTo>
                  <a:pt x="4423671" y="0"/>
                  <a:pt x="4474845" y="51174"/>
                  <a:pt x="4474845" y="114301"/>
                </a:cubicBezTo>
                <a:lnTo>
                  <a:pt x="4474845" y="4236719"/>
                </a:lnTo>
                <a:cubicBezTo>
                  <a:pt x="4474845" y="4299846"/>
                  <a:pt x="4423671" y="4351020"/>
                  <a:pt x="4360544" y="4351020"/>
                </a:cubicBezTo>
                <a:lnTo>
                  <a:pt x="114301" y="4351020"/>
                </a:lnTo>
                <a:cubicBezTo>
                  <a:pt x="51174" y="4351020"/>
                  <a:pt x="0" y="4299846"/>
                  <a:pt x="0" y="42367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D166">
              <a:alpha val="10196"/>
            </a:srgbClr>
          </a:solidFill>
          <a:ln w="10160">
            <a:solidFill>
              <a:srgbClr val="FFD166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52373" y="146494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25" name="Text 23"/>
          <p:cNvSpPr/>
          <p:nvPr/>
        </p:nvSpPr>
        <p:spPr>
          <a:xfrm>
            <a:off x="7747635" y="1417320"/>
            <a:ext cx="396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Breakthroughs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528560" y="1836420"/>
            <a:ext cx="4086225" cy="800100"/>
          </a:xfrm>
          <a:custGeom>
            <a:avLst/>
            <a:gdLst/>
            <a:ahLst/>
            <a:cxnLst/>
            <a:rect l="l" t="t" r="r" b="b"/>
            <a:pathLst>
              <a:path w="4086225" h="800100">
                <a:moveTo>
                  <a:pt x="76202" y="0"/>
                </a:moveTo>
                <a:lnTo>
                  <a:pt x="4010023" y="0"/>
                </a:lnTo>
                <a:cubicBezTo>
                  <a:pt x="4052108" y="0"/>
                  <a:pt x="4086225" y="34117"/>
                  <a:pt x="4086225" y="76202"/>
                </a:cubicBezTo>
                <a:lnTo>
                  <a:pt x="4086225" y="723898"/>
                </a:lnTo>
                <a:cubicBezTo>
                  <a:pt x="4086225" y="765983"/>
                  <a:pt x="4052108" y="800100"/>
                  <a:pt x="401002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642860" y="1950720"/>
            <a:ext cx="971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GPT-4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47259" y="2080261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level performance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42860" y="2331720"/>
            <a:ext cx="3924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Achieved with 7B parameter models via GNN-RAG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528560" y="2750820"/>
            <a:ext cx="4086225" cy="800100"/>
          </a:xfrm>
          <a:custGeom>
            <a:avLst/>
            <a:gdLst/>
            <a:ahLst/>
            <a:cxnLst/>
            <a:rect l="l" t="t" r="r" b="b"/>
            <a:pathLst>
              <a:path w="4086225" h="800100">
                <a:moveTo>
                  <a:pt x="76202" y="0"/>
                </a:moveTo>
                <a:lnTo>
                  <a:pt x="4010023" y="0"/>
                </a:lnTo>
                <a:cubicBezTo>
                  <a:pt x="4052108" y="0"/>
                  <a:pt x="4086225" y="34117"/>
                  <a:pt x="4086225" y="76202"/>
                </a:cubicBezTo>
                <a:lnTo>
                  <a:pt x="4086225" y="723898"/>
                </a:lnTo>
                <a:cubicBezTo>
                  <a:pt x="4086225" y="765983"/>
                  <a:pt x="4052108" y="800100"/>
                  <a:pt x="401002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642860" y="2865120"/>
            <a:ext cx="14001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8.9-15.5%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81004" y="2994661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 improvement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42860" y="3246120"/>
            <a:ext cx="3924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 multi-hop and multi-entity questions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528560" y="3665220"/>
            <a:ext cx="4086225" cy="800100"/>
          </a:xfrm>
          <a:custGeom>
            <a:avLst/>
            <a:gdLst/>
            <a:ahLst/>
            <a:cxnLst/>
            <a:rect l="l" t="t" r="r" b="b"/>
            <a:pathLst>
              <a:path w="4086225" h="800100">
                <a:moveTo>
                  <a:pt x="76202" y="0"/>
                </a:moveTo>
                <a:lnTo>
                  <a:pt x="4010023" y="0"/>
                </a:lnTo>
                <a:cubicBezTo>
                  <a:pt x="4052108" y="0"/>
                  <a:pt x="4086225" y="34117"/>
                  <a:pt x="4086225" y="76202"/>
                </a:cubicBezTo>
                <a:lnTo>
                  <a:pt x="4086225" y="723898"/>
                </a:lnTo>
                <a:cubicBezTo>
                  <a:pt x="4086225" y="765983"/>
                  <a:pt x="4052108" y="800100"/>
                  <a:pt x="401002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642860" y="3779520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9×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048268" y="3909061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token reduction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642860" y="4160520"/>
            <a:ext cx="3924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Compared to long-context inference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528560" y="4579620"/>
            <a:ext cx="4086225" cy="800100"/>
          </a:xfrm>
          <a:custGeom>
            <a:avLst/>
            <a:gdLst/>
            <a:ahLst/>
            <a:cxnLst/>
            <a:rect l="l" t="t" r="r" b="b"/>
            <a:pathLst>
              <a:path w="4086225" h="800100">
                <a:moveTo>
                  <a:pt x="76202" y="0"/>
                </a:moveTo>
                <a:lnTo>
                  <a:pt x="4010023" y="0"/>
                </a:lnTo>
                <a:cubicBezTo>
                  <a:pt x="4052108" y="0"/>
                  <a:pt x="4086225" y="34117"/>
                  <a:pt x="4086225" y="76202"/>
                </a:cubicBezTo>
                <a:lnTo>
                  <a:pt x="4086225" y="723898"/>
                </a:lnTo>
                <a:cubicBezTo>
                  <a:pt x="4086225" y="765983"/>
                  <a:pt x="4052108" y="800100"/>
                  <a:pt x="401002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642860" y="4693920"/>
            <a:ext cx="466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2×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043386" y="4823461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 boost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642860" y="5074920"/>
            <a:ext cx="3924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 standard RAG baselines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334250" y="5734051"/>
            <a:ext cx="4474845" cy="960120"/>
          </a:xfrm>
          <a:custGeom>
            <a:avLst/>
            <a:gdLst/>
            <a:ahLst/>
            <a:cxnLst/>
            <a:rect l="l" t="t" r="r" b="b"/>
            <a:pathLst>
              <a:path w="4474845" h="960120">
                <a:moveTo>
                  <a:pt x="114302" y="0"/>
                </a:moveTo>
                <a:lnTo>
                  <a:pt x="4360543" y="0"/>
                </a:lnTo>
                <a:cubicBezTo>
                  <a:pt x="4423628" y="0"/>
                  <a:pt x="4474845" y="51217"/>
                  <a:pt x="4474845" y="114302"/>
                </a:cubicBezTo>
                <a:lnTo>
                  <a:pt x="4474845" y="845818"/>
                </a:lnTo>
                <a:cubicBezTo>
                  <a:pt x="4474845" y="908903"/>
                  <a:pt x="4423628" y="960120"/>
                  <a:pt x="4360543" y="960120"/>
                </a:cubicBezTo>
                <a:lnTo>
                  <a:pt x="114302" y="960120"/>
                </a:lnTo>
                <a:cubicBezTo>
                  <a:pt x="51217" y="960120"/>
                  <a:pt x="0" y="908903"/>
                  <a:pt x="0" y="84581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ECDC4">
              <a:alpha val="5098"/>
            </a:srgbClr>
          </a:solidFill>
          <a:ln w="1016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09510" y="592836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4" name="Text 42"/>
          <p:cNvSpPr/>
          <p:nvPr/>
        </p:nvSpPr>
        <p:spPr>
          <a:xfrm>
            <a:off x="7719060" y="5890261"/>
            <a:ext cx="4000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convergence isn't incremental improvement—it's a paradigm shift enabling capabilities impossible for any single technology.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513" y="341513"/>
            <a:ext cx="11568739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spc="235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Triad Convergence Paradigm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1513" y="546420"/>
            <a:ext cx="11637042" cy="307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1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Complementary Power Matrix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4928" y="925499"/>
            <a:ext cx="6247973" cy="2738931"/>
          </a:xfrm>
          <a:custGeom>
            <a:avLst/>
            <a:gdLst/>
            <a:ahLst/>
            <a:cxnLst/>
            <a:rect l="l" t="t" r="r" b="b"/>
            <a:pathLst>
              <a:path w="6247973" h="2738931">
                <a:moveTo>
                  <a:pt x="102463" y="0"/>
                </a:moveTo>
                <a:lnTo>
                  <a:pt x="6145510" y="0"/>
                </a:lnTo>
                <a:cubicBezTo>
                  <a:pt x="6202099" y="0"/>
                  <a:pt x="6247973" y="45874"/>
                  <a:pt x="6247973" y="102463"/>
                </a:cubicBezTo>
                <a:lnTo>
                  <a:pt x="6247973" y="2636468"/>
                </a:lnTo>
                <a:cubicBezTo>
                  <a:pt x="6247973" y="2693057"/>
                  <a:pt x="6202099" y="2738931"/>
                  <a:pt x="6145510" y="2738931"/>
                </a:cubicBezTo>
                <a:lnTo>
                  <a:pt x="102463" y="2738931"/>
                </a:lnTo>
                <a:cubicBezTo>
                  <a:pt x="45874" y="2738931"/>
                  <a:pt x="0" y="2693057"/>
                  <a:pt x="0" y="2636468"/>
                </a:cubicBezTo>
                <a:lnTo>
                  <a:pt x="0" y="102463"/>
                </a:lnTo>
                <a:cubicBezTo>
                  <a:pt x="0" y="45874"/>
                  <a:pt x="45874" y="0"/>
                  <a:pt x="102463" y="0"/>
                </a:cubicBezTo>
                <a:close/>
              </a:path>
            </a:pathLst>
          </a:custGeom>
          <a:solidFill>
            <a:srgbClr val="556677">
              <a:alpha val="10196"/>
            </a:srgbClr>
          </a:solidFill>
          <a:ln w="10160">
            <a:solidFill>
              <a:srgbClr val="556677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024" y="1116747"/>
            <a:ext cx="136605" cy="136605"/>
          </a:xfrm>
          <a:custGeom>
            <a:avLst/>
            <a:gdLst/>
            <a:ahLst/>
            <a:cxnLst/>
            <a:rect l="l" t="t" r="r" b="b"/>
            <a:pathLst>
              <a:path w="136605" h="136605">
                <a:moveTo>
                  <a:pt x="0" y="21345"/>
                </a:moveTo>
                <a:cubicBezTo>
                  <a:pt x="0" y="14274"/>
                  <a:pt x="5736" y="8538"/>
                  <a:pt x="12807" y="8538"/>
                </a:cubicBezTo>
                <a:lnTo>
                  <a:pt x="38420" y="8538"/>
                </a:lnTo>
                <a:cubicBezTo>
                  <a:pt x="45491" y="8538"/>
                  <a:pt x="51227" y="14274"/>
                  <a:pt x="51227" y="21345"/>
                </a:cubicBezTo>
                <a:lnTo>
                  <a:pt x="51227" y="25613"/>
                </a:lnTo>
                <a:lnTo>
                  <a:pt x="85378" y="25613"/>
                </a:lnTo>
                <a:lnTo>
                  <a:pt x="85378" y="21345"/>
                </a:lnTo>
                <a:cubicBezTo>
                  <a:pt x="85378" y="14274"/>
                  <a:pt x="91114" y="8538"/>
                  <a:pt x="98185" y="8538"/>
                </a:cubicBezTo>
                <a:lnTo>
                  <a:pt x="123798" y="8538"/>
                </a:lnTo>
                <a:cubicBezTo>
                  <a:pt x="130869" y="8538"/>
                  <a:pt x="136605" y="14274"/>
                  <a:pt x="136605" y="21345"/>
                </a:cubicBezTo>
                <a:lnTo>
                  <a:pt x="136605" y="46958"/>
                </a:lnTo>
                <a:cubicBezTo>
                  <a:pt x="136605" y="54028"/>
                  <a:pt x="130869" y="59765"/>
                  <a:pt x="123798" y="59765"/>
                </a:cubicBezTo>
                <a:lnTo>
                  <a:pt x="98185" y="59765"/>
                </a:lnTo>
                <a:cubicBezTo>
                  <a:pt x="91114" y="59765"/>
                  <a:pt x="85378" y="54028"/>
                  <a:pt x="85378" y="46958"/>
                </a:cubicBezTo>
                <a:lnTo>
                  <a:pt x="85378" y="42689"/>
                </a:lnTo>
                <a:lnTo>
                  <a:pt x="51227" y="42689"/>
                </a:lnTo>
                <a:lnTo>
                  <a:pt x="51227" y="46958"/>
                </a:lnTo>
                <a:cubicBezTo>
                  <a:pt x="51227" y="48906"/>
                  <a:pt x="50773" y="50773"/>
                  <a:pt x="50000" y="52428"/>
                </a:cubicBezTo>
                <a:lnTo>
                  <a:pt x="68303" y="76840"/>
                </a:lnTo>
                <a:lnTo>
                  <a:pt x="89647" y="76840"/>
                </a:lnTo>
                <a:cubicBezTo>
                  <a:pt x="96717" y="76840"/>
                  <a:pt x="102454" y="82577"/>
                  <a:pt x="102454" y="89647"/>
                </a:cubicBezTo>
                <a:lnTo>
                  <a:pt x="102454" y="115261"/>
                </a:lnTo>
                <a:cubicBezTo>
                  <a:pt x="102454" y="122331"/>
                  <a:pt x="96717" y="128067"/>
                  <a:pt x="89647" y="128067"/>
                </a:cubicBezTo>
                <a:lnTo>
                  <a:pt x="64034" y="128067"/>
                </a:lnTo>
                <a:cubicBezTo>
                  <a:pt x="56963" y="128067"/>
                  <a:pt x="51227" y="122331"/>
                  <a:pt x="51227" y="115261"/>
                </a:cubicBezTo>
                <a:lnTo>
                  <a:pt x="51227" y="89647"/>
                </a:lnTo>
                <a:cubicBezTo>
                  <a:pt x="51227" y="87699"/>
                  <a:pt x="51680" y="85832"/>
                  <a:pt x="52454" y="84178"/>
                </a:cubicBezTo>
                <a:lnTo>
                  <a:pt x="34151" y="59765"/>
                </a:lnTo>
                <a:lnTo>
                  <a:pt x="12807" y="59765"/>
                </a:lnTo>
                <a:cubicBezTo>
                  <a:pt x="5736" y="59765"/>
                  <a:pt x="0" y="54028"/>
                  <a:pt x="0" y="46958"/>
                </a:cubicBezTo>
                <a:lnTo>
                  <a:pt x="0" y="21345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" name="Text 4"/>
          <p:cNvSpPr/>
          <p:nvPr/>
        </p:nvSpPr>
        <p:spPr>
          <a:xfrm>
            <a:off x="655704" y="1065520"/>
            <a:ext cx="5874017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 Neural Networks (GNNs)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1778" y="1372881"/>
            <a:ext cx="2943839" cy="563496"/>
          </a:xfrm>
          <a:custGeom>
            <a:avLst/>
            <a:gdLst/>
            <a:ahLst/>
            <a:cxnLst/>
            <a:rect l="l" t="t" r="r" b="b"/>
            <a:pathLst>
              <a:path w="2943839" h="563496">
                <a:moveTo>
                  <a:pt x="13661" y="0"/>
                </a:moveTo>
                <a:lnTo>
                  <a:pt x="2875537" y="0"/>
                </a:lnTo>
                <a:cubicBezTo>
                  <a:pt x="2913259" y="0"/>
                  <a:pt x="2943839" y="30580"/>
                  <a:pt x="2943839" y="68301"/>
                </a:cubicBezTo>
                <a:lnTo>
                  <a:pt x="2943839" y="495194"/>
                </a:lnTo>
                <a:cubicBezTo>
                  <a:pt x="2943839" y="532916"/>
                  <a:pt x="2913259" y="563496"/>
                  <a:pt x="2875537" y="563496"/>
                </a:cubicBez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16"/>
                  <a:pt x="6116" y="0"/>
                  <a:pt x="136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1778" y="1372881"/>
            <a:ext cx="13661" cy="563496"/>
          </a:xfrm>
          <a:custGeom>
            <a:avLst/>
            <a:gdLst/>
            <a:ahLst/>
            <a:cxnLst/>
            <a:rect l="l" t="t" r="r" b="b"/>
            <a:pathLst>
              <a:path w="13661" h="563496">
                <a:moveTo>
                  <a:pt x="13661" y="0"/>
                </a:moveTo>
                <a:lnTo>
                  <a:pt x="13661" y="0"/>
                </a:lnTo>
                <a:lnTo>
                  <a:pt x="13661" y="563496"/>
                </a:ln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21"/>
                  <a:pt x="6121" y="0"/>
                  <a:pt x="13661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9" name="Text 7"/>
          <p:cNvSpPr/>
          <p:nvPr/>
        </p:nvSpPr>
        <p:spPr>
          <a:xfrm>
            <a:off x="583987" y="1458259"/>
            <a:ext cx="2834555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 Structure Encoding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3987" y="1680242"/>
            <a:ext cx="2834555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7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Captures entity relationships and topology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08829" y="1372881"/>
            <a:ext cx="2943839" cy="563496"/>
          </a:xfrm>
          <a:custGeom>
            <a:avLst/>
            <a:gdLst/>
            <a:ahLst/>
            <a:cxnLst/>
            <a:rect l="l" t="t" r="r" b="b"/>
            <a:pathLst>
              <a:path w="2943839" h="563496">
                <a:moveTo>
                  <a:pt x="13661" y="0"/>
                </a:moveTo>
                <a:lnTo>
                  <a:pt x="2875537" y="0"/>
                </a:lnTo>
                <a:cubicBezTo>
                  <a:pt x="2913259" y="0"/>
                  <a:pt x="2943839" y="30580"/>
                  <a:pt x="2943839" y="68301"/>
                </a:cubicBezTo>
                <a:lnTo>
                  <a:pt x="2943839" y="495194"/>
                </a:lnTo>
                <a:cubicBezTo>
                  <a:pt x="2943839" y="532916"/>
                  <a:pt x="2913259" y="563496"/>
                  <a:pt x="2875537" y="563496"/>
                </a:cubicBez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16"/>
                  <a:pt x="6116" y="0"/>
                  <a:pt x="136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508829" y="1372881"/>
            <a:ext cx="13661" cy="563496"/>
          </a:xfrm>
          <a:custGeom>
            <a:avLst/>
            <a:gdLst/>
            <a:ahLst/>
            <a:cxnLst/>
            <a:rect l="l" t="t" r="r" b="b"/>
            <a:pathLst>
              <a:path w="13661" h="563496">
                <a:moveTo>
                  <a:pt x="13661" y="0"/>
                </a:moveTo>
                <a:lnTo>
                  <a:pt x="13661" y="0"/>
                </a:lnTo>
                <a:lnTo>
                  <a:pt x="13661" y="563496"/>
                </a:ln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21"/>
                  <a:pt x="6121" y="0"/>
                  <a:pt x="13661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3" name="Text 11"/>
          <p:cNvSpPr/>
          <p:nvPr/>
        </p:nvSpPr>
        <p:spPr>
          <a:xfrm>
            <a:off x="3601037" y="1458259"/>
            <a:ext cx="2834555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Multi-Hop Reasoning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01037" y="1680242"/>
            <a:ext cx="2834555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7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Traverses complex relational paths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1778" y="2004679"/>
            <a:ext cx="2943839" cy="563496"/>
          </a:xfrm>
          <a:custGeom>
            <a:avLst/>
            <a:gdLst/>
            <a:ahLst/>
            <a:cxnLst/>
            <a:rect l="l" t="t" r="r" b="b"/>
            <a:pathLst>
              <a:path w="2943839" h="563496">
                <a:moveTo>
                  <a:pt x="13661" y="0"/>
                </a:moveTo>
                <a:lnTo>
                  <a:pt x="2875537" y="0"/>
                </a:lnTo>
                <a:cubicBezTo>
                  <a:pt x="2913259" y="0"/>
                  <a:pt x="2943839" y="30580"/>
                  <a:pt x="2943839" y="68301"/>
                </a:cubicBezTo>
                <a:lnTo>
                  <a:pt x="2943839" y="495194"/>
                </a:lnTo>
                <a:cubicBezTo>
                  <a:pt x="2943839" y="532916"/>
                  <a:pt x="2913259" y="563496"/>
                  <a:pt x="2875537" y="563496"/>
                </a:cubicBez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16"/>
                  <a:pt x="6116" y="0"/>
                  <a:pt x="136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91778" y="2004679"/>
            <a:ext cx="13661" cy="563496"/>
          </a:xfrm>
          <a:custGeom>
            <a:avLst/>
            <a:gdLst/>
            <a:ahLst/>
            <a:cxnLst/>
            <a:rect l="l" t="t" r="r" b="b"/>
            <a:pathLst>
              <a:path w="13661" h="563496">
                <a:moveTo>
                  <a:pt x="13661" y="0"/>
                </a:moveTo>
                <a:lnTo>
                  <a:pt x="13661" y="0"/>
                </a:lnTo>
                <a:lnTo>
                  <a:pt x="13661" y="563496"/>
                </a:ln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21"/>
                  <a:pt x="6121" y="0"/>
                  <a:pt x="13661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7" name="Text 15"/>
          <p:cNvSpPr/>
          <p:nvPr/>
        </p:nvSpPr>
        <p:spPr>
          <a:xfrm>
            <a:off x="583987" y="2090058"/>
            <a:ext cx="2834555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Permutation Invariance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3987" y="2312041"/>
            <a:ext cx="2834555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7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Order-independent graph processing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08829" y="2004679"/>
            <a:ext cx="2943839" cy="563496"/>
          </a:xfrm>
          <a:custGeom>
            <a:avLst/>
            <a:gdLst/>
            <a:ahLst/>
            <a:cxnLst/>
            <a:rect l="l" t="t" r="r" b="b"/>
            <a:pathLst>
              <a:path w="2943839" h="563496">
                <a:moveTo>
                  <a:pt x="13661" y="0"/>
                </a:moveTo>
                <a:lnTo>
                  <a:pt x="2875537" y="0"/>
                </a:lnTo>
                <a:cubicBezTo>
                  <a:pt x="2913259" y="0"/>
                  <a:pt x="2943839" y="30580"/>
                  <a:pt x="2943839" y="68301"/>
                </a:cubicBezTo>
                <a:lnTo>
                  <a:pt x="2943839" y="495194"/>
                </a:lnTo>
                <a:cubicBezTo>
                  <a:pt x="2943839" y="532916"/>
                  <a:pt x="2913259" y="563496"/>
                  <a:pt x="2875537" y="563496"/>
                </a:cubicBez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16"/>
                  <a:pt x="6116" y="0"/>
                  <a:pt x="136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508829" y="2004679"/>
            <a:ext cx="13661" cy="563496"/>
          </a:xfrm>
          <a:custGeom>
            <a:avLst/>
            <a:gdLst/>
            <a:ahLst/>
            <a:cxnLst/>
            <a:rect l="l" t="t" r="r" b="b"/>
            <a:pathLst>
              <a:path w="13661" h="563496">
                <a:moveTo>
                  <a:pt x="13661" y="0"/>
                </a:moveTo>
                <a:lnTo>
                  <a:pt x="13661" y="0"/>
                </a:lnTo>
                <a:lnTo>
                  <a:pt x="13661" y="563496"/>
                </a:ln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21"/>
                  <a:pt x="6121" y="0"/>
                  <a:pt x="13661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1" name="Text 19"/>
          <p:cNvSpPr/>
          <p:nvPr/>
        </p:nvSpPr>
        <p:spPr>
          <a:xfrm>
            <a:off x="3601037" y="2090058"/>
            <a:ext cx="2834555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Interpretable Paths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01037" y="2312041"/>
            <a:ext cx="2834555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7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Explicit reasoning trajectories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1778" y="2636478"/>
            <a:ext cx="2943839" cy="563496"/>
          </a:xfrm>
          <a:custGeom>
            <a:avLst/>
            <a:gdLst/>
            <a:ahLst/>
            <a:cxnLst/>
            <a:rect l="l" t="t" r="r" b="b"/>
            <a:pathLst>
              <a:path w="2943839" h="563496">
                <a:moveTo>
                  <a:pt x="13661" y="0"/>
                </a:moveTo>
                <a:lnTo>
                  <a:pt x="2875537" y="0"/>
                </a:lnTo>
                <a:cubicBezTo>
                  <a:pt x="2913259" y="0"/>
                  <a:pt x="2943839" y="30580"/>
                  <a:pt x="2943839" y="68301"/>
                </a:cubicBezTo>
                <a:lnTo>
                  <a:pt x="2943839" y="495194"/>
                </a:lnTo>
                <a:cubicBezTo>
                  <a:pt x="2943839" y="532916"/>
                  <a:pt x="2913259" y="563496"/>
                  <a:pt x="2875537" y="563496"/>
                </a:cubicBez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16"/>
                  <a:pt x="6116" y="0"/>
                  <a:pt x="136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91778" y="2636478"/>
            <a:ext cx="13661" cy="563496"/>
          </a:xfrm>
          <a:custGeom>
            <a:avLst/>
            <a:gdLst/>
            <a:ahLst/>
            <a:cxnLst/>
            <a:rect l="l" t="t" r="r" b="b"/>
            <a:pathLst>
              <a:path w="13661" h="563496">
                <a:moveTo>
                  <a:pt x="13661" y="0"/>
                </a:moveTo>
                <a:lnTo>
                  <a:pt x="13661" y="0"/>
                </a:lnTo>
                <a:lnTo>
                  <a:pt x="13661" y="563496"/>
                </a:ln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21"/>
                  <a:pt x="6121" y="0"/>
                  <a:pt x="13661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5" name="Text 23"/>
          <p:cNvSpPr/>
          <p:nvPr/>
        </p:nvSpPr>
        <p:spPr>
          <a:xfrm>
            <a:off x="583987" y="2721856"/>
            <a:ext cx="2834555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Efficient Inference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83987" y="2943839"/>
            <a:ext cx="2834555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7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&lt;1ms-100ms response times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508829" y="2636478"/>
            <a:ext cx="2943839" cy="563496"/>
          </a:xfrm>
          <a:custGeom>
            <a:avLst/>
            <a:gdLst/>
            <a:ahLst/>
            <a:cxnLst/>
            <a:rect l="l" t="t" r="r" b="b"/>
            <a:pathLst>
              <a:path w="2943839" h="563496">
                <a:moveTo>
                  <a:pt x="13661" y="0"/>
                </a:moveTo>
                <a:lnTo>
                  <a:pt x="2875537" y="0"/>
                </a:lnTo>
                <a:cubicBezTo>
                  <a:pt x="2913259" y="0"/>
                  <a:pt x="2943839" y="30580"/>
                  <a:pt x="2943839" y="68301"/>
                </a:cubicBezTo>
                <a:lnTo>
                  <a:pt x="2943839" y="495194"/>
                </a:lnTo>
                <a:cubicBezTo>
                  <a:pt x="2943839" y="532916"/>
                  <a:pt x="2913259" y="563496"/>
                  <a:pt x="2875537" y="563496"/>
                </a:cubicBez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16"/>
                  <a:pt x="6116" y="0"/>
                  <a:pt x="136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508829" y="2636478"/>
            <a:ext cx="13661" cy="563496"/>
          </a:xfrm>
          <a:custGeom>
            <a:avLst/>
            <a:gdLst/>
            <a:ahLst/>
            <a:cxnLst/>
            <a:rect l="l" t="t" r="r" b="b"/>
            <a:pathLst>
              <a:path w="13661" h="563496">
                <a:moveTo>
                  <a:pt x="13661" y="0"/>
                </a:moveTo>
                <a:lnTo>
                  <a:pt x="13661" y="0"/>
                </a:lnTo>
                <a:lnTo>
                  <a:pt x="13661" y="563496"/>
                </a:ln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21"/>
                  <a:pt x="6121" y="0"/>
                  <a:pt x="13661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9" name="Text 27"/>
          <p:cNvSpPr/>
          <p:nvPr/>
        </p:nvSpPr>
        <p:spPr>
          <a:xfrm>
            <a:off x="3601037" y="2721856"/>
            <a:ext cx="2834555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Compact Models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601037" y="2943839"/>
            <a:ext cx="2834555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7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MBs to few GBs in size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44928" y="3772861"/>
            <a:ext cx="6247973" cy="2738931"/>
          </a:xfrm>
          <a:custGeom>
            <a:avLst/>
            <a:gdLst/>
            <a:ahLst/>
            <a:cxnLst/>
            <a:rect l="l" t="t" r="r" b="b"/>
            <a:pathLst>
              <a:path w="6247973" h="2738931">
                <a:moveTo>
                  <a:pt x="102463" y="0"/>
                </a:moveTo>
                <a:lnTo>
                  <a:pt x="6145510" y="0"/>
                </a:lnTo>
                <a:cubicBezTo>
                  <a:pt x="6202099" y="0"/>
                  <a:pt x="6247973" y="45874"/>
                  <a:pt x="6247973" y="102463"/>
                </a:cubicBezTo>
                <a:lnTo>
                  <a:pt x="6247973" y="2636468"/>
                </a:lnTo>
                <a:cubicBezTo>
                  <a:pt x="6247973" y="2693057"/>
                  <a:pt x="6202099" y="2738931"/>
                  <a:pt x="6145510" y="2738931"/>
                </a:cubicBezTo>
                <a:lnTo>
                  <a:pt x="102463" y="2738931"/>
                </a:lnTo>
                <a:cubicBezTo>
                  <a:pt x="45874" y="2738931"/>
                  <a:pt x="0" y="2693057"/>
                  <a:pt x="0" y="2636468"/>
                </a:cubicBezTo>
                <a:lnTo>
                  <a:pt x="0" y="102463"/>
                </a:lnTo>
                <a:cubicBezTo>
                  <a:pt x="0" y="45874"/>
                  <a:pt x="45874" y="0"/>
                  <a:pt x="102463" y="0"/>
                </a:cubicBezTo>
                <a:close/>
              </a:path>
            </a:pathLst>
          </a:custGeom>
          <a:solidFill>
            <a:srgbClr val="556677">
              <a:alpha val="10196"/>
            </a:srgbClr>
          </a:solidFill>
          <a:ln w="10160">
            <a:solidFill>
              <a:srgbClr val="556677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3486" y="3964108"/>
            <a:ext cx="153681" cy="136605"/>
          </a:xfrm>
          <a:custGeom>
            <a:avLst/>
            <a:gdLst/>
            <a:ahLst/>
            <a:cxnLst/>
            <a:rect l="l" t="t" r="r" b="b"/>
            <a:pathLst>
              <a:path w="153681" h="136605">
                <a:moveTo>
                  <a:pt x="102454" y="38420"/>
                </a:moveTo>
                <a:cubicBezTo>
                  <a:pt x="102454" y="64354"/>
                  <a:pt x="79508" y="85378"/>
                  <a:pt x="51227" y="85378"/>
                </a:cubicBezTo>
                <a:cubicBezTo>
                  <a:pt x="44103" y="85378"/>
                  <a:pt x="37326" y="84044"/>
                  <a:pt x="31163" y="81643"/>
                </a:cubicBezTo>
                <a:lnTo>
                  <a:pt x="9392" y="93169"/>
                </a:lnTo>
                <a:cubicBezTo>
                  <a:pt x="6910" y="94476"/>
                  <a:pt x="3869" y="94023"/>
                  <a:pt x="1868" y="92048"/>
                </a:cubicBezTo>
                <a:cubicBezTo>
                  <a:pt x="-133" y="90074"/>
                  <a:pt x="-587" y="87006"/>
                  <a:pt x="747" y="84524"/>
                </a:cubicBezTo>
                <a:lnTo>
                  <a:pt x="10245" y="66595"/>
                </a:lnTo>
                <a:cubicBezTo>
                  <a:pt x="3815" y="58751"/>
                  <a:pt x="0" y="48986"/>
                  <a:pt x="0" y="38420"/>
                </a:cubicBezTo>
                <a:cubicBezTo>
                  <a:pt x="0" y="12487"/>
                  <a:pt x="22945" y="-8538"/>
                  <a:pt x="51227" y="-8538"/>
                </a:cubicBezTo>
                <a:cubicBezTo>
                  <a:pt x="79508" y="-8538"/>
                  <a:pt x="102454" y="12487"/>
                  <a:pt x="102454" y="38420"/>
                </a:cubicBezTo>
                <a:close/>
                <a:moveTo>
                  <a:pt x="102454" y="136605"/>
                </a:moveTo>
                <a:cubicBezTo>
                  <a:pt x="77347" y="136605"/>
                  <a:pt x="56456" y="120036"/>
                  <a:pt x="52081" y="98185"/>
                </a:cubicBezTo>
                <a:cubicBezTo>
                  <a:pt x="84097" y="97785"/>
                  <a:pt x="111925" y="74999"/>
                  <a:pt x="114994" y="44103"/>
                </a:cubicBezTo>
                <a:cubicBezTo>
                  <a:pt x="137219" y="49226"/>
                  <a:pt x="153681" y="67662"/>
                  <a:pt x="153681" y="89647"/>
                </a:cubicBezTo>
                <a:cubicBezTo>
                  <a:pt x="153681" y="100213"/>
                  <a:pt x="149865" y="109978"/>
                  <a:pt x="143435" y="117822"/>
                </a:cubicBezTo>
                <a:lnTo>
                  <a:pt x="152934" y="135751"/>
                </a:lnTo>
                <a:cubicBezTo>
                  <a:pt x="154241" y="138233"/>
                  <a:pt x="153787" y="141274"/>
                  <a:pt x="151813" y="143275"/>
                </a:cubicBezTo>
                <a:cubicBezTo>
                  <a:pt x="149839" y="145276"/>
                  <a:pt x="146770" y="145730"/>
                  <a:pt x="144289" y="144396"/>
                </a:cubicBezTo>
                <a:lnTo>
                  <a:pt x="122518" y="132870"/>
                </a:lnTo>
                <a:cubicBezTo>
                  <a:pt x="116354" y="135271"/>
                  <a:pt x="109578" y="136605"/>
                  <a:pt x="102454" y="136605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33" name="Text 31"/>
          <p:cNvSpPr/>
          <p:nvPr/>
        </p:nvSpPr>
        <p:spPr>
          <a:xfrm>
            <a:off x="655704" y="3912881"/>
            <a:ext cx="5874017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0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Large Language Models (LLMs)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91778" y="4220242"/>
            <a:ext cx="2943839" cy="563496"/>
          </a:xfrm>
          <a:custGeom>
            <a:avLst/>
            <a:gdLst/>
            <a:ahLst/>
            <a:cxnLst/>
            <a:rect l="l" t="t" r="r" b="b"/>
            <a:pathLst>
              <a:path w="2943839" h="563496">
                <a:moveTo>
                  <a:pt x="13661" y="0"/>
                </a:moveTo>
                <a:lnTo>
                  <a:pt x="2875537" y="0"/>
                </a:lnTo>
                <a:cubicBezTo>
                  <a:pt x="2913259" y="0"/>
                  <a:pt x="2943839" y="30580"/>
                  <a:pt x="2943839" y="68301"/>
                </a:cubicBezTo>
                <a:lnTo>
                  <a:pt x="2943839" y="495194"/>
                </a:lnTo>
                <a:cubicBezTo>
                  <a:pt x="2943839" y="532916"/>
                  <a:pt x="2913259" y="563496"/>
                  <a:pt x="2875537" y="563496"/>
                </a:cubicBez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16"/>
                  <a:pt x="6116" y="0"/>
                  <a:pt x="136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91778" y="4220242"/>
            <a:ext cx="13661" cy="563496"/>
          </a:xfrm>
          <a:custGeom>
            <a:avLst/>
            <a:gdLst/>
            <a:ahLst/>
            <a:cxnLst/>
            <a:rect l="l" t="t" r="r" b="b"/>
            <a:pathLst>
              <a:path w="13661" h="563496">
                <a:moveTo>
                  <a:pt x="13661" y="0"/>
                </a:moveTo>
                <a:lnTo>
                  <a:pt x="13661" y="0"/>
                </a:lnTo>
                <a:lnTo>
                  <a:pt x="13661" y="563496"/>
                </a:ln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21"/>
                  <a:pt x="6121" y="0"/>
                  <a:pt x="13661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36" name="Text 34"/>
          <p:cNvSpPr/>
          <p:nvPr/>
        </p:nvSpPr>
        <p:spPr>
          <a:xfrm>
            <a:off x="583987" y="4305621"/>
            <a:ext cx="2834555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Language Understanding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83987" y="4527604"/>
            <a:ext cx="2834555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7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Processes human language nuances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508829" y="4220242"/>
            <a:ext cx="2943839" cy="563496"/>
          </a:xfrm>
          <a:custGeom>
            <a:avLst/>
            <a:gdLst/>
            <a:ahLst/>
            <a:cxnLst/>
            <a:rect l="l" t="t" r="r" b="b"/>
            <a:pathLst>
              <a:path w="2943839" h="563496">
                <a:moveTo>
                  <a:pt x="13661" y="0"/>
                </a:moveTo>
                <a:lnTo>
                  <a:pt x="2875537" y="0"/>
                </a:lnTo>
                <a:cubicBezTo>
                  <a:pt x="2913259" y="0"/>
                  <a:pt x="2943839" y="30580"/>
                  <a:pt x="2943839" y="68301"/>
                </a:cubicBezTo>
                <a:lnTo>
                  <a:pt x="2943839" y="495194"/>
                </a:lnTo>
                <a:cubicBezTo>
                  <a:pt x="2943839" y="532916"/>
                  <a:pt x="2913259" y="563496"/>
                  <a:pt x="2875537" y="563496"/>
                </a:cubicBez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16"/>
                  <a:pt x="6116" y="0"/>
                  <a:pt x="136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508829" y="4220242"/>
            <a:ext cx="13661" cy="563496"/>
          </a:xfrm>
          <a:custGeom>
            <a:avLst/>
            <a:gdLst/>
            <a:ahLst/>
            <a:cxnLst/>
            <a:rect l="l" t="t" r="r" b="b"/>
            <a:pathLst>
              <a:path w="13661" h="563496">
                <a:moveTo>
                  <a:pt x="13661" y="0"/>
                </a:moveTo>
                <a:lnTo>
                  <a:pt x="13661" y="0"/>
                </a:lnTo>
                <a:lnTo>
                  <a:pt x="13661" y="563496"/>
                </a:ln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21"/>
                  <a:pt x="6121" y="0"/>
                  <a:pt x="13661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40" name="Text 38"/>
          <p:cNvSpPr/>
          <p:nvPr/>
        </p:nvSpPr>
        <p:spPr>
          <a:xfrm>
            <a:off x="3588337" y="4305621"/>
            <a:ext cx="2834555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 Reasoning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601037" y="4527604"/>
            <a:ext cx="2834555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7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Captures context and meaning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91778" y="4852041"/>
            <a:ext cx="2943839" cy="563496"/>
          </a:xfrm>
          <a:custGeom>
            <a:avLst/>
            <a:gdLst/>
            <a:ahLst/>
            <a:cxnLst/>
            <a:rect l="l" t="t" r="r" b="b"/>
            <a:pathLst>
              <a:path w="2943839" h="563496">
                <a:moveTo>
                  <a:pt x="13661" y="0"/>
                </a:moveTo>
                <a:lnTo>
                  <a:pt x="2875537" y="0"/>
                </a:lnTo>
                <a:cubicBezTo>
                  <a:pt x="2913259" y="0"/>
                  <a:pt x="2943839" y="30580"/>
                  <a:pt x="2943839" y="68301"/>
                </a:cubicBezTo>
                <a:lnTo>
                  <a:pt x="2943839" y="495194"/>
                </a:lnTo>
                <a:cubicBezTo>
                  <a:pt x="2943839" y="532916"/>
                  <a:pt x="2913259" y="563496"/>
                  <a:pt x="2875537" y="563496"/>
                </a:cubicBez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16"/>
                  <a:pt x="6116" y="0"/>
                  <a:pt x="136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91778" y="4852041"/>
            <a:ext cx="13661" cy="563496"/>
          </a:xfrm>
          <a:custGeom>
            <a:avLst/>
            <a:gdLst/>
            <a:ahLst/>
            <a:cxnLst/>
            <a:rect l="l" t="t" r="r" b="b"/>
            <a:pathLst>
              <a:path w="13661" h="563496">
                <a:moveTo>
                  <a:pt x="13661" y="0"/>
                </a:moveTo>
                <a:lnTo>
                  <a:pt x="13661" y="0"/>
                </a:lnTo>
                <a:lnTo>
                  <a:pt x="13661" y="563496"/>
                </a:ln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21"/>
                  <a:pt x="6121" y="0"/>
                  <a:pt x="13661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44" name="Text 42"/>
          <p:cNvSpPr/>
          <p:nvPr/>
        </p:nvSpPr>
        <p:spPr>
          <a:xfrm>
            <a:off x="583987" y="4937419"/>
            <a:ext cx="2834555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Few-Shot Learning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83987" y="5159402"/>
            <a:ext cx="2834555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7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Adapts with minimal examples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508829" y="4852041"/>
            <a:ext cx="2943839" cy="563496"/>
          </a:xfrm>
          <a:custGeom>
            <a:avLst/>
            <a:gdLst/>
            <a:ahLst/>
            <a:cxnLst/>
            <a:rect l="l" t="t" r="r" b="b"/>
            <a:pathLst>
              <a:path w="2943839" h="563496">
                <a:moveTo>
                  <a:pt x="13661" y="0"/>
                </a:moveTo>
                <a:lnTo>
                  <a:pt x="2875537" y="0"/>
                </a:lnTo>
                <a:cubicBezTo>
                  <a:pt x="2913259" y="0"/>
                  <a:pt x="2943839" y="30580"/>
                  <a:pt x="2943839" y="68301"/>
                </a:cubicBezTo>
                <a:lnTo>
                  <a:pt x="2943839" y="495194"/>
                </a:lnTo>
                <a:cubicBezTo>
                  <a:pt x="2943839" y="532916"/>
                  <a:pt x="2913259" y="563496"/>
                  <a:pt x="2875537" y="563496"/>
                </a:cubicBez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16"/>
                  <a:pt x="6116" y="0"/>
                  <a:pt x="136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3508829" y="4852041"/>
            <a:ext cx="13661" cy="563496"/>
          </a:xfrm>
          <a:custGeom>
            <a:avLst/>
            <a:gdLst/>
            <a:ahLst/>
            <a:cxnLst/>
            <a:rect l="l" t="t" r="r" b="b"/>
            <a:pathLst>
              <a:path w="13661" h="563496">
                <a:moveTo>
                  <a:pt x="13661" y="0"/>
                </a:moveTo>
                <a:lnTo>
                  <a:pt x="13661" y="0"/>
                </a:lnTo>
                <a:lnTo>
                  <a:pt x="13661" y="563496"/>
                </a:ln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21"/>
                  <a:pt x="6121" y="0"/>
                  <a:pt x="13661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48" name="Text 46"/>
          <p:cNvSpPr/>
          <p:nvPr/>
        </p:nvSpPr>
        <p:spPr>
          <a:xfrm>
            <a:off x="3601037" y="4937419"/>
            <a:ext cx="2834555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World Knowledge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601037" y="5159402"/>
            <a:ext cx="2834555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7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Broad pre-trained understanding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91778" y="5483839"/>
            <a:ext cx="2943839" cy="563496"/>
          </a:xfrm>
          <a:custGeom>
            <a:avLst/>
            <a:gdLst/>
            <a:ahLst/>
            <a:cxnLst/>
            <a:rect l="l" t="t" r="r" b="b"/>
            <a:pathLst>
              <a:path w="2943839" h="563496">
                <a:moveTo>
                  <a:pt x="13661" y="0"/>
                </a:moveTo>
                <a:lnTo>
                  <a:pt x="2875537" y="0"/>
                </a:lnTo>
                <a:cubicBezTo>
                  <a:pt x="2913259" y="0"/>
                  <a:pt x="2943839" y="30580"/>
                  <a:pt x="2943839" y="68301"/>
                </a:cubicBezTo>
                <a:lnTo>
                  <a:pt x="2943839" y="495194"/>
                </a:lnTo>
                <a:cubicBezTo>
                  <a:pt x="2943839" y="532916"/>
                  <a:pt x="2913259" y="563496"/>
                  <a:pt x="2875537" y="563496"/>
                </a:cubicBez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16"/>
                  <a:pt x="6116" y="0"/>
                  <a:pt x="136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91778" y="5483839"/>
            <a:ext cx="13661" cy="563496"/>
          </a:xfrm>
          <a:custGeom>
            <a:avLst/>
            <a:gdLst/>
            <a:ahLst/>
            <a:cxnLst/>
            <a:rect l="l" t="t" r="r" b="b"/>
            <a:pathLst>
              <a:path w="13661" h="563496">
                <a:moveTo>
                  <a:pt x="13661" y="0"/>
                </a:moveTo>
                <a:lnTo>
                  <a:pt x="13661" y="0"/>
                </a:lnTo>
                <a:lnTo>
                  <a:pt x="13661" y="563496"/>
                </a:ln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21"/>
                  <a:pt x="6121" y="0"/>
                  <a:pt x="13661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52" name="Text 50"/>
          <p:cNvSpPr/>
          <p:nvPr/>
        </p:nvSpPr>
        <p:spPr>
          <a:xfrm>
            <a:off x="583987" y="5569217"/>
            <a:ext cx="2834555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Generation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83987" y="5791200"/>
            <a:ext cx="2834555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7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Produces coherent natural language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508829" y="5483839"/>
            <a:ext cx="2943839" cy="563496"/>
          </a:xfrm>
          <a:custGeom>
            <a:avLst/>
            <a:gdLst/>
            <a:ahLst/>
            <a:cxnLst/>
            <a:rect l="l" t="t" r="r" b="b"/>
            <a:pathLst>
              <a:path w="2943839" h="563496">
                <a:moveTo>
                  <a:pt x="13661" y="0"/>
                </a:moveTo>
                <a:lnTo>
                  <a:pt x="2875537" y="0"/>
                </a:lnTo>
                <a:cubicBezTo>
                  <a:pt x="2913259" y="0"/>
                  <a:pt x="2943839" y="30580"/>
                  <a:pt x="2943839" y="68301"/>
                </a:cubicBezTo>
                <a:lnTo>
                  <a:pt x="2943839" y="495194"/>
                </a:lnTo>
                <a:cubicBezTo>
                  <a:pt x="2943839" y="532916"/>
                  <a:pt x="2913259" y="563496"/>
                  <a:pt x="2875537" y="563496"/>
                </a:cubicBez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16"/>
                  <a:pt x="6116" y="0"/>
                  <a:pt x="136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3508829" y="5483839"/>
            <a:ext cx="13661" cy="563496"/>
          </a:xfrm>
          <a:custGeom>
            <a:avLst/>
            <a:gdLst/>
            <a:ahLst/>
            <a:cxnLst/>
            <a:rect l="l" t="t" r="r" b="b"/>
            <a:pathLst>
              <a:path w="13661" h="563496">
                <a:moveTo>
                  <a:pt x="13661" y="0"/>
                </a:moveTo>
                <a:lnTo>
                  <a:pt x="13661" y="0"/>
                </a:lnTo>
                <a:lnTo>
                  <a:pt x="13661" y="563496"/>
                </a:ln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21"/>
                  <a:pt x="6121" y="0"/>
                  <a:pt x="13661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56" name="Text 54"/>
          <p:cNvSpPr/>
          <p:nvPr/>
        </p:nvSpPr>
        <p:spPr>
          <a:xfrm>
            <a:off x="3601037" y="5569217"/>
            <a:ext cx="2834555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Contextual Understanding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3601037" y="5791200"/>
            <a:ext cx="2834555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7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Maintains long-range dependencies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734308" y="925499"/>
            <a:ext cx="5112444" cy="3678091"/>
          </a:xfrm>
          <a:custGeom>
            <a:avLst/>
            <a:gdLst/>
            <a:ahLst/>
            <a:cxnLst/>
            <a:rect l="l" t="t" r="r" b="b"/>
            <a:pathLst>
              <a:path w="5112444" h="3678091">
                <a:moveTo>
                  <a:pt x="102472" y="0"/>
                </a:moveTo>
                <a:lnTo>
                  <a:pt x="5009972" y="0"/>
                </a:lnTo>
                <a:cubicBezTo>
                  <a:pt x="5066566" y="0"/>
                  <a:pt x="5112444" y="45878"/>
                  <a:pt x="5112444" y="102472"/>
                </a:cubicBezTo>
                <a:lnTo>
                  <a:pt x="5112444" y="3575619"/>
                </a:lnTo>
                <a:cubicBezTo>
                  <a:pt x="5112444" y="3632213"/>
                  <a:pt x="5066566" y="3678091"/>
                  <a:pt x="5009972" y="3678091"/>
                </a:cubicBezTo>
                <a:lnTo>
                  <a:pt x="102472" y="3678091"/>
                </a:lnTo>
                <a:cubicBezTo>
                  <a:pt x="45878" y="3678091"/>
                  <a:pt x="0" y="3632213"/>
                  <a:pt x="0" y="3575619"/>
                </a:cubicBezTo>
                <a:lnTo>
                  <a:pt x="0" y="102472"/>
                </a:lnTo>
                <a:cubicBezTo>
                  <a:pt x="0" y="45916"/>
                  <a:pt x="45916" y="0"/>
                  <a:pt x="102472" y="0"/>
                </a:cubicBezTo>
                <a:close/>
              </a:path>
            </a:pathLst>
          </a:custGeom>
          <a:solidFill>
            <a:srgbClr val="556677">
              <a:alpha val="10196"/>
            </a:srgbClr>
          </a:solidFill>
          <a:ln w="10160">
            <a:solidFill>
              <a:srgbClr val="556677">
                <a:alpha val="30196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891405" y="1116747"/>
            <a:ext cx="136605" cy="136605"/>
          </a:xfrm>
          <a:custGeom>
            <a:avLst/>
            <a:gdLst/>
            <a:ahLst/>
            <a:cxnLst/>
            <a:rect l="l" t="t" r="r" b="b"/>
            <a:pathLst>
              <a:path w="136605" h="136605">
                <a:moveTo>
                  <a:pt x="110992" y="55496"/>
                </a:moveTo>
                <a:cubicBezTo>
                  <a:pt x="110992" y="67742"/>
                  <a:pt x="107016" y="79055"/>
                  <a:pt x="100319" y="88233"/>
                </a:cubicBezTo>
                <a:lnTo>
                  <a:pt x="134097" y="122037"/>
                </a:lnTo>
                <a:cubicBezTo>
                  <a:pt x="137432" y="125372"/>
                  <a:pt x="137432" y="130789"/>
                  <a:pt x="134097" y="134124"/>
                </a:cubicBezTo>
                <a:cubicBezTo>
                  <a:pt x="130762" y="137459"/>
                  <a:pt x="125346" y="137459"/>
                  <a:pt x="122011" y="134124"/>
                </a:cubicBezTo>
                <a:lnTo>
                  <a:pt x="88233" y="100319"/>
                </a:lnTo>
                <a:cubicBezTo>
                  <a:pt x="79055" y="107016"/>
                  <a:pt x="67742" y="110992"/>
                  <a:pt x="55496" y="110992"/>
                </a:cubicBezTo>
                <a:cubicBezTo>
                  <a:pt x="24840" y="110992"/>
                  <a:pt x="0" y="86152"/>
                  <a:pt x="0" y="55496"/>
                </a:cubicBezTo>
                <a:cubicBezTo>
                  <a:pt x="0" y="24840"/>
                  <a:pt x="24840" y="0"/>
                  <a:pt x="55496" y="0"/>
                </a:cubicBezTo>
                <a:cubicBezTo>
                  <a:pt x="86152" y="0"/>
                  <a:pt x="110992" y="24840"/>
                  <a:pt x="110992" y="55496"/>
                </a:cubicBezTo>
                <a:close/>
                <a:moveTo>
                  <a:pt x="55496" y="93916"/>
                </a:moveTo>
                <a:cubicBezTo>
                  <a:pt x="76700" y="93916"/>
                  <a:pt x="93916" y="76700"/>
                  <a:pt x="93916" y="55496"/>
                </a:cubicBezTo>
                <a:cubicBezTo>
                  <a:pt x="93916" y="34291"/>
                  <a:pt x="76700" y="17076"/>
                  <a:pt x="55496" y="17076"/>
                </a:cubicBezTo>
                <a:cubicBezTo>
                  <a:pt x="34291" y="17076"/>
                  <a:pt x="17076" y="34291"/>
                  <a:pt x="17076" y="55496"/>
                </a:cubicBezTo>
                <a:cubicBezTo>
                  <a:pt x="17076" y="76700"/>
                  <a:pt x="34291" y="93916"/>
                  <a:pt x="55496" y="93916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0" name="Text 58"/>
          <p:cNvSpPr/>
          <p:nvPr/>
        </p:nvSpPr>
        <p:spPr>
          <a:xfrm>
            <a:off x="7045085" y="1065520"/>
            <a:ext cx="4738487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Retrieval-Augmented Generation (RAG)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881159" y="1372881"/>
            <a:ext cx="4822158" cy="563496"/>
          </a:xfrm>
          <a:custGeom>
            <a:avLst/>
            <a:gdLst/>
            <a:ahLst/>
            <a:cxnLst/>
            <a:rect l="l" t="t" r="r" b="b"/>
            <a:pathLst>
              <a:path w="4822158" h="563496">
                <a:moveTo>
                  <a:pt x="13661" y="0"/>
                </a:moveTo>
                <a:lnTo>
                  <a:pt x="4753857" y="0"/>
                </a:lnTo>
                <a:cubicBezTo>
                  <a:pt x="4791578" y="0"/>
                  <a:pt x="4822158" y="30580"/>
                  <a:pt x="4822158" y="68301"/>
                </a:cubicBezTo>
                <a:lnTo>
                  <a:pt x="4822158" y="495194"/>
                </a:lnTo>
                <a:cubicBezTo>
                  <a:pt x="4822158" y="532916"/>
                  <a:pt x="4791578" y="563496"/>
                  <a:pt x="4753857" y="563496"/>
                </a:cubicBez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16"/>
                  <a:pt x="6116" y="0"/>
                  <a:pt x="136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881159" y="1372881"/>
            <a:ext cx="13661" cy="563496"/>
          </a:xfrm>
          <a:custGeom>
            <a:avLst/>
            <a:gdLst/>
            <a:ahLst/>
            <a:cxnLst/>
            <a:rect l="l" t="t" r="r" b="b"/>
            <a:pathLst>
              <a:path w="13661" h="563496">
                <a:moveTo>
                  <a:pt x="13661" y="0"/>
                </a:moveTo>
                <a:lnTo>
                  <a:pt x="13661" y="0"/>
                </a:lnTo>
                <a:lnTo>
                  <a:pt x="13661" y="563496"/>
                </a:ln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21"/>
                  <a:pt x="6121" y="0"/>
                  <a:pt x="13661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3" name="Text 61"/>
          <p:cNvSpPr/>
          <p:nvPr/>
        </p:nvSpPr>
        <p:spPr>
          <a:xfrm>
            <a:off x="6973367" y="1458259"/>
            <a:ext cx="4712874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Knowledge Access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973367" y="1680242"/>
            <a:ext cx="4712874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7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Retrieves relevant info on-demand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881159" y="2004679"/>
            <a:ext cx="4822158" cy="563496"/>
          </a:xfrm>
          <a:custGeom>
            <a:avLst/>
            <a:gdLst/>
            <a:ahLst/>
            <a:cxnLst/>
            <a:rect l="l" t="t" r="r" b="b"/>
            <a:pathLst>
              <a:path w="4822158" h="563496">
                <a:moveTo>
                  <a:pt x="13661" y="0"/>
                </a:moveTo>
                <a:lnTo>
                  <a:pt x="4753857" y="0"/>
                </a:lnTo>
                <a:cubicBezTo>
                  <a:pt x="4791578" y="0"/>
                  <a:pt x="4822158" y="30580"/>
                  <a:pt x="4822158" y="68301"/>
                </a:cubicBezTo>
                <a:lnTo>
                  <a:pt x="4822158" y="495194"/>
                </a:lnTo>
                <a:cubicBezTo>
                  <a:pt x="4822158" y="532916"/>
                  <a:pt x="4791578" y="563496"/>
                  <a:pt x="4753857" y="563496"/>
                </a:cubicBez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16"/>
                  <a:pt x="6116" y="0"/>
                  <a:pt x="136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6881159" y="2004679"/>
            <a:ext cx="13661" cy="563496"/>
          </a:xfrm>
          <a:custGeom>
            <a:avLst/>
            <a:gdLst/>
            <a:ahLst/>
            <a:cxnLst/>
            <a:rect l="l" t="t" r="r" b="b"/>
            <a:pathLst>
              <a:path w="13661" h="563496">
                <a:moveTo>
                  <a:pt x="13661" y="0"/>
                </a:moveTo>
                <a:lnTo>
                  <a:pt x="13661" y="0"/>
                </a:lnTo>
                <a:lnTo>
                  <a:pt x="13661" y="563496"/>
                </a:ln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21"/>
                  <a:pt x="6121" y="0"/>
                  <a:pt x="13661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7" name="Text 65"/>
          <p:cNvSpPr/>
          <p:nvPr/>
        </p:nvSpPr>
        <p:spPr>
          <a:xfrm>
            <a:off x="6973367" y="2090058"/>
            <a:ext cx="4712874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Hallucination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973367" y="2312041"/>
            <a:ext cx="4712874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7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Grounds responses in retrieved facts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881159" y="2636478"/>
            <a:ext cx="4822158" cy="563496"/>
          </a:xfrm>
          <a:custGeom>
            <a:avLst/>
            <a:gdLst/>
            <a:ahLst/>
            <a:cxnLst/>
            <a:rect l="l" t="t" r="r" b="b"/>
            <a:pathLst>
              <a:path w="4822158" h="563496">
                <a:moveTo>
                  <a:pt x="13661" y="0"/>
                </a:moveTo>
                <a:lnTo>
                  <a:pt x="4753857" y="0"/>
                </a:lnTo>
                <a:cubicBezTo>
                  <a:pt x="4791578" y="0"/>
                  <a:pt x="4822158" y="30580"/>
                  <a:pt x="4822158" y="68301"/>
                </a:cubicBezTo>
                <a:lnTo>
                  <a:pt x="4822158" y="495194"/>
                </a:lnTo>
                <a:cubicBezTo>
                  <a:pt x="4822158" y="532916"/>
                  <a:pt x="4791578" y="563496"/>
                  <a:pt x="4753857" y="563496"/>
                </a:cubicBez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16"/>
                  <a:pt x="6116" y="0"/>
                  <a:pt x="136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6881159" y="2636478"/>
            <a:ext cx="13661" cy="563496"/>
          </a:xfrm>
          <a:custGeom>
            <a:avLst/>
            <a:gdLst/>
            <a:ahLst/>
            <a:cxnLst/>
            <a:rect l="l" t="t" r="r" b="b"/>
            <a:pathLst>
              <a:path w="13661" h="563496">
                <a:moveTo>
                  <a:pt x="13661" y="0"/>
                </a:moveTo>
                <a:lnTo>
                  <a:pt x="13661" y="0"/>
                </a:lnTo>
                <a:lnTo>
                  <a:pt x="13661" y="563496"/>
                </a:ln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21"/>
                  <a:pt x="6121" y="0"/>
                  <a:pt x="13661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1" name="Text 69"/>
          <p:cNvSpPr/>
          <p:nvPr/>
        </p:nvSpPr>
        <p:spPr>
          <a:xfrm>
            <a:off x="6973367" y="2721856"/>
            <a:ext cx="4712874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 Adaptation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973367" y="2943839"/>
            <a:ext cx="4712874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7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Specializes to specific fields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881159" y="3268276"/>
            <a:ext cx="4822158" cy="563496"/>
          </a:xfrm>
          <a:custGeom>
            <a:avLst/>
            <a:gdLst/>
            <a:ahLst/>
            <a:cxnLst/>
            <a:rect l="l" t="t" r="r" b="b"/>
            <a:pathLst>
              <a:path w="4822158" h="563496">
                <a:moveTo>
                  <a:pt x="13661" y="0"/>
                </a:moveTo>
                <a:lnTo>
                  <a:pt x="4753857" y="0"/>
                </a:lnTo>
                <a:cubicBezTo>
                  <a:pt x="4791578" y="0"/>
                  <a:pt x="4822158" y="30580"/>
                  <a:pt x="4822158" y="68301"/>
                </a:cubicBezTo>
                <a:lnTo>
                  <a:pt x="4822158" y="495194"/>
                </a:lnTo>
                <a:cubicBezTo>
                  <a:pt x="4822158" y="532916"/>
                  <a:pt x="4791578" y="563496"/>
                  <a:pt x="4753857" y="563496"/>
                </a:cubicBez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16"/>
                  <a:pt x="6116" y="0"/>
                  <a:pt x="136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6881159" y="3268276"/>
            <a:ext cx="13661" cy="563496"/>
          </a:xfrm>
          <a:custGeom>
            <a:avLst/>
            <a:gdLst/>
            <a:ahLst/>
            <a:cxnLst/>
            <a:rect l="l" t="t" r="r" b="b"/>
            <a:pathLst>
              <a:path w="13661" h="563496">
                <a:moveTo>
                  <a:pt x="13661" y="0"/>
                </a:moveTo>
                <a:lnTo>
                  <a:pt x="13661" y="0"/>
                </a:lnTo>
                <a:lnTo>
                  <a:pt x="13661" y="563496"/>
                </a:ln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21"/>
                  <a:pt x="6121" y="0"/>
                  <a:pt x="13661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5" name="Text 73"/>
          <p:cNvSpPr/>
          <p:nvPr/>
        </p:nvSpPr>
        <p:spPr>
          <a:xfrm>
            <a:off x="6973367" y="3353654"/>
            <a:ext cx="4712874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Up-to-Date Information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6973367" y="3575637"/>
            <a:ext cx="4712874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7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Accesses latest knowledge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6881159" y="3900074"/>
            <a:ext cx="4822158" cy="563496"/>
          </a:xfrm>
          <a:custGeom>
            <a:avLst/>
            <a:gdLst/>
            <a:ahLst/>
            <a:cxnLst/>
            <a:rect l="l" t="t" r="r" b="b"/>
            <a:pathLst>
              <a:path w="4822158" h="563496">
                <a:moveTo>
                  <a:pt x="13661" y="0"/>
                </a:moveTo>
                <a:lnTo>
                  <a:pt x="4753857" y="0"/>
                </a:lnTo>
                <a:cubicBezTo>
                  <a:pt x="4791578" y="0"/>
                  <a:pt x="4822158" y="30580"/>
                  <a:pt x="4822158" y="68301"/>
                </a:cubicBezTo>
                <a:lnTo>
                  <a:pt x="4822158" y="495194"/>
                </a:lnTo>
                <a:cubicBezTo>
                  <a:pt x="4822158" y="532916"/>
                  <a:pt x="4791578" y="563496"/>
                  <a:pt x="4753857" y="563496"/>
                </a:cubicBez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16"/>
                  <a:pt x="6116" y="0"/>
                  <a:pt x="136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6881159" y="3900074"/>
            <a:ext cx="13661" cy="563496"/>
          </a:xfrm>
          <a:custGeom>
            <a:avLst/>
            <a:gdLst/>
            <a:ahLst/>
            <a:cxnLst/>
            <a:rect l="l" t="t" r="r" b="b"/>
            <a:pathLst>
              <a:path w="13661" h="563496">
                <a:moveTo>
                  <a:pt x="13661" y="0"/>
                </a:moveTo>
                <a:lnTo>
                  <a:pt x="13661" y="0"/>
                </a:lnTo>
                <a:lnTo>
                  <a:pt x="13661" y="563496"/>
                </a:lnTo>
                <a:lnTo>
                  <a:pt x="13661" y="563496"/>
                </a:lnTo>
                <a:cubicBezTo>
                  <a:pt x="6116" y="563496"/>
                  <a:pt x="0" y="557380"/>
                  <a:pt x="0" y="549835"/>
                </a:cubicBezTo>
                <a:lnTo>
                  <a:pt x="0" y="13661"/>
                </a:lnTo>
                <a:cubicBezTo>
                  <a:pt x="0" y="6121"/>
                  <a:pt x="6121" y="0"/>
                  <a:pt x="13661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9" name="Text 77"/>
          <p:cNvSpPr/>
          <p:nvPr/>
        </p:nvSpPr>
        <p:spPr>
          <a:xfrm>
            <a:off x="6973367" y="3985453"/>
            <a:ext cx="4712874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Efficiency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973367" y="4207436"/>
            <a:ext cx="4712874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7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need for full retraining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734308" y="4712875"/>
            <a:ext cx="5112444" cy="1799771"/>
          </a:xfrm>
          <a:custGeom>
            <a:avLst/>
            <a:gdLst/>
            <a:ahLst/>
            <a:cxnLst/>
            <a:rect l="l" t="t" r="r" b="b"/>
            <a:pathLst>
              <a:path w="5112444" h="1799771">
                <a:moveTo>
                  <a:pt x="102461" y="0"/>
                </a:moveTo>
                <a:lnTo>
                  <a:pt x="5009983" y="0"/>
                </a:lnTo>
                <a:cubicBezTo>
                  <a:pt x="5066570" y="0"/>
                  <a:pt x="5112444" y="45873"/>
                  <a:pt x="5112444" y="102461"/>
                </a:cubicBezTo>
                <a:lnTo>
                  <a:pt x="5112444" y="1697310"/>
                </a:lnTo>
                <a:cubicBezTo>
                  <a:pt x="5112444" y="1753898"/>
                  <a:pt x="5066570" y="1799771"/>
                  <a:pt x="5009983" y="1799771"/>
                </a:cubicBezTo>
                <a:lnTo>
                  <a:pt x="102461" y="1799771"/>
                </a:lnTo>
                <a:cubicBezTo>
                  <a:pt x="45873" y="1799771"/>
                  <a:pt x="0" y="1753898"/>
                  <a:pt x="0" y="1697310"/>
                </a:cubicBezTo>
                <a:lnTo>
                  <a:pt x="0" y="102461"/>
                </a:lnTo>
                <a:cubicBezTo>
                  <a:pt x="0" y="45911"/>
                  <a:pt x="45911" y="0"/>
                  <a:pt x="102461" y="0"/>
                </a:cubicBezTo>
                <a:close/>
              </a:path>
            </a:pathLst>
          </a:custGeom>
          <a:solidFill>
            <a:srgbClr val="FFD166">
              <a:alpha val="10196"/>
            </a:srgbClr>
          </a:solidFill>
          <a:ln w="10160">
            <a:solidFill>
              <a:srgbClr val="FFD166">
                <a:alpha val="30196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882867" y="4920343"/>
            <a:ext cx="153681" cy="136605"/>
          </a:xfrm>
          <a:custGeom>
            <a:avLst/>
            <a:gdLst/>
            <a:ahLst/>
            <a:cxnLst/>
            <a:rect l="l" t="t" r="r" b="b"/>
            <a:pathLst>
              <a:path w="153681" h="136605">
                <a:moveTo>
                  <a:pt x="82577" y="-5043"/>
                </a:moveTo>
                <a:cubicBezTo>
                  <a:pt x="81483" y="-7177"/>
                  <a:pt x="79268" y="-8538"/>
                  <a:pt x="76867" y="-8538"/>
                </a:cubicBezTo>
                <a:cubicBezTo>
                  <a:pt x="74466" y="-8538"/>
                  <a:pt x="72251" y="-7177"/>
                  <a:pt x="71157" y="-5043"/>
                </a:cubicBezTo>
                <a:lnTo>
                  <a:pt x="51520" y="33431"/>
                </a:lnTo>
                <a:lnTo>
                  <a:pt x="8858" y="40208"/>
                </a:lnTo>
                <a:cubicBezTo>
                  <a:pt x="6483" y="40581"/>
                  <a:pt x="4509" y="42262"/>
                  <a:pt x="3762" y="44557"/>
                </a:cubicBezTo>
                <a:cubicBezTo>
                  <a:pt x="3015" y="46851"/>
                  <a:pt x="3629" y="49359"/>
                  <a:pt x="5309" y="51067"/>
                </a:cubicBezTo>
                <a:lnTo>
                  <a:pt x="35832" y="81616"/>
                </a:lnTo>
                <a:lnTo>
                  <a:pt x="29109" y="124279"/>
                </a:lnTo>
                <a:cubicBezTo>
                  <a:pt x="28735" y="126653"/>
                  <a:pt x="29722" y="129054"/>
                  <a:pt x="31670" y="130468"/>
                </a:cubicBezTo>
                <a:cubicBezTo>
                  <a:pt x="33618" y="131883"/>
                  <a:pt x="36179" y="132096"/>
                  <a:pt x="38340" y="131002"/>
                </a:cubicBezTo>
                <a:lnTo>
                  <a:pt x="76867" y="111418"/>
                </a:lnTo>
                <a:lnTo>
                  <a:pt x="115367" y="131002"/>
                </a:lnTo>
                <a:cubicBezTo>
                  <a:pt x="117502" y="132096"/>
                  <a:pt x="120090" y="131883"/>
                  <a:pt x="122037" y="130468"/>
                </a:cubicBezTo>
                <a:cubicBezTo>
                  <a:pt x="123985" y="129054"/>
                  <a:pt x="124972" y="126680"/>
                  <a:pt x="124599" y="124279"/>
                </a:cubicBezTo>
                <a:lnTo>
                  <a:pt x="117849" y="81616"/>
                </a:lnTo>
                <a:lnTo>
                  <a:pt x="148371" y="51067"/>
                </a:lnTo>
                <a:cubicBezTo>
                  <a:pt x="150079" y="49359"/>
                  <a:pt x="150666" y="46851"/>
                  <a:pt x="149919" y="44557"/>
                </a:cubicBezTo>
                <a:cubicBezTo>
                  <a:pt x="149172" y="42262"/>
                  <a:pt x="147224" y="40581"/>
                  <a:pt x="144823" y="40208"/>
                </a:cubicBezTo>
                <a:lnTo>
                  <a:pt x="102187" y="33431"/>
                </a:lnTo>
                <a:lnTo>
                  <a:pt x="82577" y="-5043"/>
                </a:ln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83" name="Text 81"/>
          <p:cNvSpPr/>
          <p:nvPr/>
        </p:nvSpPr>
        <p:spPr>
          <a:xfrm>
            <a:off x="7045085" y="4869116"/>
            <a:ext cx="4738487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0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Synergy Effect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6891405" y="5244780"/>
            <a:ext cx="136605" cy="136605"/>
          </a:xfrm>
          <a:custGeom>
            <a:avLst/>
            <a:gdLst/>
            <a:ahLst/>
            <a:cxnLst/>
            <a:rect l="l" t="t" r="r" b="b"/>
            <a:pathLst>
              <a:path w="136605" h="136605">
                <a:moveTo>
                  <a:pt x="68303" y="136605"/>
                </a:moveTo>
                <a:cubicBezTo>
                  <a:pt x="106000" y="136605"/>
                  <a:pt x="136605" y="106000"/>
                  <a:pt x="136605" y="68303"/>
                </a:cubicBezTo>
                <a:cubicBezTo>
                  <a:pt x="136605" y="30605"/>
                  <a:pt x="106000" y="0"/>
                  <a:pt x="68303" y="0"/>
                </a:cubicBezTo>
                <a:cubicBezTo>
                  <a:pt x="30605" y="0"/>
                  <a:pt x="0" y="30605"/>
                  <a:pt x="0" y="68303"/>
                </a:cubicBezTo>
                <a:cubicBezTo>
                  <a:pt x="0" y="106000"/>
                  <a:pt x="30605" y="136605"/>
                  <a:pt x="68303" y="136605"/>
                </a:cubicBezTo>
                <a:close/>
                <a:moveTo>
                  <a:pt x="90821" y="56750"/>
                </a:moveTo>
                <a:lnTo>
                  <a:pt x="69476" y="90901"/>
                </a:lnTo>
                <a:cubicBezTo>
                  <a:pt x="68356" y="92689"/>
                  <a:pt x="66435" y="93809"/>
                  <a:pt x="64327" y="93916"/>
                </a:cubicBezTo>
                <a:cubicBezTo>
                  <a:pt x="62219" y="94023"/>
                  <a:pt x="60192" y="93062"/>
                  <a:pt x="58938" y="91355"/>
                </a:cubicBezTo>
                <a:lnTo>
                  <a:pt x="46131" y="74279"/>
                </a:lnTo>
                <a:cubicBezTo>
                  <a:pt x="43996" y="71451"/>
                  <a:pt x="44583" y="67449"/>
                  <a:pt x="47412" y="65314"/>
                </a:cubicBezTo>
                <a:cubicBezTo>
                  <a:pt x="50240" y="63180"/>
                  <a:pt x="54242" y="63767"/>
                  <a:pt x="56376" y="66595"/>
                </a:cubicBezTo>
                <a:lnTo>
                  <a:pt x="63580" y="76200"/>
                </a:lnTo>
                <a:lnTo>
                  <a:pt x="79962" y="49973"/>
                </a:lnTo>
                <a:cubicBezTo>
                  <a:pt x="81830" y="46985"/>
                  <a:pt x="85778" y="46051"/>
                  <a:pt x="88793" y="47945"/>
                </a:cubicBezTo>
                <a:cubicBezTo>
                  <a:pt x="91808" y="49839"/>
                  <a:pt x="92715" y="53762"/>
                  <a:pt x="90821" y="56776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5" name="Text 83"/>
          <p:cNvSpPr/>
          <p:nvPr/>
        </p:nvSpPr>
        <p:spPr>
          <a:xfrm>
            <a:off x="7113388" y="5210629"/>
            <a:ext cx="4661647" cy="375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+ Semantic Reasoning:</a:t>
            </a:r>
            <a:pPr>
              <a:lnSpc>
                <a:spcPct val="110000"/>
              </a:lnSpc>
            </a:pPr>
            <a:r>
              <a:rPr lang="en-US" sz="1076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Combines graph topology with language understanding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6891405" y="5688747"/>
            <a:ext cx="136605" cy="136605"/>
          </a:xfrm>
          <a:custGeom>
            <a:avLst/>
            <a:gdLst/>
            <a:ahLst/>
            <a:cxnLst/>
            <a:rect l="l" t="t" r="r" b="b"/>
            <a:pathLst>
              <a:path w="136605" h="136605">
                <a:moveTo>
                  <a:pt x="68303" y="136605"/>
                </a:moveTo>
                <a:cubicBezTo>
                  <a:pt x="106000" y="136605"/>
                  <a:pt x="136605" y="106000"/>
                  <a:pt x="136605" y="68303"/>
                </a:cubicBezTo>
                <a:cubicBezTo>
                  <a:pt x="136605" y="30605"/>
                  <a:pt x="106000" y="0"/>
                  <a:pt x="68303" y="0"/>
                </a:cubicBezTo>
                <a:cubicBezTo>
                  <a:pt x="30605" y="0"/>
                  <a:pt x="0" y="30605"/>
                  <a:pt x="0" y="68303"/>
                </a:cubicBezTo>
                <a:cubicBezTo>
                  <a:pt x="0" y="106000"/>
                  <a:pt x="30605" y="136605"/>
                  <a:pt x="68303" y="136605"/>
                </a:cubicBezTo>
                <a:close/>
                <a:moveTo>
                  <a:pt x="90821" y="56750"/>
                </a:moveTo>
                <a:lnTo>
                  <a:pt x="69476" y="90901"/>
                </a:lnTo>
                <a:cubicBezTo>
                  <a:pt x="68356" y="92689"/>
                  <a:pt x="66435" y="93809"/>
                  <a:pt x="64327" y="93916"/>
                </a:cubicBezTo>
                <a:cubicBezTo>
                  <a:pt x="62219" y="94023"/>
                  <a:pt x="60192" y="93062"/>
                  <a:pt x="58938" y="91355"/>
                </a:cubicBezTo>
                <a:lnTo>
                  <a:pt x="46131" y="74279"/>
                </a:lnTo>
                <a:cubicBezTo>
                  <a:pt x="43996" y="71451"/>
                  <a:pt x="44583" y="67449"/>
                  <a:pt x="47412" y="65314"/>
                </a:cubicBezTo>
                <a:cubicBezTo>
                  <a:pt x="50240" y="63180"/>
                  <a:pt x="54242" y="63767"/>
                  <a:pt x="56376" y="66595"/>
                </a:cubicBezTo>
                <a:lnTo>
                  <a:pt x="63580" y="76200"/>
                </a:lnTo>
                <a:lnTo>
                  <a:pt x="79962" y="49973"/>
                </a:lnTo>
                <a:cubicBezTo>
                  <a:pt x="81830" y="46985"/>
                  <a:pt x="85778" y="46051"/>
                  <a:pt x="88793" y="47945"/>
                </a:cubicBezTo>
                <a:cubicBezTo>
                  <a:pt x="91808" y="49839"/>
                  <a:pt x="92715" y="53762"/>
                  <a:pt x="90821" y="56776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87" name="Text 85"/>
          <p:cNvSpPr/>
          <p:nvPr/>
        </p:nvSpPr>
        <p:spPr>
          <a:xfrm>
            <a:off x="7113388" y="5654595"/>
            <a:ext cx="4601882" cy="187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Grounded Generation:</a:t>
            </a:r>
            <a:pPr>
              <a:lnSpc>
                <a:spcPct val="110000"/>
              </a:lnSpc>
            </a:pPr>
            <a:r>
              <a:rPr lang="en-US" sz="1076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Produces answers with explicit graph-based evidence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6891405" y="5944881"/>
            <a:ext cx="136605" cy="136605"/>
          </a:xfrm>
          <a:custGeom>
            <a:avLst/>
            <a:gdLst/>
            <a:ahLst/>
            <a:cxnLst/>
            <a:rect l="l" t="t" r="r" b="b"/>
            <a:pathLst>
              <a:path w="136605" h="136605">
                <a:moveTo>
                  <a:pt x="68303" y="136605"/>
                </a:moveTo>
                <a:cubicBezTo>
                  <a:pt x="106000" y="136605"/>
                  <a:pt x="136605" y="106000"/>
                  <a:pt x="136605" y="68303"/>
                </a:cubicBezTo>
                <a:cubicBezTo>
                  <a:pt x="136605" y="30605"/>
                  <a:pt x="106000" y="0"/>
                  <a:pt x="68303" y="0"/>
                </a:cubicBezTo>
                <a:cubicBezTo>
                  <a:pt x="30605" y="0"/>
                  <a:pt x="0" y="30605"/>
                  <a:pt x="0" y="68303"/>
                </a:cubicBezTo>
                <a:cubicBezTo>
                  <a:pt x="0" y="106000"/>
                  <a:pt x="30605" y="136605"/>
                  <a:pt x="68303" y="136605"/>
                </a:cubicBezTo>
                <a:close/>
                <a:moveTo>
                  <a:pt x="90821" y="56750"/>
                </a:moveTo>
                <a:lnTo>
                  <a:pt x="69476" y="90901"/>
                </a:lnTo>
                <a:cubicBezTo>
                  <a:pt x="68356" y="92689"/>
                  <a:pt x="66435" y="93809"/>
                  <a:pt x="64327" y="93916"/>
                </a:cubicBezTo>
                <a:cubicBezTo>
                  <a:pt x="62219" y="94023"/>
                  <a:pt x="60192" y="93062"/>
                  <a:pt x="58938" y="91355"/>
                </a:cubicBezTo>
                <a:lnTo>
                  <a:pt x="46131" y="74279"/>
                </a:lnTo>
                <a:cubicBezTo>
                  <a:pt x="43996" y="71451"/>
                  <a:pt x="44583" y="67449"/>
                  <a:pt x="47412" y="65314"/>
                </a:cubicBezTo>
                <a:cubicBezTo>
                  <a:pt x="50240" y="63180"/>
                  <a:pt x="54242" y="63767"/>
                  <a:pt x="56376" y="66595"/>
                </a:cubicBezTo>
                <a:lnTo>
                  <a:pt x="63580" y="76200"/>
                </a:lnTo>
                <a:lnTo>
                  <a:pt x="79962" y="49973"/>
                </a:lnTo>
                <a:cubicBezTo>
                  <a:pt x="81830" y="46985"/>
                  <a:pt x="85778" y="46051"/>
                  <a:pt x="88793" y="47945"/>
                </a:cubicBezTo>
                <a:cubicBezTo>
                  <a:pt x="91808" y="49839"/>
                  <a:pt x="92715" y="53762"/>
                  <a:pt x="90821" y="56776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9" name="Text 87"/>
          <p:cNvSpPr/>
          <p:nvPr/>
        </p:nvSpPr>
        <p:spPr>
          <a:xfrm>
            <a:off x="7113388" y="5910730"/>
            <a:ext cx="4362824" cy="187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Multi-Modal Processing:</a:t>
            </a:r>
            <a:pPr>
              <a:lnSpc>
                <a:spcPct val="110000"/>
              </a:lnSpc>
            </a:pPr>
            <a:r>
              <a:rPr lang="en-US" sz="1076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Handles text, graph, and cross-modal reasoning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6891405" y="6201016"/>
            <a:ext cx="136605" cy="136605"/>
          </a:xfrm>
          <a:custGeom>
            <a:avLst/>
            <a:gdLst/>
            <a:ahLst/>
            <a:cxnLst/>
            <a:rect l="l" t="t" r="r" b="b"/>
            <a:pathLst>
              <a:path w="136605" h="136605">
                <a:moveTo>
                  <a:pt x="68303" y="136605"/>
                </a:moveTo>
                <a:cubicBezTo>
                  <a:pt x="106000" y="136605"/>
                  <a:pt x="136605" y="106000"/>
                  <a:pt x="136605" y="68303"/>
                </a:cubicBezTo>
                <a:cubicBezTo>
                  <a:pt x="136605" y="30605"/>
                  <a:pt x="106000" y="0"/>
                  <a:pt x="68303" y="0"/>
                </a:cubicBezTo>
                <a:cubicBezTo>
                  <a:pt x="30605" y="0"/>
                  <a:pt x="0" y="30605"/>
                  <a:pt x="0" y="68303"/>
                </a:cubicBezTo>
                <a:cubicBezTo>
                  <a:pt x="0" y="106000"/>
                  <a:pt x="30605" y="136605"/>
                  <a:pt x="68303" y="136605"/>
                </a:cubicBezTo>
                <a:close/>
                <a:moveTo>
                  <a:pt x="90821" y="56750"/>
                </a:moveTo>
                <a:lnTo>
                  <a:pt x="69476" y="90901"/>
                </a:lnTo>
                <a:cubicBezTo>
                  <a:pt x="68356" y="92689"/>
                  <a:pt x="66435" y="93809"/>
                  <a:pt x="64327" y="93916"/>
                </a:cubicBezTo>
                <a:cubicBezTo>
                  <a:pt x="62219" y="94023"/>
                  <a:pt x="60192" y="93062"/>
                  <a:pt x="58938" y="91355"/>
                </a:cubicBezTo>
                <a:lnTo>
                  <a:pt x="46131" y="74279"/>
                </a:lnTo>
                <a:cubicBezTo>
                  <a:pt x="43996" y="71451"/>
                  <a:pt x="44583" y="67449"/>
                  <a:pt x="47412" y="65314"/>
                </a:cubicBezTo>
                <a:cubicBezTo>
                  <a:pt x="50240" y="63180"/>
                  <a:pt x="54242" y="63767"/>
                  <a:pt x="56376" y="66595"/>
                </a:cubicBezTo>
                <a:lnTo>
                  <a:pt x="63580" y="76200"/>
                </a:lnTo>
                <a:lnTo>
                  <a:pt x="79962" y="49973"/>
                </a:lnTo>
                <a:cubicBezTo>
                  <a:pt x="81830" y="46985"/>
                  <a:pt x="85778" y="46051"/>
                  <a:pt x="88793" y="47945"/>
                </a:cubicBezTo>
                <a:cubicBezTo>
                  <a:pt x="91808" y="49839"/>
                  <a:pt x="92715" y="53762"/>
                  <a:pt x="90821" y="56776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91" name="Text 89"/>
          <p:cNvSpPr/>
          <p:nvPr/>
        </p:nvSpPr>
        <p:spPr>
          <a:xfrm>
            <a:off x="7113388" y="6166864"/>
            <a:ext cx="3287059" cy="187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Explainable AI:</a:t>
            </a:r>
            <a:pPr>
              <a:lnSpc>
                <a:spcPct val="110000"/>
              </a:lnSpc>
            </a:pPr>
            <a:r>
              <a:rPr lang="en-US" sz="1076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Provides interpretable reasoning chains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54372e77848874089f4615b4f854449c873c9415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191000" y="1368742"/>
            <a:ext cx="6705600" cy="9525"/>
          </a:xfrm>
          <a:custGeom>
            <a:avLst/>
            <a:gdLst/>
            <a:ahLst/>
            <a:cxnLst/>
            <a:rect l="l" t="t" r="r" b="b"/>
            <a:pathLst>
              <a:path w="6705600" h="9525">
                <a:moveTo>
                  <a:pt x="0" y="0"/>
                </a:moveTo>
                <a:lnTo>
                  <a:pt x="6705600" y="0"/>
                </a:lnTo>
                <a:lnTo>
                  <a:pt x="6705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D166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</p:sp>
      <p:sp>
        <p:nvSpPr>
          <p:cNvPr id="5" name="Shape 2"/>
          <p:cNvSpPr/>
          <p:nvPr/>
        </p:nvSpPr>
        <p:spPr>
          <a:xfrm>
            <a:off x="11056620" y="1000125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152398" y="0"/>
                </a:moveTo>
                <a:lnTo>
                  <a:pt x="596267" y="0"/>
                </a:lnTo>
                <a:cubicBezTo>
                  <a:pt x="680378" y="0"/>
                  <a:pt x="748665" y="68287"/>
                  <a:pt x="748665" y="152398"/>
                </a:cubicBezTo>
                <a:lnTo>
                  <a:pt x="748665" y="596267"/>
                </a:lnTo>
                <a:cubicBezTo>
                  <a:pt x="748665" y="680378"/>
                  <a:pt x="680378" y="748665"/>
                  <a:pt x="596267" y="748665"/>
                </a:cubicBezTo>
                <a:lnTo>
                  <a:pt x="152398" y="748665"/>
                </a:lnTo>
                <a:cubicBezTo>
                  <a:pt x="68287" y="748665"/>
                  <a:pt x="0" y="680378"/>
                  <a:pt x="0" y="59626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D166">
              <a:alpha val="20000"/>
            </a:srgbClr>
          </a:solidFill>
          <a:ln w="20320">
            <a:solidFill>
              <a:srgbClr val="FFD166">
                <a:alpha val="50196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49477" y="1183005"/>
            <a:ext cx="590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48100" y="2059307"/>
            <a:ext cx="7962900" cy="2266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</a:t>
            </a:r>
            <a:endParaRPr lang="en-US" sz="1600" dirty="0"/>
          </a:p>
          <a:p>
            <a:pPr algn="r">
              <a:lnSpc>
                <a:spcPct val="9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Foundations &amp;</a:t>
            </a:r>
            <a:endParaRPr lang="en-US" sz="1600" dirty="0"/>
          </a:p>
          <a:p>
            <a:pPr algn="r">
              <a:lnSpc>
                <a:spcPct val="90000"/>
              </a:lnSpc>
            </a:pPr>
            <a:r>
              <a:rPr lang="en-US" sz="5400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10300" y="4551048"/>
            <a:ext cx="5600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8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GNNs, LLMs, and RAG integrate at the architectural level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61948" y="5674998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Patterns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245918" y="573214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Text 8"/>
          <p:cNvSpPr/>
          <p:nvPr/>
        </p:nvSpPr>
        <p:spPr>
          <a:xfrm>
            <a:off x="9484043" y="5674998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Flow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227350" y="573214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13" name="Text 10"/>
          <p:cNvSpPr/>
          <p:nvPr/>
        </p:nvSpPr>
        <p:spPr>
          <a:xfrm>
            <a:off x="10465475" y="5674998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 Design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1734800" y="573214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3437" y="343437"/>
            <a:ext cx="11565228" cy="17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6" b="1" spc="237" kern="0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Foundations &amp;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3437" y="583842"/>
            <a:ext cx="11659673" cy="343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Integration Patterns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6871" y="1068088"/>
            <a:ext cx="3741742" cy="4789224"/>
          </a:xfrm>
          <a:custGeom>
            <a:avLst/>
            <a:gdLst/>
            <a:ahLst/>
            <a:cxnLst/>
            <a:rect l="l" t="t" r="r" b="b"/>
            <a:pathLst>
              <a:path w="3741742" h="4789224">
                <a:moveTo>
                  <a:pt x="103048" y="0"/>
                </a:moveTo>
                <a:lnTo>
                  <a:pt x="3638694" y="0"/>
                </a:lnTo>
                <a:cubicBezTo>
                  <a:pt x="3695606" y="0"/>
                  <a:pt x="3741742" y="46136"/>
                  <a:pt x="3741742" y="103048"/>
                </a:cubicBezTo>
                <a:lnTo>
                  <a:pt x="3741742" y="4686176"/>
                </a:lnTo>
                <a:cubicBezTo>
                  <a:pt x="3741742" y="4743088"/>
                  <a:pt x="3695606" y="4789224"/>
                  <a:pt x="3638694" y="4789224"/>
                </a:cubicBezTo>
                <a:lnTo>
                  <a:pt x="103048" y="4789224"/>
                </a:lnTo>
                <a:cubicBezTo>
                  <a:pt x="46136" y="4789224"/>
                  <a:pt x="0" y="4743088"/>
                  <a:pt x="0" y="4686176"/>
                </a:cubicBezTo>
                <a:lnTo>
                  <a:pt x="0" y="103048"/>
                </a:lnTo>
                <a:cubicBezTo>
                  <a:pt x="0" y="46174"/>
                  <a:pt x="46174" y="0"/>
                  <a:pt x="103048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016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2024" y="1243243"/>
            <a:ext cx="412124" cy="412124"/>
          </a:xfrm>
          <a:custGeom>
            <a:avLst/>
            <a:gdLst/>
            <a:ahLst/>
            <a:cxnLst/>
            <a:rect l="l" t="t" r="r" b="b"/>
            <a:pathLst>
              <a:path w="412124" h="412124">
                <a:moveTo>
                  <a:pt x="103031" y="0"/>
                </a:moveTo>
                <a:lnTo>
                  <a:pt x="309093" y="0"/>
                </a:lnTo>
                <a:cubicBezTo>
                  <a:pt x="365957" y="0"/>
                  <a:pt x="412124" y="46167"/>
                  <a:pt x="412124" y="103031"/>
                </a:cubicBezTo>
                <a:lnTo>
                  <a:pt x="412124" y="309093"/>
                </a:lnTo>
                <a:cubicBezTo>
                  <a:pt x="412124" y="365957"/>
                  <a:pt x="365957" y="412124"/>
                  <a:pt x="309093" y="412124"/>
                </a:cubicBezTo>
                <a:lnTo>
                  <a:pt x="103031" y="412124"/>
                </a:lnTo>
                <a:cubicBezTo>
                  <a:pt x="46167" y="412124"/>
                  <a:pt x="0" y="365957"/>
                  <a:pt x="0" y="309093"/>
                </a:cubicBezTo>
                <a:lnTo>
                  <a:pt x="0" y="103031"/>
                </a:lnTo>
                <a:cubicBezTo>
                  <a:pt x="0" y="46167"/>
                  <a:pt x="46167" y="0"/>
                  <a:pt x="103031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21084" y="1311930"/>
            <a:ext cx="317679" cy="27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3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7179" y="1329102"/>
            <a:ext cx="1451020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2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GNN-as-Retriever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2024" y="1792742"/>
            <a:ext cx="3391437" cy="961623"/>
          </a:xfrm>
          <a:custGeom>
            <a:avLst/>
            <a:gdLst/>
            <a:ahLst/>
            <a:cxnLst/>
            <a:rect l="l" t="t" r="r" b="b"/>
            <a:pathLst>
              <a:path w="3391437" h="961623">
                <a:moveTo>
                  <a:pt x="68689" y="0"/>
                </a:moveTo>
                <a:lnTo>
                  <a:pt x="3322748" y="0"/>
                </a:lnTo>
                <a:cubicBezTo>
                  <a:pt x="3360684" y="0"/>
                  <a:pt x="3391437" y="30753"/>
                  <a:pt x="3391437" y="68689"/>
                </a:cubicBezTo>
                <a:lnTo>
                  <a:pt x="3391437" y="892934"/>
                </a:lnTo>
                <a:cubicBezTo>
                  <a:pt x="3391437" y="930870"/>
                  <a:pt x="3360684" y="961623"/>
                  <a:pt x="3322748" y="961623"/>
                </a:cubicBezTo>
                <a:lnTo>
                  <a:pt x="68689" y="961623"/>
                </a:lnTo>
                <a:cubicBezTo>
                  <a:pt x="30753" y="961623"/>
                  <a:pt x="0" y="930870"/>
                  <a:pt x="0" y="892934"/>
                </a:cubicBezTo>
                <a:lnTo>
                  <a:pt x="0" y="68689"/>
                </a:lnTo>
                <a:cubicBezTo>
                  <a:pt x="0" y="30753"/>
                  <a:pt x="30753" y="0"/>
                  <a:pt x="6868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2227" y="1938702"/>
            <a:ext cx="120203" cy="120203"/>
          </a:xfrm>
          <a:custGeom>
            <a:avLst/>
            <a:gdLst/>
            <a:ahLst/>
            <a:cxnLst/>
            <a:rect l="l" t="t" r="r" b="b"/>
            <a:pathLst>
              <a:path w="120203" h="120203">
                <a:moveTo>
                  <a:pt x="45076" y="15025"/>
                </a:moveTo>
                <a:cubicBezTo>
                  <a:pt x="45076" y="10870"/>
                  <a:pt x="48433" y="7513"/>
                  <a:pt x="52589" y="7513"/>
                </a:cubicBezTo>
                <a:lnTo>
                  <a:pt x="67614" y="7513"/>
                </a:lnTo>
                <a:cubicBezTo>
                  <a:pt x="71770" y="7513"/>
                  <a:pt x="75127" y="10870"/>
                  <a:pt x="75127" y="15025"/>
                </a:cubicBezTo>
                <a:lnTo>
                  <a:pt x="75127" y="30051"/>
                </a:lnTo>
                <a:cubicBezTo>
                  <a:pt x="75127" y="34206"/>
                  <a:pt x="71770" y="37563"/>
                  <a:pt x="67614" y="37563"/>
                </a:cubicBezTo>
                <a:lnTo>
                  <a:pt x="65736" y="37563"/>
                </a:lnTo>
                <a:lnTo>
                  <a:pt x="65736" y="52589"/>
                </a:lnTo>
                <a:lnTo>
                  <a:pt x="93908" y="52589"/>
                </a:lnTo>
                <a:cubicBezTo>
                  <a:pt x="103252" y="52589"/>
                  <a:pt x="110812" y="60148"/>
                  <a:pt x="110812" y="69492"/>
                </a:cubicBezTo>
                <a:lnTo>
                  <a:pt x="110812" y="82639"/>
                </a:lnTo>
                <a:lnTo>
                  <a:pt x="112690" y="82639"/>
                </a:lnTo>
                <a:cubicBezTo>
                  <a:pt x="116846" y="82639"/>
                  <a:pt x="120203" y="85997"/>
                  <a:pt x="120203" y="90152"/>
                </a:cubicBezTo>
                <a:lnTo>
                  <a:pt x="120203" y="105177"/>
                </a:lnTo>
                <a:cubicBezTo>
                  <a:pt x="120203" y="109333"/>
                  <a:pt x="116846" y="112690"/>
                  <a:pt x="112690" y="112690"/>
                </a:cubicBezTo>
                <a:lnTo>
                  <a:pt x="97665" y="112690"/>
                </a:lnTo>
                <a:cubicBezTo>
                  <a:pt x="93509" y="112690"/>
                  <a:pt x="90152" y="109333"/>
                  <a:pt x="90152" y="105177"/>
                </a:cubicBezTo>
                <a:lnTo>
                  <a:pt x="90152" y="90152"/>
                </a:lnTo>
                <a:cubicBezTo>
                  <a:pt x="90152" y="85997"/>
                  <a:pt x="93509" y="82639"/>
                  <a:pt x="97665" y="82639"/>
                </a:cubicBezTo>
                <a:lnTo>
                  <a:pt x="99543" y="82639"/>
                </a:lnTo>
                <a:lnTo>
                  <a:pt x="99543" y="69492"/>
                </a:lnTo>
                <a:cubicBezTo>
                  <a:pt x="99543" y="66370"/>
                  <a:pt x="97031" y="63858"/>
                  <a:pt x="93908" y="63858"/>
                </a:cubicBezTo>
                <a:lnTo>
                  <a:pt x="65736" y="63858"/>
                </a:lnTo>
                <a:lnTo>
                  <a:pt x="65736" y="82639"/>
                </a:lnTo>
                <a:lnTo>
                  <a:pt x="67614" y="82639"/>
                </a:lnTo>
                <a:cubicBezTo>
                  <a:pt x="71770" y="82639"/>
                  <a:pt x="75127" y="85997"/>
                  <a:pt x="75127" y="90152"/>
                </a:cubicBezTo>
                <a:lnTo>
                  <a:pt x="75127" y="105177"/>
                </a:lnTo>
                <a:cubicBezTo>
                  <a:pt x="75127" y="109333"/>
                  <a:pt x="71770" y="112690"/>
                  <a:pt x="67614" y="112690"/>
                </a:cubicBezTo>
                <a:lnTo>
                  <a:pt x="52589" y="112690"/>
                </a:lnTo>
                <a:cubicBezTo>
                  <a:pt x="48433" y="112690"/>
                  <a:pt x="45076" y="109333"/>
                  <a:pt x="45076" y="105177"/>
                </a:cubicBezTo>
                <a:lnTo>
                  <a:pt x="45076" y="90152"/>
                </a:lnTo>
                <a:cubicBezTo>
                  <a:pt x="45076" y="85997"/>
                  <a:pt x="48433" y="82639"/>
                  <a:pt x="52589" y="82639"/>
                </a:cubicBezTo>
                <a:lnTo>
                  <a:pt x="54467" y="82639"/>
                </a:lnTo>
                <a:lnTo>
                  <a:pt x="54467" y="63858"/>
                </a:lnTo>
                <a:lnTo>
                  <a:pt x="26294" y="63858"/>
                </a:lnTo>
                <a:cubicBezTo>
                  <a:pt x="23172" y="63858"/>
                  <a:pt x="20660" y="66370"/>
                  <a:pt x="20660" y="69492"/>
                </a:cubicBezTo>
                <a:lnTo>
                  <a:pt x="20660" y="82639"/>
                </a:lnTo>
                <a:lnTo>
                  <a:pt x="22538" y="82639"/>
                </a:lnTo>
                <a:cubicBezTo>
                  <a:pt x="26693" y="82639"/>
                  <a:pt x="30051" y="85997"/>
                  <a:pt x="30051" y="90152"/>
                </a:cubicBezTo>
                <a:lnTo>
                  <a:pt x="30051" y="105177"/>
                </a:lnTo>
                <a:cubicBezTo>
                  <a:pt x="30051" y="109333"/>
                  <a:pt x="26693" y="112690"/>
                  <a:pt x="22538" y="112690"/>
                </a:cubicBezTo>
                <a:lnTo>
                  <a:pt x="7513" y="112690"/>
                </a:lnTo>
                <a:cubicBezTo>
                  <a:pt x="3357" y="112690"/>
                  <a:pt x="0" y="109333"/>
                  <a:pt x="0" y="105177"/>
                </a:cubicBezTo>
                <a:lnTo>
                  <a:pt x="0" y="90152"/>
                </a:lnTo>
                <a:cubicBezTo>
                  <a:pt x="0" y="85997"/>
                  <a:pt x="3357" y="82639"/>
                  <a:pt x="7513" y="82639"/>
                </a:cubicBezTo>
                <a:lnTo>
                  <a:pt x="9391" y="82639"/>
                </a:lnTo>
                <a:lnTo>
                  <a:pt x="9391" y="69492"/>
                </a:lnTo>
                <a:cubicBezTo>
                  <a:pt x="9391" y="60148"/>
                  <a:pt x="16950" y="52589"/>
                  <a:pt x="26294" y="52589"/>
                </a:cubicBezTo>
                <a:lnTo>
                  <a:pt x="54467" y="52589"/>
                </a:lnTo>
                <a:lnTo>
                  <a:pt x="54467" y="37563"/>
                </a:lnTo>
                <a:lnTo>
                  <a:pt x="52589" y="37563"/>
                </a:lnTo>
                <a:cubicBezTo>
                  <a:pt x="48433" y="37563"/>
                  <a:pt x="45076" y="34206"/>
                  <a:pt x="45076" y="30051"/>
                </a:cubicBezTo>
                <a:lnTo>
                  <a:pt x="45076" y="15025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0" name="Text 8"/>
          <p:cNvSpPr/>
          <p:nvPr/>
        </p:nvSpPr>
        <p:spPr>
          <a:xfrm>
            <a:off x="779601" y="1895773"/>
            <a:ext cx="3099515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 Reasoning Phase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5055" y="2153350"/>
            <a:ext cx="3245476" cy="497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46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GNN processes dense subgraph, assigning importance weights to nodes based on question relevance and neighbor context through message passing.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2024" y="2838077"/>
            <a:ext cx="3391437" cy="798490"/>
          </a:xfrm>
          <a:custGeom>
            <a:avLst/>
            <a:gdLst/>
            <a:ahLst/>
            <a:cxnLst/>
            <a:rect l="l" t="t" r="r" b="b"/>
            <a:pathLst>
              <a:path w="3391437" h="798490">
                <a:moveTo>
                  <a:pt x="68686" y="0"/>
                </a:moveTo>
                <a:lnTo>
                  <a:pt x="3322750" y="0"/>
                </a:lnTo>
                <a:cubicBezTo>
                  <a:pt x="3360685" y="0"/>
                  <a:pt x="3391437" y="30752"/>
                  <a:pt x="3391437" y="68686"/>
                </a:cubicBezTo>
                <a:lnTo>
                  <a:pt x="3391437" y="729804"/>
                </a:lnTo>
                <a:cubicBezTo>
                  <a:pt x="3391437" y="767738"/>
                  <a:pt x="3360685" y="798490"/>
                  <a:pt x="3322750" y="798490"/>
                </a:cubicBezTo>
                <a:lnTo>
                  <a:pt x="68686" y="798490"/>
                </a:lnTo>
                <a:cubicBezTo>
                  <a:pt x="30752" y="798490"/>
                  <a:pt x="0" y="767738"/>
                  <a:pt x="0" y="729804"/>
                </a:cubicBezTo>
                <a:lnTo>
                  <a:pt x="0" y="68686"/>
                </a:lnTo>
                <a:cubicBezTo>
                  <a:pt x="0" y="30777"/>
                  <a:pt x="30777" y="0"/>
                  <a:pt x="6868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2227" y="2984037"/>
            <a:ext cx="120203" cy="120203"/>
          </a:xfrm>
          <a:custGeom>
            <a:avLst/>
            <a:gdLst/>
            <a:ahLst/>
            <a:cxnLst/>
            <a:rect l="l" t="t" r="r" b="b"/>
            <a:pathLst>
              <a:path w="120203" h="120203">
                <a:moveTo>
                  <a:pt x="120203" y="22538"/>
                </a:moveTo>
                <a:cubicBezTo>
                  <a:pt x="120203" y="34324"/>
                  <a:pt x="106328" y="51908"/>
                  <a:pt x="100341" y="58928"/>
                </a:cubicBezTo>
                <a:cubicBezTo>
                  <a:pt x="99449" y="59961"/>
                  <a:pt x="98134" y="60360"/>
                  <a:pt x="96937" y="60101"/>
                </a:cubicBezTo>
                <a:lnTo>
                  <a:pt x="75127" y="60101"/>
                </a:lnTo>
                <a:cubicBezTo>
                  <a:pt x="70971" y="60101"/>
                  <a:pt x="67614" y="63459"/>
                  <a:pt x="67614" y="67614"/>
                </a:cubicBezTo>
                <a:cubicBezTo>
                  <a:pt x="67614" y="71770"/>
                  <a:pt x="70971" y="75127"/>
                  <a:pt x="75127" y="75127"/>
                </a:cubicBezTo>
                <a:lnTo>
                  <a:pt x="97665" y="75127"/>
                </a:lnTo>
                <a:cubicBezTo>
                  <a:pt x="110108" y="75127"/>
                  <a:pt x="120203" y="85222"/>
                  <a:pt x="120203" y="97665"/>
                </a:cubicBezTo>
                <a:cubicBezTo>
                  <a:pt x="120203" y="110108"/>
                  <a:pt x="110108" y="120203"/>
                  <a:pt x="97665" y="120203"/>
                </a:cubicBezTo>
                <a:lnTo>
                  <a:pt x="32774" y="120203"/>
                </a:lnTo>
                <a:cubicBezTo>
                  <a:pt x="34817" y="117879"/>
                  <a:pt x="37305" y="114897"/>
                  <a:pt x="39817" y="111563"/>
                </a:cubicBezTo>
                <a:cubicBezTo>
                  <a:pt x="41296" y="109591"/>
                  <a:pt x="42822" y="107431"/>
                  <a:pt x="44278" y="105177"/>
                </a:cubicBezTo>
                <a:lnTo>
                  <a:pt x="97665" y="105177"/>
                </a:lnTo>
                <a:cubicBezTo>
                  <a:pt x="101820" y="105177"/>
                  <a:pt x="105177" y="101820"/>
                  <a:pt x="105177" y="97665"/>
                </a:cubicBezTo>
                <a:cubicBezTo>
                  <a:pt x="105177" y="93509"/>
                  <a:pt x="101820" y="90152"/>
                  <a:pt x="97665" y="90152"/>
                </a:cubicBezTo>
                <a:lnTo>
                  <a:pt x="75127" y="90152"/>
                </a:lnTo>
                <a:cubicBezTo>
                  <a:pt x="62684" y="90152"/>
                  <a:pt x="52589" y="80057"/>
                  <a:pt x="52589" y="67614"/>
                </a:cubicBezTo>
                <a:cubicBezTo>
                  <a:pt x="52589" y="55171"/>
                  <a:pt x="62684" y="45076"/>
                  <a:pt x="75127" y="45076"/>
                </a:cubicBezTo>
                <a:lnTo>
                  <a:pt x="84471" y="45076"/>
                </a:lnTo>
                <a:cubicBezTo>
                  <a:pt x="79540" y="37681"/>
                  <a:pt x="75127" y="29182"/>
                  <a:pt x="75127" y="22538"/>
                </a:cubicBezTo>
                <a:cubicBezTo>
                  <a:pt x="75127" y="10095"/>
                  <a:pt x="85222" y="0"/>
                  <a:pt x="97665" y="0"/>
                </a:cubicBezTo>
                <a:cubicBezTo>
                  <a:pt x="110108" y="0"/>
                  <a:pt x="120203" y="10095"/>
                  <a:pt x="120203" y="22538"/>
                </a:cubicBezTo>
                <a:close/>
                <a:moveTo>
                  <a:pt x="27492" y="114827"/>
                </a:moveTo>
                <a:cubicBezTo>
                  <a:pt x="26600" y="115836"/>
                  <a:pt x="25801" y="116728"/>
                  <a:pt x="25121" y="117479"/>
                </a:cubicBezTo>
                <a:lnTo>
                  <a:pt x="24698" y="117949"/>
                </a:lnTo>
                <a:lnTo>
                  <a:pt x="24651" y="117902"/>
                </a:lnTo>
                <a:cubicBezTo>
                  <a:pt x="23242" y="118982"/>
                  <a:pt x="21223" y="118841"/>
                  <a:pt x="19956" y="117479"/>
                </a:cubicBezTo>
                <a:cubicBezTo>
                  <a:pt x="14039" y="111047"/>
                  <a:pt x="0" y="94495"/>
                  <a:pt x="0" y="82639"/>
                </a:cubicBezTo>
                <a:cubicBezTo>
                  <a:pt x="0" y="70197"/>
                  <a:pt x="10095" y="60101"/>
                  <a:pt x="22538" y="60101"/>
                </a:cubicBezTo>
                <a:cubicBezTo>
                  <a:pt x="34981" y="60101"/>
                  <a:pt x="45076" y="70197"/>
                  <a:pt x="45076" y="82639"/>
                </a:cubicBezTo>
                <a:cubicBezTo>
                  <a:pt x="45076" y="89683"/>
                  <a:pt x="40122" y="98369"/>
                  <a:pt x="34864" y="105624"/>
                </a:cubicBezTo>
                <a:cubicBezTo>
                  <a:pt x="32351" y="109075"/>
                  <a:pt x="29769" y="112197"/>
                  <a:pt x="27633" y="114662"/>
                </a:cubicBezTo>
                <a:lnTo>
                  <a:pt x="27492" y="114827"/>
                </a:lnTo>
                <a:close/>
                <a:moveTo>
                  <a:pt x="30051" y="82639"/>
                </a:moveTo>
                <a:cubicBezTo>
                  <a:pt x="30051" y="78493"/>
                  <a:pt x="26684" y="75127"/>
                  <a:pt x="22538" y="75127"/>
                </a:cubicBezTo>
                <a:cubicBezTo>
                  <a:pt x="18392" y="75127"/>
                  <a:pt x="15025" y="78493"/>
                  <a:pt x="15025" y="82639"/>
                </a:cubicBezTo>
                <a:cubicBezTo>
                  <a:pt x="15025" y="86786"/>
                  <a:pt x="18392" y="90152"/>
                  <a:pt x="22538" y="90152"/>
                </a:cubicBezTo>
                <a:cubicBezTo>
                  <a:pt x="26684" y="90152"/>
                  <a:pt x="30051" y="86786"/>
                  <a:pt x="30051" y="82639"/>
                </a:cubicBezTo>
                <a:close/>
                <a:moveTo>
                  <a:pt x="97665" y="30051"/>
                </a:moveTo>
                <a:cubicBezTo>
                  <a:pt x="101811" y="30051"/>
                  <a:pt x="105177" y="26684"/>
                  <a:pt x="105177" y="22538"/>
                </a:cubicBezTo>
                <a:cubicBezTo>
                  <a:pt x="105177" y="18392"/>
                  <a:pt x="101811" y="15025"/>
                  <a:pt x="97665" y="15025"/>
                </a:cubicBezTo>
                <a:cubicBezTo>
                  <a:pt x="93518" y="15025"/>
                  <a:pt x="90152" y="18392"/>
                  <a:pt x="90152" y="22538"/>
                </a:cubicBezTo>
                <a:cubicBezTo>
                  <a:pt x="90152" y="26684"/>
                  <a:pt x="93518" y="30051"/>
                  <a:pt x="97665" y="3005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4" name="Text 12"/>
          <p:cNvSpPr/>
          <p:nvPr/>
        </p:nvSpPr>
        <p:spPr>
          <a:xfrm>
            <a:off x="779601" y="2941108"/>
            <a:ext cx="3099515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Path Extraction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5055" y="3198685"/>
            <a:ext cx="3245476" cy="334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46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Shortest paths connecting question entities to top answer candidates are extracted to represent KG reasoning paths.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2024" y="3718133"/>
            <a:ext cx="3391437" cy="961623"/>
          </a:xfrm>
          <a:custGeom>
            <a:avLst/>
            <a:gdLst/>
            <a:ahLst/>
            <a:cxnLst/>
            <a:rect l="l" t="t" r="r" b="b"/>
            <a:pathLst>
              <a:path w="3391437" h="961623">
                <a:moveTo>
                  <a:pt x="68689" y="0"/>
                </a:moveTo>
                <a:lnTo>
                  <a:pt x="3322748" y="0"/>
                </a:lnTo>
                <a:cubicBezTo>
                  <a:pt x="3360684" y="0"/>
                  <a:pt x="3391437" y="30753"/>
                  <a:pt x="3391437" y="68689"/>
                </a:cubicBezTo>
                <a:lnTo>
                  <a:pt x="3391437" y="892934"/>
                </a:lnTo>
                <a:cubicBezTo>
                  <a:pt x="3391437" y="930870"/>
                  <a:pt x="3360684" y="961623"/>
                  <a:pt x="3322748" y="961623"/>
                </a:cubicBezTo>
                <a:lnTo>
                  <a:pt x="68689" y="961623"/>
                </a:lnTo>
                <a:cubicBezTo>
                  <a:pt x="30753" y="961623"/>
                  <a:pt x="0" y="930870"/>
                  <a:pt x="0" y="892934"/>
                </a:cubicBezTo>
                <a:lnTo>
                  <a:pt x="0" y="68689"/>
                </a:lnTo>
                <a:cubicBezTo>
                  <a:pt x="0" y="30753"/>
                  <a:pt x="30753" y="0"/>
                  <a:pt x="6868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34714" y="3864094"/>
            <a:ext cx="135228" cy="120203"/>
          </a:xfrm>
          <a:custGeom>
            <a:avLst/>
            <a:gdLst/>
            <a:ahLst/>
            <a:cxnLst/>
            <a:rect l="l" t="t" r="r" b="b"/>
            <a:pathLst>
              <a:path w="135228" h="120203">
                <a:moveTo>
                  <a:pt x="37563" y="0"/>
                </a:moveTo>
                <a:cubicBezTo>
                  <a:pt x="41719" y="0"/>
                  <a:pt x="45076" y="3357"/>
                  <a:pt x="45076" y="7513"/>
                </a:cubicBezTo>
                <a:lnTo>
                  <a:pt x="45076" y="15025"/>
                </a:lnTo>
                <a:lnTo>
                  <a:pt x="75127" y="15025"/>
                </a:lnTo>
                <a:cubicBezTo>
                  <a:pt x="79282" y="15025"/>
                  <a:pt x="82639" y="18383"/>
                  <a:pt x="82639" y="22538"/>
                </a:cubicBezTo>
                <a:cubicBezTo>
                  <a:pt x="82639" y="26693"/>
                  <a:pt x="79282" y="30051"/>
                  <a:pt x="75127" y="30051"/>
                </a:cubicBezTo>
                <a:lnTo>
                  <a:pt x="72873" y="30051"/>
                </a:lnTo>
                <a:lnTo>
                  <a:pt x="70901" y="35474"/>
                </a:lnTo>
                <a:cubicBezTo>
                  <a:pt x="67051" y="46086"/>
                  <a:pt x="61252" y="55782"/>
                  <a:pt x="53950" y="64116"/>
                </a:cubicBezTo>
                <a:cubicBezTo>
                  <a:pt x="57284" y="66182"/>
                  <a:pt x="60759" y="68013"/>
                  <a:pt x="64374" y="69633"/>
                </a:cubicBezTo>
                <a:lnTo>
                  <a:pt x="76207" y="74892"/>
                </a:lnTo>
                <a:lnTo>
                  <a:pt x="90809" y="42024"/>
                </a:lnTo>
                <a:cubicBezTo>
                  <a:pt x="92007" y="39301"/>
                  <a:pt x="94707" y="37563"/>
                  <a:pt x="97665" y="37563"/>
                </a:cubicBezTo>
                <a:cubicBezTo>
                  <a:pt x="100623" y="37563"/>
                  <a:pt x="103323" y="39301"/>
                  <a:pt x="104520" y="42024"/>
                </a:cubicBezTo>
                <a:lnTo>
                  <a:pt x="134571" y="109638"/>
                </a:lnTo>
                <a:cubicBezTo>
                  <a:pt x="136261" y="113441"/>
                  <a:pt x="134547" y="117879"/>
                  <a:pt x="130768" y="119545"/>
                </a:cubicBezTo>
                <a:cubicBezTo>
                  <a:pt x="126988" y="121212"/>
                  <a:pt x="122527" y="119522"/>
                  <a:pt x="120860" y="115742"/>
                </a:cubicBezTo>
                <a:lnTo>
                  <a:pt x="116165" y="105177"/>
                </a:lnTo>
                <a:lnTo>
                  <a:pt x="79188" y="105177"/>
                </a:lnTo>
                <a:lnTo>
                  <a:pt x="74493" y="115742"/>
                </a:lnTo>
                <a:cubicBezTo>
                  <a:pt x="72803" y="119545"/>
                  <a:pt x="68365" y="121236"/>
                  <a:pt x="64586" y="119545"/>
                </a:cubicBezTo>
                <a:cubicBezTo>
                  <a:pt x="60806" y="117855"/>
                  <a:pt x="59092" y="113418"/>
                  <a:pt x="60782" y="109638"/>
                </a:cubicBezTo>
                <a:lnTo>
                  <a:pt x="70126" y="88626"/>
                </a:lnTo>
                <a:lnTo>
                  <a:pt x="58294" y="83367"/>
                </a:lnTo>
                <a:cubicBezTo>
                  <a:pt x="52894" y="80973"/>
                  <a:pt x="47729" y="78108"/>
                  <a:pt x="42846" y="74822"/>
                </a:cubicBezTo>
                <a:cubicBezTo>
                  <a:pt x="37845" y="78860"/>
                  <a:pt x="32375" y="82381"/>
                  <a:pt x="26529" y="85316"/>
                </a:cubicBezTo>
                <a:lnTo>
                  <a:pt x="18383" y="89354"/>
                </a:lnTo>
                <a:cubicBezTo>
                  <a:pt x="14673" y="91209"/>
                  <a:pt x="10166" y="89706"/>
                  <a:pt x="8311" y="85997"/>
                </a:cubicBezTo>
                <a:cubicBezTo>
                  <a:pt x="6456" y="82287"/>
                  <a:pt x="7959" y="77780"/>
                  <a:pt x="11668" y="75925"/>
                </a:cubicBezTo>
                <a:lnTo>
                  <a:pt x="19768" y="71863"/>
                </a:lnTo>
                <a:cubicBezTo>
                  <a:pt x="23594" y="69938"/>
                  <a:pt x="27233" y="67708"/>
                  <a:pt x="30661" y="65219"/>
                </a:cubicBezTo>
                <a:cubicBezTo>
                  <a:pt x="27421" y="62238"/>
                  <a:pt x="24369" y="59021"/>
                  <a:pt x="21529" y="55617"/>
                </a:cubicBezTo>
                <a:lnTo>
                  <a:pt x="19157" y="52753"/>
                </a:lnTo>
                <a:cubicBezTo>
                  <a:pt x="16504" y="49560"/>
                  <a:pt x="16927" y="44818"/>
                  <a:pt x="20120" y="42165"/>
                </a:cubicBezTo>
                <a:cubicBezTo>
                  <a:pt x="23313" y="39512"/>
                  <a:pt x="28055" y="39935"/>
                  <a:pt x="30708" y="43127"/>
                </a:cubicBezTo>
                <a:lnTo>
                  <a:pt x="33103" y="45992"/>
                </a:lnTo>
                <a:cubicBezTo>
                  <a:pt x="35803" y="49255"/>
                  <a:pt x="38761" y="52284"/>
                  <a:pt x="41883" y="55077"/>
                </a:cubicBezTo>
                <a:cubicBezTo>
                  <a:pt x="48339" y="47940"/>
                  <a:pt x="53434" y="39559"/>
                  <a:pt x="56791" y="30332"/>
                </a:cubicBezTo>
                <a:lnTo>
                  <a:pt x="56909" y="30051"/>
                </a:lnTo>
                <a:lnTo>
                  <a:pt x="7536" y="30051"/>
                </a:lnTo>
                <a:cubicBezTo>
                  <a:pt x="3357" y="30051"/>
                  <a:pt x="0" y="26693"/>
                  <a:pt x="0" y="22538"/>
                </a:cubicBezTo>
                <a:cubicBezTo>
                  <a:pt x="0" y="18383"/>
                  <a:pt x="3357" y="15025"/>
                  <a:pt x="7513" y="15025"/>
                </a:cubicBezTo>
                <a:lnTo>
                  <a:pt x="30051" y="15025"/>
                </a:lnTo>
                <a:lnTo>
                  <a:pt x="30051" y="7513"/>
                </a:lnTo>
                <a:cubicBezTo>
                  <a:pt x="30051" y="3357"/>
                  <a:pt x="33408" y="0"/>
                  <a:pt x="37563" y="0"/>
                </a:cubicBezTo>
                <a:close/>
                <a:moveTo>
                  <a:pt x="97665" y="63576"/>
                </a:moveTo>
                <a:lnTo>
                  <a:pt x="85856" y="90152"/>
                </a:lnTo>
                <a:lnTo>
                  <a:pt x="109474" y="90152"/>
                </a:lnTo>
                <a:lnTo>
                  <a:pt x="97665" y="63576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8" name="Text 16"/>
          <p:cNvSpPr/>
          <p:nvPr/>
        </p:nvSpPr>
        <p:spPr>
          <a:xfrm>
            <a:off x="779601" y="3821164"/>
            <a:ext cx="3099515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Verbalization &amp; RAG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5055" y="4078742"/>
            <a:ext cx="3245476" cy="497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46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Paths are converted to natural language and fed to LLM for final reasoning, combining structured evidence with semantic understanding.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5458" y="4949354"/>
            <a:ext cx="3381134" cy="728086"/>
          </a:xfrm>
          <a:custGeom>
            <a:avLst/>
            <a:gdLst/>
            <a:ahLst/>
            <a:cxnLst/>
            <a:rect l="l" t="t" r="r" b="b"/>
            <a:pathLst>
              <a:path w="3381134" h="728086">
                <a:moveTo>
                  <a:pt x="68688" y="0"/>
                </a:moveTo>
                <a:lnTo>
                  <a:pt x="3312446" y="0"/>
                </a:lnTo>
                <a:cubicBezTo>
                  <a:pt x="3350381" y="0"/>
                  <a:pt x="3381134" y="30752"/>
                  <a:pt x="3381134" y="68688"/>
                </a:cubicBezTo>
                <a:lnTo>
                  <a:pt x="3381134" y="659398"/>
                </a:lnTo>
                <a:cubicBezTo>
                  <a:pt x="3381134" y="697333"/>
                  <a:pt x="3350381" y="728086"/>
                  <a:pt x="3312446" y="728086"/>
                </a:cubicBezTo>
                <a:lnTo>
                  <a:pt x="68688" y="728086"/>
                </a:lnTo>
                <a:cubicBezTo>
                  <a:pt x="30778" y="728086"/>
                  <a:pt x="0" y="697308"/>
                  <a:pt x="0" y="659398"/>
                </a:cubicBezTo>
                <a:lnTo>
                  <a:pt x="0" y="68688"/>
                </a:lnTo>
                <a:cubicBezTo>
                  <a:pt x="0" y="30778"/>
                  <a:pt x="30778" y="0"/>
                  <a:pt x="68688" y="0"/>
                </a:cubicBezTo>
                <a:close/>
              </a:path>
            </a:pathLst>
          </a:custGeom>
          <a:solidFill>
            <a:srgbClr val="FFD166">
              <a:alpha val="10196"/>
            </a:srgbClr>
          </a:solidFill>
          <a:ln w="10160">
            <a:solidFill>
              <a:srgbClr val="FFD166">
                <a:alpha val="30196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752" y="5038645"/>
            <a:ext cx="3262648" cy="17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6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4752" y="5244707"/>
            <a:ext cx="3262648" cy="343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 graph QA, multi-hop reasoning, interpretable paths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28885" y="1068088"/>
            <a:ext cx="3741742" cy="4789224"/>
          </a:xfrm>
          <a:custGeom>
            <a:avLst/>
            <a:gdLst/>
            <a:ahLst/>
            <a:cxnLst/>
            <a:rect l="l" t="t" r="r" b="b"/>
            <a:pathLst>
              <a:path w="3741742" h="4789224">
                <a:moveTo>
                  <a:pt x="103048" y="0"/>
                </a:moveTo>
                <a:lnTo>
                  <a:pt x="3638694" y="0"/>
                </a:lnTo>
                <a:cubicBezTo>
                  <a:pt x="3695606" y="0"/>
                  <a:pt x="3741742" y="46136"/>
                  <a:pt x="3741742" y="103048"/>
                </a:cubicBezTo>
                <a:lnTo>
                  <a:pt x="3741742" y="4686176"/>
                </a:lnTo>
                <a:cubicBezTo>
                  <a:pt x="3741742" y="4743088"/>
                  <a:pt x="3695606" y="4789224"/>
                  <a:pt x="3638694" y="4789224"/>
                </a:cubicBezTo>
                <a:lnTo>
                  <a:pt x="103048" y="4789224"/>
                </a:lnTo>
                <a:cubicBezTo>
                  <a:pt x="46136" y="4789224"/>
                  <a:pt x="0" y="4743088"/>
                  <a:pt x="0" y="4686176"/>
                </a:cubicBezTo>
                <a:lnTo>
                  <a:pt x="0" y="103048"/>
                </a:lnTo>
                <a:cubicBezTo>
                  <a:pt x="0" y="46174"/>
                  <a:pt x="46174" y="0"/>
                  <a:pt x="103048" y="0"/>
                </a:cubicBezTo>
                <a:close/>
              </a:path>
            </a:pathLst>
          </a:custGeom>
          <a:solidFill>
            <a:srgbClr val="FFD166">
              <a:alpha val="10196"/>
            </a:srgbClr>
          </a:solidFill>
          <a:ln w="10160">
            <a:solidFill>
              <a:srgbClr val="FFD166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04038" y="1243243"/>
            <a:ext cx="412124" cy="412124"/>
          </a:xfrm>
          <a:custGeom>
            <a:avLst/>
            <a:gdLst/>
            <a:ahLst/>
            <a:cxnLst/>
            <a:rect l="l" t="t" r="r" b="b"/>
            <a:pathLst>
              <a:path w="412124" h="412124">
                <a:moveTo>
                  <a:pt x="103031" y="0"/>
                </a:moveTo>
                <a:lnTo>
                  <a:pt x="309093" y="0"/>
                </a:lnTo>
                <a:cubicBezTo>
                  <a:pt x="365957" y="0"/>
                  <a:pt x="412124" y="46167"/>
                  <a:pt x="412124" y="103031"/>
                </a:cubicBezTo>
                <a:lnTo>
                  <a:pt x="412124" y="309093"/>
                </a:lnTo>
                <a:cubicBezTo>
                  <a:pt x="412124" y="365957"/>
                  <a:pt x="365957" y="412124"/>
                  <a:pt x="309093" y="412124"/>
                </a:cubicBezTo>
                <a:lnTo>
                  <a:pt x="103031" y="412124"/>
                </a:lnTo>
                <a:cubicBezTo>
                  <a:pt x="46167" y="412124"/>
                  <a:pt x="0" y="365957"/>
                  <a:pt x="0" y="309093"/>
                </a:cubicBezTo>
                <a:lnTo>
                  <a:pt x="0" y="103031"/>
                </a:lnTo>
                <a:cubicBezTo>
                  <a:pt x="0" y="46167"/>
                  <a:pt x="46167" y="0"/>
                  <a:pt x="103031" y="0"/>
                </a:cubicBezTo>
                <a:close/>
              </a:path>
            </a:pathLst>
          </a:custGeom>
          <a:solidFill>
            <a:srgbClr val="FFD166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484424" y="1311930"/>
            <a:ext cx="352023" cy="27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3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19193" y="1329102"/>
            <a:ext cx="1906073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2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Joint Embedding Fusion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04038" y="1792742"/>
            <a:ext cx="3391437" cy="961623"/>
          </a:xfrm>
          <a:custGeom>
            <a:avLst/>
            <a:gdLst/>
            <a:ahLst/>
            <a:cxnLst/>
            <a:rect l="l" t="t" r="r" b="b"/>
            <a:pathLst>
              <a:path w="3391437" h="961623">
                <a:moveTo>
                  <a:pt x="68689" y="0"/>
                </a:moveTo>
                <a:lnTo>
                  <a:pt x="3322748" y="0"/>
                </a:lnTo>
                <a:cubicBezTo>
                  <a:pt x="3360684" y="0"/>
                  <a:pt x="3391437" y="30753"/>
                  <a:pt x="3391437" y="68689"/>
                </a:cubicBezTo>
                <a:lnTo>
                  <a:pt x="3391437" y="892934"/>
                </a:lnTo>
                <a:cubicBezTo>
                  <a:pt x="3391437" y="930870"/>
                  <a:pt x="3360684" y="961623"/>
                  <a:pt x="3322748" y="961623"/>
                </a:cubicBezTo>
                <a:lnTo>
                  <a:pt x="68689" y="961623"/>
                </a:lnTo>
                <a:cubicBezTo>
                  <a:pt x="30753" y="961623"/>
                  <a:pt x="0" y="930870"/>
                  <a:pt x="0" y="892934"/>
                </a:cubicBezTo>
                <a:lnTo>
                  <a:pt x="0" y="68689"/>
                </a:lnTo>
                <a:cubicBezTo>
                  <a:pt x="0" y="30753"/>
                  <a:pt x="30753" y="0"/>
                  <a:pt x="6868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524241" y="1938702"/>
            <a:ext cx="120203" cy="120203"/>
          </a:xfrm>
          <a:custGeom>
            <a:avLst/>
            <a:gdLst/>
            <a:ahLst/>
            <a:cxnLst/>
            <a:rect l="l" t="t" r="r" b="b"/>
            <a:pathLst>
              <a:path w="120203" h="120203">
                <a:moveTo>
                  <a:pt x="54584" y="1221"/>
                </a:moveTo>
                <a:cubicBezTo>
                  <a:pt x="58082" y="-399"/>
                  <a:pt x="62120" y="-399"/>
                  <a:pt x="65619" y="1221"/>
                </a:cubicBezTo>
                <a:lnTo>
                  <a:pt x="116939" y="24933"/>
                </a:lnTo>
                <a:cubicBezTo>
                  <a:pt x="118935" y="25848"/>
                  <a:pt x="120203" y="27844"/>
                  <a:pt x="120203" y="30051"/>
                </a:cubicBezTo>
                <a:cubicBezTo>
                  <a:pt x="120203" y="32258"/>
                  <a:pt x="118935" y="34253"/>
                  <a:pt x="116939" y="35169"/>
                </a:cubicBezTo>
                <a:lnTo>
                  <a:pt x="65619" y="58881"/>
                </a:lnTo>
                <a:cubicBezTo>
                  <a:pt x="62120" y="60501"/>
                  <a:pt x="58082" y="60501"/>
                  <a:pt x="54584" y="58881"/>
                </a:cubicBezTo>
                <a:lnTo>
                  <a:pt x="3263" y="35169"/>
                </a:lnTo>
                <a:cubicBezTo>
                  <a:pt x="1268" y="34230"/>
                  <a:pt x="0" y="32234"/>
                  <a:pt x="0" y="30051"/>
                </a:cubicBezTo>
                <a:cubicBezTo>
                  <a:pt x="0" y="27867"/>
                  <a:pt x="1268" y="25848"/>
                  <a:pt x="3263" y="24933"/>
                </a:cubicBezTo>
                <a:lnTo>
                  <a:pt x="54584" y="1221"/>
                </a:lnTo>
                <a:close/>
                <a:moveTo>
                  <a:pt x="11292" y="51274"/>
                </a:moveTo>
                <a:lnTo>
                  <a:pt x="49865" y="69093"/>
                </a:lnTo>
                <a:cubicBezTo>
                  <a:pt x="56369" y="72098"/>
                  <a:pt x="63858" y="72098"/>
                  <a:pt x="70361" y="69093"/>
                </a:cubicBezTo>
                <a:lnTo>
                  <a:pt x="108934" y="51274"/>
                </a:lnTo>
                <a:lnTo>
                  <a:pt x="116939" y="54983"/>
                </a:lnTo>
                <a:cubicBezTo>
                  <a:pt x="118935" y="55899"/>
                  <a:pt x="120203" y="57895"/>
                  <a:pt x="120203" y="60101"/>
                </a:cubicBezTo>
                <a:cubicBezTo>
                  <a:pt x="120203" y="62308"/>
                  <a:pt x="118935" y="64304"/>
                  <a:pt x="116939" y="65219"/>
                </a:cubicBezTo>
                <a:lnTo>
                  <a:pt x="65619" y="88931"/>
                </a:lnTo>
                <a:cubicBezTo>
                  <a:pt x="62120" y="90551"/>
                  <a:pt x="58082" y="90551"/>
                  <a:pt x="54584" y="88931"/>
                </a:cubicBezTo>
                <a:lnTo>
                  <a:pt x="3263" y="65219"/>
                </a:lnTo>
                <a:cubicBezTo>
                  <a:pt x="1268" y="64280"/>
                  <a:pt x="0" y="62285"/>
                  <a:pt x="0" y="60101"/>
                </a:cubicBezTo>
                <a:cubicBezTo>
                  <a:pt x="0" y="57918"/>
                  <a:pt x="1268" y="55899"/>
                  <a:pt x="3263" y="54983"/>
                </a:cubicBezTo>
                <a:lnTo>
                  <a:pt x="11269" y="51274"/>
                </a:lnTo>
                <a:close/>
                <a:moveTo>
                  <a:pt x="3263" y="85034"/>
                </a:moveTo>
                <a:lnTo>
                  <a:pt x="11269" y="81325"/>
                </a:lnTo>
                <a:lnTo>
                  <a:pt x="49842" y="99144"/>
                </a:lnTo>
                <a:cubicBezTo>
                  <a:pt x="56345" y="102149"/>
                  <a:pt x="63834" y="102149"/>
                  <a:pt x="70337" y="99144"/>
                </a:cubicBezTo>
                <a:lnTo>
                  <a:pt x="108910" y="81325"/>
                </a:lnTo>
                <a:lnTo>
                  <a:pt x="116916" y="85034"/>
                </a:lnTo>
                <a:cubicBezTo>
                  <a:pt x="118912" y="85950"/>
                  <a:pt x="120179" y="87945"/>
                  <a:pt x="120179" y="90152"/>
                </a:cubicBezTo>
                <a:cubicBezTo>
                  <a:pt x="120179" y="92359"/>
                  <a:pt x="118912" y="94355"/>
                  <a:pt x="116916" y="95270"/>
                </a:cubicBezTo>
                <a:lnTo>
                  <a:pt x="65595" y="118982"/>
                </a:lnTo>
                <a:cubicBezTo>
                  <a:pt x="62097" y="120602"/>
                  <a:pt x="58059" y="120602"/>
                  <a:pt x="54561" y="118982"/>
                </a:cubicBezTo>
                <a:lnTo>
                  <a:pt x="3263" y="95270"/>
                </a:lnTo>
                <a:cubicBezTo>
                  <a:pt x="1268" y="94331"/>
                  <a:pt x="0" y="92335"/>
                  <a:pt x="0" y="90152"/>
                </a:cubicBezTo>
                <a:cubicBezTo>
                  <a:pt x="0" y="87969"/>
                  <a:pt x="1268" y="85950"/>
                  <a:pt x="3263" y="85034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29" name="Text 27"/>
          <p:cNvSpPr/>
          <p:nvPr/>
        </p:nvSpPr>
        <p:spPr>
          <a:xfrm>
            <a:off x="4661615" y="1895773"/>
            <a:ext cx="3099515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GNN-LLM Integration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07069" y="2153350"/>
            <a:ext cx="3245476" cy="497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46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 embeddings from GNN layers are integrated during LLM fine-tuning, creating unified representations that capture both structure and semantics.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04038" y="2838077"/>
            <a:ext cx="3391437" cy="961623"/>
          </a:xfrm>
          <a:custGeom>
            <a:avLst/>
            <a:gdLst/>
            <a:ahLst/>
            <a:cxnLst/>
            <a:rect l="l" t="t" r="r" b="b"/>
            <a:pathLst>
              <a:path w="3391437" h="961623">
                <a:moveTo>
                  <a:pt x="68689" y="0"/>
                </a:moveTo>
                <a:lnTo>
                  <a:pt x="3322748" y="0"/>
                </a:lnTo>
                <a:cubicBezTo>
                  <a:pt x="3360684" y="0"/>
                  <a:pt x="3391437" y="30753"/>
                  <a:pt x="3391437" y="68689"/>
                </a:cubicBezTo>
                <a:lnTo>
                  <a:pt x="3391437" y="892934"/>
                </a:lnTo>
                <a:cubicBezTo>
                  <a:pt x="3391437" y="930870"/>
                  <a:pt x="3360684" y="961623"/>
                  <a:pt x="3322748" y="961623"/>
                </a:cubicBezTo>
                <a:lnTo>
                  <a:pt x="68689" y="961623"/>
                </a:lnTo>
                <a:cubicBezTo>
                  <a:pt x="30753" y="961623"/>
                  <a:pt x="0" y="930870"/>
                  <a:pt x="0" y="892934"/>
                </a:cubicBezTo>
                <a:lnTo>
                  <a:pt x="0" y="68689"/>
                </a:lnTo>
                <a:cubicBezTo>
                  <a:pt x="0" y="30753"/>
                  <a:pt x="30753" y="0"/>
                  <a:pt x="6868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516728" y="2984037"/>
            <a:ext cx="135228" cy="120203"/>
          </a:xfrm>
          <a:custGeom>
            <a:avLst/>
            <a:gdLst/>
            <a:ahLst/>
            <a:cxnLst/>
            <a:rect l="l" t="t" r="r" b="b"/>
            <a:pathLst>
              <a:path w="135228" h="120203">
                <a:moveTo>
                  <a:pt x="67614" y="-3756"/>
                </a:moveTo>
                <a:cubicBezTo>
                  <a:pt x="71770" y="-3756"/>
                  <a:pt x="75127" y="-399"/>
                  <a:pt x="75127" y="3756"/>
                </a:cubicBezTo>
                <a:lnTo>
                  <a:pt x="75127" y="8053"/>
                </a:lnTo>
                <a:cubicBezTo>
                  <a:pt x="98158" y="11339"/>
                  <a:pt x="116376" y="29558"/>
                  <a:pt x="119663" y="52589"/>
                </a:cubicBezTo>
                <a:lnTo>
                  <a:pt x="123959" y="52589"/>
                </a:lnTo>
                <a:cubicBezTo>
                  <a:pt x="128115" y="52589"/>
                  <a:pt x="131472" y="55946"/>
                  <a:pt x="131472" y="60101"/>
                </a:cubicBezTo>
                <a:cubicBezTo>
                  <a:pt x="131472" y="64257"/>
                  <a:pt x="128115" y="67614"/>
                  <a:pt x="123959" y="67614"/>
                </a:cubicBezTo>
                <a:lnTo>
                  <a:pt x="119663" y="67614"/>
                </a:lnTo>
                <a:cubicBezTo>
                  <a:pt x="116376" y="90645"/>
                  <a:pt x="98158" y="108863"/>
                  <a:pt x="75127" y="112150"/>
                </a:cubicBezTo>
                <a:lnTo>
                  <a:pt x="75127" y="116446"/>
                </a:lnTo>
                <a:cubicBezTo>
                  <a:pt x="75127" y="120602"/>
                  <a:pt x="71770" y="123959"/>
                  <a:pt x="67614" y="123959"/>
                </a:cubicBezTo>
                <a:cubicBezTo>
                  <a:pt x="63459" y="123959"/>
                  <a:pt x="60101" y="120602"/>
                  <a:pt x="60101" y="116446"/>
                </a:cubicBezTo>
                <a:lnTo>
                  <a:pt x="60101" y="112150"/>
                </a:lnTo>
                <a:cubicBezTo>
                  <a:pt x="37070" y="108863"/>
                  <a:pt x="18852" y="90645"/>
                  <a:pt x="15565" y="67614"/>
                </a:cubicBezTo>
                <a:lnTo>
                  <a:pt x="11269" y="67614"/>
                </a:lnTo>
                <a:cubicBezTo>
                  <a:pt x="7114" y="67614"/>
                  <a:pt x="3756" y="64257"/>
                  <a:pt x="3756" y="60101"/>
                </a:cubicBezTo>
                <a:cubicBezTo>
                  <a:pt x="3756" y="55946"/>
                  <a:pt x="7114" y="52589"/>
                  <a:pt x="11269" y="52589"/>
                </a:cubicBezTo>
                <a:lnTo>
                  <a:pt x="15565" y="52589"/>
                </a:lnTo>
                <a:cubicBezTo>
                  <a:pt x="18852" y="29558"/>
                  <a:pt x="37070" y="11339"/>
                  <a:pt x="60101" y="8053"/>
                </a:cubicBezTo>
                <a:lnTo>
                  <a:pt x="60101" y="3756"/>
                </a:lnTo>
                <a:cubicBezTo>
                  <a:pt x="60101" y="-399"/>
                  <a:pt x="63459" y="-3756"/>
                  <a:pt x="67614" y="-3756"/>
                </a:cubicBezTo>
                <a:close/>
                <a:moveTo>
                  <a:pt x="30802" y="67614"/>
                </a:moveTo>
                <a:cubicBezTo>
                  <a:pt x="33784" y="82334"/>
                  <a:pt x="45381" y="93932"/>
                  <a:pt x="60101" y="96914"/>
                </a:cubicBezTo>
                <a:lnTo>
                  <a:pt x="60101" y="93908"/>
                </a:lnTo>
                <a:cubicBezTo>
                  <a:pt x="60101" y="89753"/>
                  <a:pt x="63459" y="86396"/>
                  <a:pt x="67614" y="86396"/>
                </a:cubicBezTo>
                <a:cubicBezTo>
                  <a:pt x="71770" y="86396"/>
                  <a:pt x="75127" y="89753"/>
                  <a:pt x="75127" y="93908"/>
                </a:cubicBezTo>
                <a:lnTo>
                  <a:pt x="75127" y="96914"/>
                </a:lnTo>
                <a:cubicBezTo>
                  <a:pt x="89847" y="93932"/>
                  <a:pt x="101445" y="82334"/>
                  <a:pt x="104426" y="67614"/>
                </a:cubicBezTo>
                <a:lnTo>
                  <a:pt x="101421" y="67614"/>
                </a:lnTo>
                <a:cubicBezTo>
                  <a:pt x="97266" y="67614"/>
                  <a:pt x="93908" y="64257"/>
                  <a:pt x="93908" y="60101"/>
                </a:cubicBezTo>
                <a:cubicBezTo>
                  <a:pt x="93908" y="55946"/>
                  <a:pt x="97266" y="52589"/>
                  <a:pt x="101421" y="52589"/>
                </a:cubicBezTo>
                <a:lnTo>
                  <a:pt x="104426" y="52589"/>
                </a:lnTo>
                <a:cubicBezTo>
                  <a:pt x="101445" y="37869"/>
                  <a:pt x="89847" y="26271"/>
                  <a:pt x="75127" y="23289"/>
                </a:cubicBezTo>
                <a:lnTo>
                  <a:pt x="75127" y="26294"/>
                </a:lnTo>
                <a:cubicBezTo>
                  <a:pt x="75127" y="30450"/>
                  <a:pt x="71770" y="33807"/>
                  <a:pt x="67614" y="33807"/>
                </a:cubicBezTo>
                <a:cubicBezTo>
                  <a:pt x="63459" y="33807"/>
                  <a:pt x="60101" y="30450"/>
                  <a:pt x="60101" y="26294"/>
                </a:cubicBezTo>
                <a:lnTo>
                  <a:pt x="60101" y="23289"/>
                </a:lnTo>
                <a:cubicBezTo>
                  <a:pt x="45381" y="26271"/>
                  <a:pt x="33784" y="37869"/>
                  <a:pt x="30802" y="52589"/>
                </a:cubicBezTo>
                <a:lnTo>
                  <a:pt x="33807" y="52589"/>
                </a:lnTo>
                <a:cubicBezTo>
                  <a:pt x="37962" y="52589"/>
                  <a:pt x="41320" y="55946"/>
                  <a:pt x="41320" y="60101"/>
                </a:cubicBezTo>
                <a:cubicBezTo>
                  <a:pt x="41320" y="64257"/>
                  <a:pt x="37962" y="67614"/>
                  <a:pt x="33807" y="67614"/>
                </a:cubicBezTo>
                <a:lnTo>
                  <a:pt x="30802" y="67614"/>
                </a:lnTo>
                <a:close/>
                <a:moveTo>
                  <a:pt x="67614" y="48832"/>
                </a:moveTo>
                <a:cubicBezTo>
                  <a:pt x="73834" y="48832"/>
                  <a:pt x="78883" y="53882"/>
                  <a:pt x="78883" y="60101"/>
                </a:cubicBezTo>
                <a:cubicBezTo>
                  <a:pt x="78883" y="66321"/>
                  <a:pt x="73834" y="71370"/>
                  <a:pt x="67614" y="71370"/>
                </a:cubicBezTo>
                <a:cubicBezTo>
                  <a:pt x="61395" y="71370"/>
                  <a:pt x="56345" y="66321"/>
                  <a:pt x="56345" y="60101"/>
                </a:cubicBezTo>
                <a:cubicBezTo>
                  <a:pt x="56345" y="53882"/>
                  <a:pt x="61395" y="48832"/>
                  <a:pt x="67614" y="48832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33" name="Text 31"/>
          <p:cNvSpPr/>
          <p:nvPr/>
        </p:nvSpPr>
        <p:spPr>
          <a:xfrm>
            <a:off x="4661615" y="2941108"/>
            <a:ext cx="3099515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Cross-Attention Mechanisms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07069" y="3198685"/>
            <a:ext cx="3245476" cy="497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46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Specialized attention layers allow simultaneous processing of graph and text tokens, enabling the model to attend to both modalities.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04038" y="3883412"/>
            <a:ext cx="3391437" cy="961623"/>
          </a:xfrm>
          <a:custGeom>
            <a:avLst/>
            <a:gdLst/>
            <a:ahLst/>
            <a:cxnLst/>
            <a:rect l="l" t="t" r="r" b="b"/>
            <a:pathLst>
              <a:path w="3391437" h="961623">
                <a:moveTo>
                  <a:pt x="68689" y="0"/>
                </a:moveTo>
                <a:lnTo>
                  <a:pt x="3322748" y="0"/>
                </a:lnTo>
                <a:cubicBezTo>
                  <a:pt x="3360684" y="0"/>
                  <a:pt x="3391437" y="30753"/>
                  <a:pt x="3391437" y="68689"/>
                </a:cubicBezTo>
                <a:lnTo>
                  <a:pt x="3391437" y="892934"/>
                </a:lnTo>
                <a:cubicBezTo>
                  <a:pt x="3391437" y="930870"/>
                  <a:pt x="3360684" y="961623"/>
                  <a:pt x="3322748" y="961623"/>
                </a:cubicBezTo>
                <a:lnTo>
                  <a:pt x="68689" y="961623"/>
                </a:lnTo>
                <a:cubicBezTo>
                  <a:pt x="30753" y="961623"/>
                  <a:pt x="0" y="930870"/>
                  <a:pt x="0" y="892934"/>
                </a:cubicBezTo>
                <a:lnTo>
                  <a:pt x="0" y="68689"/>
                </a:lnTo>
                <a:cubicBezTo>
                  <a:pt x="0" y="30753"/>
                  <a:pt x="30753" y="0"/>
                  <a:pt x="6868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524241" y="4029373"/>
            <a:ext cx="120203" cy="120203"/>
          </a:xfrm>
          <a:custGeom>
            <a:avLst/>
            <a:gdLst/>
            <a:ahLst/>
            <a:cxnLst/>
            <a:rect l="l" t="t" r="r" b="b"/>
            <a:pathLst>
              <a:path w="120203" h="120203">
                <a:moveTo>
                  <a:pt x="15471" y="53645"/>
                </a:moveTo>
                <a:cubicBezTo>
                  <a:pt x="18594" y="31811"/>
                  <a:pt x="37399" y="15025"/>
                  <a:pt x="60101" y="15025"/>
                </a:cubicBezTo>
                <a:cubicBezTo>
                  <a:pt x="72544" y="15025"/>
                  <a:pt x="83813" y="20073"/>
                  <a:pt x="91983" y="28219"/>
                </a:cubicBezTo>
                <a:cubicBezTo>
                  <a:pt x="92030" y="28266"/>
                  <a:pt x="92077" y="28313"/>
                  <a:pt x="92124" y="28360"/>
                </a:cubicBezTo>
                <a:lnTo>
                  <a:pt x="93908" y="30051"/>
                </a:lnTo>
                <a:lnTo>
                  <a:pt x="82663" y="30051"/>
                </a:lnTo>
                <a:cubicBezTo>
                  <a:pt x="78507" y="30051"/>
                  <a:pt x="75150" y="33408"/>
                  <a:pt x="75150" y="37563"/>
                </a:cubicBezTo>
                <a:cubicBezTo>
                  <a:pt x="75150" y="41719"/>
                  <a:pt x="78507" y="45076"/>
                  <a:pt x="82663" y="45076"/>
                </a:cubicBezTo>
                <a:lnTo>
                  <a:pt x="112714" y="45076"/>
                </a:lnTo>
                <a:cubicBezTo>
                  <a:pt x="116869" y="45076"/>
                  <a:pt x="120226" y="41719"/>
                  <a:pt x="120226" y="37563"/>
                </a:cubicBezTo>
                <a:lnTo>
                  <a:pt x="120226" y="7513"/>
                </a:lnTo>
                <a:cubicBezTo>
                  <a:pt x="120226" y="3357"/>
                  <a:pt x="116869" y="0"/>
                  <a:pt x="112714" y="0"/>
                </a:cubicBezTo>
                <a:cubicBezTo>
                  <a:pt x="108558" y="0"/>
                  <a:pt x="105201" y="3357"/>
                  <a:pt x="105201" y="7513"/>
                </a:cubicBezTo>
                <a:lnTo>
                  <a:pt x="105201" y="20049"/>
                </a:lnTo>
                <a:lnTo>
                  <a:pt x="102548" y="17537"/>
                </a:lnTo>
                <a:cubicBezTo>
                  <a:pt x="91678" y="6714"/>
                  <a:pt x="76653" y="0"/>
                  <a:pt x="60101" y="0"/>
                </a:cubicBezTo>
                <a:cubicBezTo>
                  <a:pt x="29816" y="0"/>
                  <a:pt x="4766" y="22397"/>
                  <a:pt x="610" y="51532"/>
                </a:cubicBezTo>
                <a:cubicBezTo>
                  <a:pt x="23" y="55641"/>
                  <a:pt x="2864" y="59444"/>
                  <a:pt x="6973" y="60031"/>
                </a:cubicBezTo>
                <a:cubicBezTo>
                  <a:pt x="11081" y="60618"/>
                  <a:pt x="14884" y="57754"/>
                  <a:pt x="15471" y="53669"/>
                </a:cubicBezTo>
                <a:close/>
                <a:moveTo>
                  <a:pt x="119592" y="68671"/>
                </a:moveTo>
                <a:cubicBezTo>
                  <a:pt x="120179" y="64562"/>
                  <a:pt x="117315" y="60759"/>
                  <a:pt x="113230" y="60172"/>
                </a:cubicBezTo>
                <a:cubicBezTo>
                  <a:pt x="109145" y="59585"/>
                  <a:pt x="105318" y="62449"/>
                  <a:pt x="104731" y="66534"/>
                </a:cubicBezTo>
                <a:cubicBezTo>
                  <a:pt x="101609" y="88368"/>
                  <a:pt x="82804" y="105154"/>
                  <a:pt x="60101" y="105154"/>
                </a:cubicBezTo>
                <a:cubicBezTo>
                  <a:pt x="47659" y="105154"/>
                  <a:pt x="36390" y="100106"/>
                  <a:pt x="28219" y="91960"/>
                </a:cubicBezTo>
                <a:cubicBezTo>
                  <a:pt x="28173" y="91913"/>
                  <a:pt x="28126" y="91866"/>
                  <a:pt x="28079" y="91819"/>
                </a:cubicBezTo>
                <a:lnTo>
                  <a:pt x="26294" y="90129"/>
                </a:lnTo>
                <a:lnTo>
                  <a:pt x="37540" y="90129"/>
                </a:lnTo>
                <a:cubicBezTo>
                  <a:pt x="41695" y="90129"/>
                  <a:pt x="45053" y="86771"/>
                  <a:pt x="45053" y="82616"/>
                </a:cubicBezTo>
                <a:cubicBezTo>
                  <a:pt x="45053" y="78461"/>
                  <a:pt x="41695" y="75103"/>
                  <a:pt x="37540" y="75103"/>
                </a:cubicBezTo>
                <a:lnTo>
                  <a:pt x="7513" y="75127"/>
                </a:lnTo>
                <a:cubicBezTo>
                  <a:pt x="5517" y="75127"/>
                  <a:pt x="3592" y="75925"/>
                  <a:pt x="2183" y="77357"/>
                </a:cubicBezTo>
                <a:cubicBezTo>
                  <a:pt x="775" y="78789"/>
                  <a:pt x="-23" y="80691"/>
                  <a:pt x="0" y="82710"/>
                </a:cubicBezTo>
                <a:lnTo>
                  <a:pt x="235" y="112526"/>
                </a:lnTo>
                <a:cubicBezTo>
                  <a:pt x="258" y="116681"/>
                  <a:pt x="3662" y="120015"/>
                  <a:pt x="7818" y="119968"/>
                </a:cubicBezTo>
                <a:cubicBezTo>
                  <a:pt x="11973" y="119921"/>
                  <a:pt x="15307" y="116540"/>
                  <a:pt x="15260" y="112385"/>
                </a:cubicBezTo>
                <a:lnTo>
                  <a:pt x="15166" y="100294"/>
                </a:lnTo>
                <a:lnTo>
                  <a:pt x="17678" y="102665"/>
                </a:lnTo>
                <a:cubicBezTo>
                  <a:pt x="28548" y="113488"/>
                  <a:pt x="43550" y="120203"/>
                  <a:pt x="60101" y="120203"/>
                </a:cubicBezTo>
                <a:cubicBezTo>
                  <a:pt x="90387" y="120203"/>
                  <a:pt x="115437" y="97806"/>
                  <a:pt x="119592" y="68671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37" name="Text 35"/>
          <p:cNvSpPr/>
          <p:nvPr/>
        </p:nvSpPr>
        <p:spPr>
          <a:xfrm>
            <a:off x="4661615" y="3986443"/>
            <a:ext cx="3099515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Representation Space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507069" y="4244021"/>
            <a:ext cx="3245476" cy="497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46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 and text embeddings are projected into shared space, enabling seamless reasoning across modalities without explicit conversion.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07472" y="4949354"/>
            <a:ext cx="3381134" cy="728086"/>
          </a:xfrm>
          <a:custGeom>
            <a:avLst/>
            <a:gdLst/>
            <a:ahLst/>
            <a:cxnLst/>
            <a:rect l="l" t="t" r="r" b="b"/>
            <a:pathLst>
              <a:path w="3381134" h="728086">
                <a:moveTo>
                  <a:pt x="68688" y="0"/>
                </a:moveTo>
                <a:lnTo>
                  <a:pt x="3312446" y="0"/>
                </a:lnTo>
                <a:cubicBezTo>
                  <a:pt x="3350381" y="0"/>
                  <a:pt x="3381134" y="30752"/>
                  <a:pt x="3381134" y="68688"/>
                </a:cubicBezTo>
                <a:lnTo>
                  <a:pt x="3381134" y="659398"/>
                </a:lnTo>
                <a:cubicBezTo>
                  <a:pt x="3381134" y="697333"/>
                  <a:pt x="3350381" y="728086"/>
                  <a:pt x="3312446" y="728086"/>
                </a:cubicBezTo>
                <a:lnTo>
                  <a:pt x="68688" y="728086"/>
                </a:lnTo>
                <a:cubicBezTo>
                  <a:pt x="30778" y="728086"/>
                  <a:pt x="0" y="697308"/>
                  <a:pt x="0" y="659398"/>
                </a:cubicBezTo>
                <a:lnTo>
                  <a:pt x="0" y="68688"/>
                </a:lnTo>
                <a:cubicBezTo>
                  <a:pt x="0" y="30778"/>
                  <a:pt x="30778" y="0"/>
                  <a:pt x="68688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016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96766" y="5038645"/>
            <a:ext cx="3262648" cy="17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6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96766" y="5244707"/>
            <a:ext cx="3262648" cy="343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Text-attributed graphs, multimodal reasoning, end-to-end training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111007" y="1068088"/>
            <a:ext cx="3741742" cy="4789224"/>
          </a:xfrm>
          <a:custGeom>
            <a:avLst/>
            <a:gdLst/>
            <a:ahLst/>
            <a:cxnLst/>
            <a:rect l="l" t="t" r="r" b="b"/>
            <a:pathLst>
              <a:path w="3741742" h="4789224">
                <a:moveTo>
                  <a:pt x="103048" y="0"/>
                </a:moveTo>
                <a:lnTo>
                  <a:pt x="3638694" y="0"/>
                </a:lnTo>
                <a:cubicBezTo>
                  <a:pt x="3695606" y="0"/>
                  <a:pt x="3741742" y="46136"/>
                  <a:pt x="3741742" y="103048"/>
                </a:cubicBezTo>
                <a:lnTo>
                  <a:pt x="3741742" y="4686176"/>
                </a:lnTo>
                <a:cubicBezTo>
                  <a:pt x="3741742" y="4743088"/>
                  <a:pt x="3695606" y="4789224"/>
                  <a:pt x="3638694" y="4789224"/>
                </a:cubicBezTo>
                <a:lnTo>
                  <a:pt x="103048" y="4789224"/>
                </a:lnTo>
                <a:cubicBezTo>
                  <a:pt x="46136" y="4789224"/>
                  <a:pt x="0" y="4743088"/>
                  <a:pt x="0" y="4686176"/>
                </a:cubicBezTo>
                <a:lnTo>
                  <a:pt x="0" y="103048"/>
                </a:lnTo>
                <a:cubicBezTo>
                  <a:pt x="0" y="46174"/>
                  <a:pt x="46174" y="0"/>
                  <a:pt x="103048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016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86160" y="1243243"/>
            <a:ext cx="412124" cy="412124"/>
          </a:xfrm>
          <a:custGeom>
            <a:avLst/>
            <a:gdLst/>
            <a:ahLst/>
            <a:cxnLst/>
            <a:rect l="l" t="t" r="r" b="b"/>
            <a:pathLst>
              <a:path w="412124" h="412124">
                <a:moveTo>
                  <a:pt x="103031" y="0"/>
                </a:moveTo>
                <a:lnTo>
                  <a:pt x="309093" y="0"/>
                </a:lnTo>
                <a:cubicBezTo>
                  <a:pt x="365957" y="0"/>
                  <a:pt x="412124" y="46167"/>
                  <a:pt x="412124" y="103031"/>
                </a:cubicBezTo>
                <a:lnTo>
                  <a:pt x="412124" y="309093"/>
                </a:lnTo>
                <a:cubicBezTo>
                  <a:pt x="412124" y="365957"/>
                  <a:pt x="365957" y="412124"/>
                  <a:pt x="309093" y="412124"/>
                </a:cubicBezTo>
                <a:lnTo>
                  <a:pt x="103031" y="412124"/>
                </a:lnTo>
                <a:cubicBezTo>
                  <a:pt x="46167" y="412124"/>
                  <a:pt x="0" y="365957"/>
                  <a:pt x="0" y="309093"/>
                </a:cubicBezTo>
                <a:lnTo>
                  <a:pt x="0" y="103031"/>
                </a:lnTo>
                <a:cubicBezTo>
                  <a:pt x="0" y="46167"/>
                  <a:pt x="46167" y="0"/>
                  <a:pt x="103031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365687" y="1311930"/>
            <a:ext cx="352023" cy="27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3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801315" y="1329102"/>
            <a:ext cx="1614152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2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Iterative Refinement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86160" y="1792742"/>
            <a:ext cx="3391437" cy="798490"/>
          </a:xfrm>
          <a:custGeom>
            <a:avLst/>
            <a:gdLst/>
            <a:ahLst/>
            <a:cxnLst/>
            <a:rect l="l" t="t" r="r" b="b"/>
            <a:pathLst>
              <a:path w="3391437" h="798490">
                <a:moveTo>
                  <a:pt x="68686" y="0"/>
                </a:moveTo>
                <a:lnTo>
                  <a:pt x="3322750" y="0"/>
                </a:lnTo>
                <a:cubicBezTo>
                  <a:pt x="3360685" y="0"/>
                  <a:pt x="3391437" y="30752"/>
                  <a:pt x="3391437" y="68686"/>
                </a:cubicBezTo>
                <a:lnTo>
                  <a:pt x="3391437" y="729804"/>
                </a:lnTo>
                <a:cubicBezTo>
                  <a:pt x="3391437" y="767738"/>
                  <a:pt x="3360685" y="798490"/>
                  <a:pt x="3322750" y="798490"/>
                </a:cubicBezTo>
                <a:lnTo>
                  <a:pt x="68686" y="798490"/>
                </a:lnTo>
                <a:cubicBezTo>
                  <a:pt x="30752" y="798490"/>
                  <a:pt x="0" y="767738"/>
                  <a:pt x="0" y="729804"/>
                </a:cubicBezTo>
                <a:lnTo>
                  <a:pt x="0" y="68686"/>
                </a:lnTo>
                <a:cubicBezTo>
                  <a:pt x="0" y="30777"/>
                  <a:pt x="30777" y="0"/>
                  <a:pt x="6868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406363" y="1938702"/>
            <a:ext cx="120203" cy="120203"/>
          </a:xfrm>
          <a:custGeom>
            <a:avLst/>
            <a:gdLst/>
            <a:ahLst/>
            <a:cxnLst/>
            <a:rect l="l" t="t" r="r" b="b"/>
            <a:pathLst>
              <a:path w="120203" h="120203">
                <a:moveTo>
                  <a:pt x="102525" y="17537"/>
                </a:moveTo>
                <a:lnTo>
                  <a:pt x="105177" y="20049"/>
                </a:lnTo>
                <a:lnTo>
                  <a:pt x="105177" y="7513"/>
                </a:lnTo>
                <a:cubicBezTo>
                  <a:pt x="105177" y="3357"/>
                  <a:pt x="108535" y="0"/>
                  <a:pt x="112690" y="0"/>
                </a:cubicBezTo>
                <a:cubicBezTo>
                  <a:pt x="116846" y="0"/>
                  <a:pt x="120203" y="3357"/>
                  <a:pt x="120203" y="7513"/>
                </a:cubicBezTo>
                <a:lnTo>
                  <a:pt x="120203" y="37563"/>
                </a:lnTo>
                <a:cubicBezTo>
                  <a:pt x="120203" y="41719"/>
                  <a:pt x="116846" y="45076"/>
                  <a:pt x="112690" y="45076"/>
                </a:cubicBezTo>
                <a:lnTo>
                  <a:pt x="82639" y="45076"/>
                </a:lnTo>
                <a:cubicBezTo>
                  <a:pt x="78484" y="45076"/>
                  <a:pt x="75127" y="41719"/>
                  <a:pt x="75127" y="37563"/>
                </a:cubicBezTo>
                <a:cubicBezTo>
                  <a:pt x="75127" y="33408"/>
                  <a:pt x="78484" y="30051"/>
                  <a:pt x="82639" y="30051"/>
                </a:cubicBezTo>
                <a:lnTo>
                  <a:pt x="93885" y="30051"/>
                </a:lnTo>
                <a:lnTo>
                  <a:pt x="92101" y="28360"/>
                </a:lnTo>
                <a:cubicBezTo>
                  <a:pt x="92054" y="28313"/>
                  <a:pt x="92007" y="28266"/>
                  <a:pt x="91960" y="28219"/>
                </a:cubicBezTo>
                <a:cubicBezTo>
                  <a:pt x="74352" y="10612"/>
                  <a:pt x="45827" y="10612"/>
                  <a:pt x="28219" y="28219"/>
                </a:cubicBezTo>
                <a:cubicBezTo>
                  <a:pt x="10612" y="45827"/>
                  <a:pt x="10612" y="74352"/>
                  <a:pt x="28219" y="91960"/>
                </a:cubicBezTo>
                <a:cubicBezTo>
                  <a:pt x="45827" y="109568"/>
                  <a:pt x="74352" y="109568"/>
                  <a:pt x="91960" y="91960"/>
                </a:cubicBezTo>
                <a:cubicBezTo>
                  <a:pt x="93885" y="90035"/>
                  <a:pt x="95599" y="87992"/>
                  <a:pt x="97101" y="85832"/>
                </a:cubicBezTo>
                <a:cubicBezTo>
                  <a:pt x="99473" y="82428"/>
                  <a:pt x="104168" y="81606"/>
                  <a:pt x="107572" y="83978"/>
                </a:cubicBezTo>
                <a:cubicBezTo>
                  <a:pt x="110976" y="86349"/>
                  <a:pt x="111798" y="91044"/>
                  <a:pt x="109427" y="94448"/>
                </a:cubicBezTo>
                <a:cubicBezTo>
                  <a:pt x="107431" y="97313"/>
                  <a:pt x="105154" y="100036"/>
                  <a:pt x="102595" y="102595"/>
                </a:cubicBezTo>
                <a:cubicBezTo>
                  <a:pt x="79118" y="126072"/>
                  <a:pt x="41061" y="126072"/>
                  <a:pt x="17608" y="102595"/>
                </a:cubicBezTo>
                <a:cubicBezTo>
                  <a:pt x="-5846" y="79118"/>
                  <a:pt x="-5869" y="41085"/>
                  <a:pt x="17608" y="17608"/>
                </a:cubicBezTo>
                <a:cubicBezTo>
                  <a:pt x="41061" y="-5846"/>
                  <a:pt x="79047" y="-5869"/>
                  <a:pt x="102525" y="17537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8" name="Text 46"/>
          <p:cNvSpPr/>
          <p:nvPr/>
        </p:nvSpPr>
        <p:spPr>
          <a:xfrm>
            <a:off x="8543737" y="1895773"/>
            <a:ext cx="3099515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LLM-Guided Generation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389191" y="2153350"/>
            <a:ext cx="3245476" cy="334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46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generates initial reasoning steps or hypotheses based on the question, providing semantic guidance for retrieval.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86160" y="2672798"/>
            <a:ext cx="3391437" cy="961623"/>
          </a:xfrm>
          <a:custGeom>
            <a:avLst/>
            <a:gdLst/>
            <a:ahLst/>
            <a:cxnLst/>
            <a:rect l="l" t="t" r="r" b="b"/>
            <a:pathLst>
              <a:path w="3391437" h="961623">
                <a:moveTo>
                  <a:pt x="68689" y="0"/>
                </a:moveTo>
                <a:lnTo>
                  <a:pt x="3322748" y="0"/>
                </a:lnTo>
                <a:cubicBezTo>
                  <a:pt x="3360684" y="0"/>
                  <a:pt x="3391437" y="30753"/>
                  <a:pt x="3391437" y="68689"/>
                </a:cubicBezTo>
                <a:lnTo>
                  <a:pt x="3391437" y="892934"/>
                </a:lnTo>
                <a:cubicBezTo>
                  <a:pt x="3391437" y="930870"/>
                  <a:pt x="3360684" y="961623"/>
                  <a:pt x="3322748" y="961623"/>
                </a:cubicBezTo>
                <a:lnTo>
                  <a:pt x="68689" y="961623"/>
                </a:lnTo>
                <a:cubicBezTo>
                  <a:pt x="30753" y="961623"/>
                  <a:pt x="0" y="930870"/>
                  <a:pt x="0" y="892934"/>
                </a:cubicBezTo>
                <a:lnTo>
                  <a:pt x="0" y="68689"/>
                </a:lnTo>
                <a:cubicBezTo>
                  <a:pt x="0" y="30753"/>
                  <a:pt x="30753" y="0"/>
                  <a:pt x="6868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21388" y="2818759"/>
            <a:ext cx="90152" cy="120203"/>
          </a:xfrm>
          <a:custGeom>
            <a:avLst/>
            <a:gdLst/>
            <a:ahLst/>
            <a:cxnLst/>
            <a:rect l="l" t="t" r="r" b="b"/>
            <a:pathLst>
              <a:path w="90152" h="120203">
                <a:moveTo>
                  <a:pt x="58669" y="15683"/>
                </a:moveTo>
                <a:cubicBezTo>
                  <a:pt x="61111" y="12325"/>
                  <a:pt x="60360" y="7630"/>
                  <a:pt x="57002" y="5188"/>
                </a:cubicBezTo>
                <a:cubicBezTo>
                  <a:pt x="53645" y="2747"/>
                  <a:pt x="48950" y="3498"/>
                  <a:pt x="46508" y="6855"/>
                </a:cubicBezTo>
                <a:lnTo>
                  <a:pt x="21622" y="41061"/>
                </a:lnTo>
                <a:lnTo>
                  <a:pt x="12819" y="32258"/>
                </a:lnTo>
                <a:cubicBezTo>
                  <a:pt x="9884" y="29323"/>
                  <a:pt x="5118" y="29323"/>
                  <a:pt x="2183" y="32258"/>
                </a:cubicBezTo>
                <a:cubicBezTo>
                  <a:pt x="-751" y="35192"/>
                  <a:pt x="-751" y="39958"/>
                  <a:pt x="2183" y="42893"/>
                </a:cubicBezTo>
                <a:lnTo>
                  <a:pt x="17209" y="57918"/>
                </a:lnTo>
                <a:cubicBezTo>
                  <a:pt x="18758" y="59468"/>
                  <a:pt x="20918" y="60266"/>
                  <a:pt x="23101" y="60101"/>
                </a:cubicBezTo>
                <a:cubicBezTo>
                  <a:pt x="25285" y="59937"/>
                  <a:pt x="27304" y="58810"/>
                  <a:pt x="28595" y="57026"/>
                </a:cubicBezTo>
                <a:lnTo>
                  <a:pt x="58646" y="15706"/>
                </a:lnTo>
                <a:close/>
                <a:moveTo>
                  <a:pt x="88720" y="47612"/>
                </a:moveTo>
                <a:cubicBezTo>
                  <a:pt x="91162" y="44254"/>
                  <a:pt x="90410" y="39559"/>
                  <a:pt x="87053" y="37117"/>
                </a:cubicBezTo>
                <a:cubicBezTo>
                  <a:pt x="83696" y="34676"/>
                  <a:pt x="79000" y="35427"/>
                  <a:pt x="76559" y="38784"/>
                </a:cubicBezTo>
                <a:lnTo>
                  <a:pt x="36648" y="93650"/>
                </a:lnTo>
                <a:lnTo>
                  <a:pt x="20331" y="77334"/>
                </a:lnTo>
                <a:cubicBezTo>
                  <a:pt x="17397" y="74399"/>
                  <a:pt x="12631" y="74399"/>
                  <a:pt x="9696" y="77334"/>
                </a:cubicBezTo>
                <a:cubicBezTo>
                  <a:pt x="6761" y="80268"/>
                  <a:pt x="6761" y="85034"/>
                  <a:pt x="9696" y="87969"/>
                </a:cubicBezTo>
                <a:lnTo>
                  <a:pt x="32234" y="110507"/>
                </a:lnTo>
                <a:cubicBezTo>
                  <a:pt x="33784" y="112056"/>
                  <a:pt x="35943" y="112854"/>
                  <a:pt x="38127" y="112690"/>
                </a:cubicBezTo>
                <a:cubicBezTo>
                  <a:pt x="40310" y="112526"/>
                  <a:pt x="42329" y="111399"/>
                  <a:pt x="43620" y="109615"/>
                </a:cubicBezTo>
                <a:lnTo>
                  <a:pt x="88697" y="47635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2" name="Text 50"/>
          <p:cNvSpPr/>
          <p:nvPr/>
        </p:nvSpPr>
        <p:spPr>
          <a:xfrm>
            <a:off x="8543737" y="2775829"/>
            <a:ext cx="3099515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GNN Validation &amp; Retrieval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389191" y="3033406"/>
            <a:ext cx="3245476" cy="497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46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GNN validates generated steps against graph structure and retrieves supporting evidence, filtering out hallucinated content.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86160" y="3718133"/>
            <a:ext cx="3391437" cy="798490"/>
          </a:xfrm>
          <a:custGeom>
            <a:avLst/>
            <a:gdLst/>
            <a:ahLst/>
            <a:cxnLst/>
            <a:rect l="l" t="t" r="r" b="b"/>
            <a:pathLst>
              <a:path w="3391437" h="798490">
                <a:moveTo>
                  <a:pt x="68686" y="0"/>
                </a:moveTo>
                <a:lnTo>
                  <a:pt x="3322750" y="0"/>
                </a:lnTo>
                <a:cubicBezTo>
                  <a:pt x="3360685" y="0"/>
                  <a:pt x="3391437" y="30752"/>
                  <a:pt x="3391437" y="68686"/>
                </a:cubicBezTo>
                <a:lnTo>
                  <a:pt x="3391437" y="729804"/>
                </a:lnTo>
                <a:cubicBezTo>
                  <a:pt x="3391437" y="767738"/>
                  <a:pt x="3360685" y="798490"/>
                  <a:pt x="3322750" y="798490"/>
                </a:cubicBezTo>
                <a:lnTo>
                  <a:pt x="68686" y="798490"/>
                </a:lnTo>
                <a:cubicBezTo>
                  <a:pt x="30752" y="798490"/>
                  <a:pt x="0" y="767738"/>
                  <a:pt x="0" y="729804"/>
                </a:cubicBezTo>
                <a:lnTo>
                  <a:pt x="0" y="68686"/>
                </a:lnTo>
                <a:cubicBezTo>
                  <a:pt x="0" y="30777"/>
                  <a:pt x="30777" y="0"/>
                  <a:pt x="6868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06363" y="3864094"/>
            <a:ext cx="120203" cy="120203"/>
          </a:xfrm>
          <a:custGeom>
            <a:avLst/>
            <a:gdLst/>
            <a:ahLst/>
            <a:cxnLst/>
            <a:rect l="l" t="t" r="r" b="b"/>
            <a:pathLst>
              <a:path w="120203" h="120203">
                <a:moveTo>
                  <a:pt x="112714" y="45076"/>
                </a:moveTo>
                <a:lnTo>
                  <a:pt x="114568" y="45076"/>
                </a:lnTo>
                <a:cubicBezTo>
                  <a:pt x="117691" y="45076"/>
                  <a:pt x="120203" y="42564"/>
                  <a:pt x="120203" y="39442"/>
                </a:cubicBezTo>
                <a:lnTo>
                  <a:pt x="120203" y="5635"/>
                </a:lnTo>
                <a:cubicBezTo>
                  <a:pt x="120203" y="3357"/>
                  <a:pt x="118841" y="1291"/>
                  <a:pt x="116728" y="423"/>
                </a:cubicBezTo>
                <a:cubicBezTo>
                  <a:pt x="114615" y="-446"/>
                  <a:pt x="112197" y="47"/>
                  <a:pt x="110577" y="1643"/>
                </a:cubicBezTo>
                <a:lnTo>
                  <a:pt x="98440" y="13805"/>
                </a:lnTo>
                <a:cubicBezTo>
                  <a:pt x="88039" y="5188"/>
                  <a:pt x="74657" y="0"/>
                  <a:pt x="60101" y="0"/>
                </a:cubicBezTo>
                <a:cubicBezTo>
                  <a:pt x="29816" y="0"/>
                  <a:pt x="4766" y="22397"/>
                  <a:pt x="610" y="51532"/>
                </a:cubicBezTo>
                <a:cubicBezTo>
                  <a:pt x="23" y="55641"/>
                  <a:pt x="2864" y="59444"/>
                  <a:pt x="6973" y="60031"/>
                </a:cubicBezTo>
                <a:cubicBezTo>
                  <a:pt x="11081" y="60618"/>
                  <a:pt x="14884" y="57754"/>
                  <a:pt x="15471" y="53669"/>
                </a:cubicBezTo>
                <a:cubicBezTo>
                  <a:pt x="18594" y="31811"/>
                  <a:pt x="37399" y="15025"/>
                  <a:pt x="60101" y="15025"/>
                </a:cubicBezTo>
                <a:cubicBezTo>
                  <a:pt x="70525" y="15025"/>
                  <a:pt x="80104" y="18547"/>
                  <a:pt x="87734" y="24487"/>
                </a:cubicBezTo>
                <a:lnTo>
                  <a:pt x="76770" y="35450"/>
                </a:lnTo>
                <a:cubicBezTo>
                  <a:pt x="75150" y="37070"/>
                  <a:pt x="74681" y="39489"/>
                  <a:pt x="75549" y="41601"/>
                </a:cubicBezTo>
                <a:cubicBezTo>
                  <a:pt x="76418" y="43714"/>
                  <a:pt x="78484" y="45076"/>
                  <a:pt x="80761" y="45076"/>
                </a:cubicBezTo>
                <a:lnTo>
                  <a:pt x="112714" y="45076"/>
                </a:lnTo>
                <a:close/>
                <a:moveTo>
                  <a:pt x="119616" y="68671"/>
                </a:moveTo>
                <a:cubicBezTo>
                  <a:pt x="120203" y="64562"/>
                  <a:pt x="117339" y="60759"/>
                  <a:pt x="113254" y="60172"/>
                </a:cubicBezTo>
                <a:cubicBezTo>
                  <a:pt x="109169" y="59585"/>
                  <a:pt x="105342" y="62449"/>
                  <a:pt x="104755" y="66534"/>
                </a:cubicBezTo>
                <a:cubicBezTo>
                  <a:pt x="101632" y="88368"/>
                  <a:pt x="82827" y="105154"/>
                  <a:pt x="60125" y="105154"/>
                </a:cubicBezTo>
                <a:cubicBezTo>
                  <a:pt x="49701" y="105154"/>
                  <a:pt x="40122" y="101632"/>
                  <a:pt x="32492" y="95693"/>
                </a:cubicBezTo>
                <a:lnTo>
                  <a:pt x="43433" y="84752"/>
                </a:lnTo>
                <a:cubicBezTo>
                  <a:pt x="45053" y="83132"/>
                  <a:pt x="45522" y="80714"/>
                  <a:pt x="44653" y="78601"/>
                </a:cubicBezTo>
                <a:cubicBezTo>
                  <a:pt x="43785" y="76488"/>
                  <a:pt x="41719" y="75127"/>
                  <a:pt x="39442" y="75127"/>
                </a:cubicBezTo>
                <a:lnTo>
                  <a:pt x="5635" y="75127"/>
                </a:lnTo>
                <a:cubicBezTo>
                  <a:pt x="2512" y="75127"/>
                  <a:pt x="0" y="77639"/>
                  <a:pt x="0" y="80761"/>
                </a:cubicBezTo>
                <a:lnTo>
                  <a:pt x="0" y="114568"/>
                </a:lnTo>
                <a:cubicBezTo>
                  <a:pt x="0" y="116846"/>
                  <a:pt x="1362" y="118912"/>
                  <a:pt x="3475" y="119780"/>
                </a:cubicBezTo>
                <a:cubicBezTo>
                  <a:pt x="5588" y="120649"/>
                  <a:pt x="8006" y="120156"/>
                  <a:pt x="9626" y="118559"/>
                </a:cubicBezTo>
                <a:lnTo>
                  <a:pt x="21787" y="106398"/>
                </a:lnTo>
                <a:cubicBezTo>
                  <a:pt x="32164" y="115014"/>
                  <a:pt x="45546" y="120203"/>
                  <a:pt x="60101" y="120203"/>
                </a:cubicBezTo>
                <a:cubicBezTo>
                  <a:pt x="90387" y="120203"/>
                  <a:pt x="115437" y="97806"/>
                  <a:pt x="119592" y="6867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6" name="Text 54"/>
          <p:cNvSpPr/>
          <p:nvPr/>
        </p:nvSpPr>
        <p:spPr>
          <a:xfrm>
            <a:off x="8543737" y="3821164"/>
            <a:ext cx="3099515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Feedback Loop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389191" y="4078742"/>
            <a:ext cx="3245476" cy="334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46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Retrieved evidence feeds back to LLM for refined generation, creating iterative improvement cycle until convergence.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89594" y="4949354"/>
            <a:ext cx="3381134" cy="728086"/>
          </a:xfrm>
          <a:custGeom>
            <a:avLst/>
            <a:gdLst/>
            <a:ahLst/>
            <a:cxnLst/>
            <a:rect l="l" t="t" r="r" b="b"/>
            <a:pathLst>
              <a:path w="3381134" h="728086">
                <a:moveTo>
                  <a:pt x="68688" y="0"/>
                </a:moveTo>
                <a:lnTo>
                  <a:pt x="3312446" y="0"/>
                </a:lnTo>
                <a:cubicBezTo>
                  <a:pt x="3350381" y="0"/>
                  <a:pt x="3381134" y="30752"/>
                  <a:pt x="3381134" y="68688"/>
                </a:cubicBezTo>
                <a:lnTo>
                  <a:pt x="3381134" y="659398"/>
                </a:lnTo>
                <a:cubicBezTo>
                  <a:pt x="3381134" y="697333"/>
                  <a:pt x="3350381" y="728086"/>
                  <a:pt x="3312446" y="728086"/>
                </a:cubicBezTo>
                <a:lnTo>
                  <a:pt x="68688" y="728086"/>
                </a:lnTo>
                <a:cubicBezTo>
                  <a:pt x="30778" y="728086"/>
                  <a:pt x="0" y="697308"/>
                  <a:pt x="0" y="659398"/>
                </a:cubicBezTo>
                <a:lnTo>
                  <a:pt x="0" y="68688"/>
                </a:lnTo>
                <a:cubicBezTo>
                  <a:pt x="0" y="30778"/>
                  <a:pt x="30778" y="0"/>
                  <a:pt x="68688" y="0"/>
                </a:cubicBezTo>
                <a:close/>
              </a:path>
            </a:pathLst>
          </a:custGeom>
          <a:solidFill>
            <a:srgbClr val="FFD166">
              <a:alpha val="10196"/>
            </a:srgbClr>
          </a:solidFill>
          <a:ln w="10160">
            <a:solidFill>
              <a:srgbClr val="FFD166">
                <a:alpha val="30196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378888" y="5038645"/>
            <a:ext cx="3262648" cy="17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6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378888" y="5244707"/>
            <a:ext cx="3262648" cy="343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 reasoning, hallucination reduction, high-stakes domains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46871" y="6000269"/>
            <a:ext cx="11503410" cy="693742"/>
          </a:xfrm>
          <a:custGeom>
            <a:avLst/>
            <a:gdLst/>
            <a:ahLst/>
            <a:cxnLst/>
            <a:rect l="l" t="t" r="r" b="b"/>
            <a:pathLst>
              <a:path w="11503410" h="693742">
                <a:moveTo>
                  <a:pt x="103028" y="0"/>
                </a:moveTo>
                <a:lnTo>
                  <a:pt x="11400382" y="0"/>
                </a:lnTo>
                <a:cubicBezTo>
                  <a:pt x="11457283" y="0"/>
                  <a:pt x="11503410" y="46127"/>
                  <a:pt x="11503410" y="103028"/>
                </a:cubicBezTo>
                <a:lnTo>
                  <a:pt x="11503410" y="590714"/>
                </a:lnTo>
                <a:cubicBezTo>
                  <a:pt x="11503410" y="647615"/>
                  <a:pt x="11457283" y="693742"/>
                  <a:pt x="11400382" y="693742"/>
                </a:cubicBezTo>
                <a:lnTo>
                  <a:pt x="103028" y="693742"/>
                </a:lnTo>
                <a:cubicBezTo>
                  <a:pt x="46127" y="693742"/>
                  <a:pt x="0" y="647615"/>
                  <a:pt x="0" y="590714"/>
                </a:cubicBezTo>
                <a:lnTo>
                  <a:pt x="0" y="103028"/>
                </a:lnTo>
                <a:cubicBezTo>
                  <a:pt x="0" y="46165"/>
                  <a:pt x="46165" y="0"/>
                  <a:pt x="103028" y="0"/>
                </a:cubicBezTo>
                <a:close/>
              </a:path>
            </a:pathLst>
          </a:custGeom>
          <a:solidFill>
            <a:srgbClr val="556677">
              <a:alpha val="10196"/>
            </a:srgbClr>
          </a:solidFill>
          <a:ln w="10160">
            <a:solidFill>
              <a:srgbClr val="556677">
                <a:alpha val="30196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30610" y="6261279"/>
            <a:ext cx="128789" cy="171718"/>
          </a:xfrm>
          <a:custGeom>
            <a:avLst/>
            <a:gdLst/>
            <a:ahLst/>
            <a:cxnLst/>
            <a:rect l="l" t="t" r="r" b="b"/>
            <a:pathLst>
              <a:path w="128789" h="171718">
                <a:moveTo>
                  <a:pt x="98235" y="128789"/>
                </a:moveTo>
                <a:cubicBezTo>
                  <a:pt x="100683" y="121310"/>
                  <a:pt x="105580" y="114535"/>
                  <a:pt x="111114" y="108699"/>
                </a:cubicBezTo>
                <a:cubicBezTo>
                  <a:pt x="122081" y="97162"/>
                  <a:pt x="128789" y="81566"/>
                  <a:pt x="128789" y="64394"/>
                </a:cubicBezTo>
                <a:cubicBezTo>
                  <a:pt x="128789" y="28843"/>
                  <a:pt x="99945" y="0"/>
                  <a:pt x="64394" y="0"/>
                </a:cubicBezTo>
                <a:cubicBezTo>
                  <a:pt x="28843" y="0"/>
                  <a:pt x="0" y="28843"/>
                  <a:pt x="0" y="64394"/>
                </a:cubicBezTo>
                <a:cubicBezTo>
                  <a:pt x="0" y="81566"/>
                  <a:pt x="6708" y="97162"/>
                  <a:pt x="17675" y="108699"/>
                </a:cubicBezTo>
                <a:cubicBezTo>
                  <a:pt x="23209" y="114535"/>
                  <a:pt x="28139" y="121310"/>
                  <a:pt x="30554" y="128789"/>
                </a:cubicBezTo>
                <a:lnTo>
                  <a:pt x="98201" y="128789"/>
                </a:lnTo>
                <a:close/>
                <a:moveTo>
                  <a:pt x="96592" y="144887"/>
                </a:moveTo>
                <a:lnTo>
                  <a:pt x="32197" y="144887"/>
                </a:lnTo>
                <a:lnTo>
                  <a:pt x="32197" y="150254"/>
                </a:lnTo>
                <a:cubicBezTo>
                  <a:pt x="32197" y="165078"/>
                  <a:pt x="44204" y="177085"/>
                  <a:pt x="59028" y="177085"/>
                </a:cubicBezTo>
                <a:lnTo>
                  <a:pt x="69761" y="177085"/>
                </a:lnTo>
                <a:cubicBezTo>
                  <a:pt x="84585" y="177085"/>
                  <a:pt x="96592" y="165078"/>
                  <a:pt x="96592" y="150254"/>
                </a:cubicBezTo>
                <a:lnTo>
                  <a:pt x="96592" y="144887"/>
                </a:lnTo>
                <a:close/>
                <a:moveTo>
                  <a:pt x="61711" y="37563"/>
                </a:moveTo>
                <a:cubicBezTo>
                  <a:pt x="48363" y="37563"/>
                  <a:pt x="37563" y="48363"/>
                  <a:pt x="37563" y="61711"/>
                </a:cubicBezTo>
                <a:cubicBezTo>
                  <a:pt x="37563" y="66172"/>
                  <a:pt x="33975" y="69761"/>
                  <a:pt x="29514" y="69761"/>
                </a:cubicBezTo>
                <a:cubicBezTo>
                  <a:pt x="25053" y="69761"/>
                  <a:pt x="21465" y="66172"/>
                  <a:pt x="21465" y="61711"/>
                </a:cubicBezTo>
                <a:cubicBezTo>
                  <a:pt x="21465" y="39475"/>
                  <a:pt x="39475" y="21465"/>
                  <a:pt x="61711" y="21465"/>
                </a:cubicBezTo>
                <a:cubicBezTo>
                  <a:pt x="66172" y="21465"/>
                  <a:pt x="69761" y="25053"/>
                  <a:pt x="69761" y="29514"/>
                </a:cubicBezTo>
                <a:cubicBezTo>
                  <a:pt x="69761" y="33975"/>
                  <a:pt x="66172" y="37563"/>
                  <a:pt x="61711" y="37563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63" name="Text 61"/>
          <p:cNvSpPr/>
          <p:nvPr/>
        </p:nvSpPr>
        <p:spPr>
          <a:xfrm>
            <a:off x="805359" y="6244107"/>
            <a:ext cx="2086377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Selection Framework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408742" y="6141076"/>
            <a:ext cx="1451020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2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GNN-as-Retriever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421621" y="6381482"/>
            <a:ext cx="1425262" cy="17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6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KG QA, Multi-hop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022894" y="6244107"/>
            <a:ext cx="206062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5566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323401" y="6141076"/>
            <a:ext cx="1347989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2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Joint Fusion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336280" y="6381482"/>
            <a:ext cx="1322231" cy="17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6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Multimodal, End-to-end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9835488" y="6244107"/>
            <a:ext cx="206062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5566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0135995" y="6141076"/>
            <a:ext cx="1614152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2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Iterative Refinement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0148874" y="6381482"/>
            <a:ext cx="1588394" cy="17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6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Complex, High-stakes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iro.medium.com/d70e0b5e5399c8c4a1cb009303fc27234b576564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8620" y="1185864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152398" y="0"/>
                </a:moveTo>
                <a:lnTo>
                  <a:pt x="596267" y="0"/>
                </a:lnTo>
                <a:cubicBezTo>
                  <a:pt x="680378" y="0"/>
                  <a:pt x="748665" y="68287"/>
                  <a:pt x="748665" y="152398"/>
                </a:cubicBezTo>
                <a:lnTo>
                  <a:pt x="748665" y="596267"/>
                </a:lnTo>
                <a:cubicBezTo>
                  <a:pt x="748665" y="680378"/>
                  <a:pt x="680378" y="748665"/>
                  <a:pt x="596267" y="748665"/>
                </a:cubicBezTo>
                <a:lnTo>
                  <a:pt x="152398" y="748665"/>
                </a:lnTo>
                <a:cubicBezTo>
                  <a:pt x="68287" y="748665"/>
                  <a:pt x="0" y="680378"/>
                  <a:pt x="0" y="59626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20320">
            <a:solidFill>
              <a:srgbClr val="4ECDC4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1378" y="1368744"/>
            <a:ext cx="590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554482"/>
            <a:ext cx="6705600" cy="9525"/>
          </a:xfrm>
          <a:custGeom>
            <a:avLst/>
            <a:gdLst/>
            <a:ahLst/>
            <a:cxnLst/>
            <a:rect l="l" t="t" r="r" b="b"/>
            <a:pathLst>
              <a:path w="6705600" h="9525">
                <a:moveTo>
                  <a:pt x="0" y="0"/>
                </a:moveTo>
                <a:lnTo>
                  <a:pt x="6705600" y="0"/>
                </a:lnTo>
                <a:lnTo>
                  <a:pt x="6705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381000" y="2245044"/>
            <a:ext cx="7962900" cy="2266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Leading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Frameworks</a:t>
            </a:r>
            <a:pPr>
              <a:lnSpc>
                <a:spcPct val="9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&amp;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736785"/>
            <a:ext cx="5600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State-of-the-art approaches driving the convergence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54641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0" name="Text 7"/>
          <p:cNvSpPr/>
          <p:nvPr/>
        </p:nvSpPr>
        <p:spPr>
          <a:xfrm>
            <a:off x="552450" y="5489260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GNN-RAG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377791" y="554641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12" name="Text 9"/>
          <p:cNvSpPr/>
          <p:nvPr/>
        </p:nvSpPr>
        <p:spPr>
          <a:xfrm>
            <a:off x="1549241" y="5489260"/>
            <a:ext cx="742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G-Retriever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455069" y="554641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4" name="Text 11"/>
          <p:cNvSpPr/>
          <p:nvPr/>
        </p:nvSpPr>
        <p:spPr>
          <a:xfrm>
            <a:off x="2626519" y="5489260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GraphRAG-R1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3679" y="343679"/>
            <a:ext cx="11564786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spc="237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Leading Frameworks &amp; Methods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3679" y="584254"/>
            <a:ext cx="11659298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Breakthrough Frameworks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7115" y="1068841"/>
            <a:ext cx="6811711" cy="3701419"/>
          </a:xfrm>
          <a:custGeom>
            <a:avLst/>
            <a:gdLst/>
            <a:ahLst/>
            <a:cxnLst/>
            <a:rect l="l" t="t" r="r" b="b"/>
            <a:pathLst>
              <a:path w="6811711" h="3701419">
                <a:moveTo>
                  <a:pt x="103122" y="0"/>
                </a:moveTo>
                <a:lnTo>
                  <a:pt x="6708589" y="0"/>
                </a:lnTo>
                <a:cubicBezTo>
                  <a:pt x="6765542" y="0"/>
                  <a:pt x="6811711" y="46169"/>
                  <a:pt x="6811711" y="103122"/>
                </a:cubicBezTo>
                <a:lnTo>
                  <a:pt x="6811711" y="3598297"/>
                </a:lnTo>
                <a:cubicBezTo>
                  <a:pt x="6811711" y="3655250"/>
                  <a:pt x="6765542" y="3701419"/>
                  <a:pt x="6708589" y="3701419"/>
                </a:cubicBezTo>
                <a:lnTo>
                  <a:pt x="103122" y="3701419"/>
                </a:lnTo>
                <a:cubicBezTo>
                  <a:pt x="46169" y="3701419"/>
                  <a:pt x="0" y="3655250"/>
                  <a:pt x="0" y="3598297"/>
                </a:cubicBezTo>
                <a:lnTo>
                  <a:pt x="0" y="103122"/>
                </a:lnTo>
                <a:cubicBezTo>
                  <a:pt x="0" y="46207"/>
                  <a:pt x="46207" y="0"/>
                  <a:pt x="103122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016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2392" y="1244119"/>
            <a:ext cx="2577590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4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GNN-RAG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22392" y="1587689"/>
            <a:ext cx="2543222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 Neural Retrieval for LLM Reasoning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04099" y="1247556"/>
            <a:ext cx="1278485" cy="350552"/>
          </a:xfrm>
          <a:custGeom>
            <a:avLst/>
            <a:gdLst/>
            <a:ahLst/>
            <a:cxnLst/>
            <a:rect l="l" t="t" r="r" b="b"/>
            <a:pathLst>
              <a:path w="1278485" h="350552">
                <a:moveTo>
                  <a:pt x="68736" y="0"/>
                </a:moveTo>
                <a:lnTo>
                  <a:pt x="1209748" y="0"/>
                </a:lnTo>
                <a:cubicBezTo>
                  <a:pt x="1247710" y="0"/>
                  <a:pt x="1278485" y="30774"/>
                  <a:pt x="1278485" y="68736"/>
                </a:cubicBezTo>
                <a:lnTo>
                  <a:pt x="1278485" y="281816"/>
                </a:lnTo>
                <a:cubicBezTo>
                  <a:pt x="1278485" y="319778"/>
                  <a:pt x="1247710" y="350552"/>
                  <a:pt x="1209748" y="350552"/>
                </a:cubicBezTo>
                <a:lnTo>
                  <a:pt x="68736" y="350552"/>
                </a:lnTo>
                <a:cubicBezTo>
                  <a:pt x="30800" y="350552"/>
                  <a:pt x="0" y="319753"/>
                  <a:pt x="0" y="281816"/>
                </a:cubicBezTo>
                <a:lnTo>
                  <a:pt x="0" y="68736"/>
                </a:lnTo>
                <a:cubicBezTo>
                  <a:pt x="0" y="30800"/>
                  <a:pt x="30800" y="0"/>
                  <a:pt x="68736" y="0"/>
                </a:cubicBezTo>
                <a:close/>
              </a:path>
            </a:pathLst>
          </a:custGeom>
          <a:solidFill>
            <a:srgbClr val="FFD166">
              <a:alpha val="20000"/>
            </a:srgbClr>
          </a:solidFill>
          <a:ln w="10160">
            <a:solidFill>
              <a:srgbClr val="FFD166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45008" y="1360967"/>
            <a:ext cx="1054342" cy="137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SOTA Performance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9265" y="1931367"/>
            <a:ext cx="3168717" cy="756093"/>
          </a:xfrm>
          <a:custGeom>
            <a:avLst/>
            <a:gdLst/>
            <a:ahLst/>
            <a:cxnLst/>
            <a:rect l="l" t="t" r="r" b="b"/>
            <a:pathLst>
              <a:path w="3168717" h="756093">
                <a:moveTo>
                  <a:pt x="13747" y="0"/>
                </a:moveTo>
                <a:lnTo>
                  <a:pt x="3099981" y="0"/>
                </a:lnTo>
                <a:cubicBezTo>
                  <a:pt x="3137943" y="0"/>
                  <a:pt x="3168717" y="30774"/>
                  <a:pt x="3168717" y="68736"/>
                </a:cubicBezTo>
                <a:lnTo>
                  <a:pt x="3168717" y="687357"/>
                </a:lnTo>
                <a:cubicBezTo>
                  <a:pt x="3168717" y="725319"/>
                  <a:pt x="3137943" y="756093"/>
                  <a:pt x="3099981" y="756093"/>
                </a:cubicBezTo>
                <a:lnTo>
                  <a:pt x="13747" y="756093"/>
                </a:lnTo>
                <a:cubicBezTo>
                  <a:pt x="6155" y="756093"/>
                  <a:pt x="0" y="749938"/>
                  <a:pt x="0" y="742346"/>
                </a:cubicBezTo>
                <a:lnTo>
                  <a:pt x="0" y="13747"/>
                </a:lnTo>
                <a:cubicBezTo>
                  <a:pt x="0" y="6160"/>
                  <a:pt x="6160" y="0"/>
                  <a:pt x="1374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29265" y="1931367"/>
            <a:ext cx="13747" cy="756093"/>
          </a:xfrm>
          <a:custGeom>
            <a:avLst/>
            <a:gdLst/>
            <a:ahLst/>
            <a:cxnLst/>
            <a:rect l="l" t="t" r="r" b="b"/>
            <a:pathLst>
              <a:path w="13747" h="756093">
                <a:moveTo>
                  <a:pt x="13747" y="0"/>
                </a:moveTo>
                <a:lnTo>
                  <a:pt x="13747" y="0"/>
                </a:lnTo>
                <a:lnTo>
                  <a:pt x="13747" y="756093"/>
                </a:lnTo>
                <a:lnTo>
                  <a:pt x="13747" y="756093"/>
                </a:lnTo>
                <a:cubicBezTo>
                  <a:pt x="6155" y="756093"/>
                  <a:pt x="0" y="749938"/>
                  <a:pt x="0" y="742346"/>
                </a:cubicBezTo>
                <a:lnTo>
                  <a:pt x="0" y="13747"/>
                </a:lnTo>
                <a:cubicBezTo>
                  <a:pt x="0" y="6160"/>
                  <a:pt x="6160" y="0"/>
                  <a:pt x="13747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639242" y="2034471"/>
            <a:ext cx="3015780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Innovation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9242" y="2240678"/>
            <a:ext cx="3015780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Lightweight GNN assigns importance weights to nodes based on question relevance and neighbor context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1396" y="1931367"/>
            <a:ext cx="3168717" cy="756093"/>
          </a:xfrm>
          <a:custGeom>
            <a:avLst/>
            <a:gdLst/>
            <a:ahLst/>
            <a:cxnLst/>
            <a:rect l="l" t="t" r="r" b="b"/>
            <a:pathLst>
              <a:path w="3168717" h="756093">
                <a:moveTo>
                  <a:pt x="13747" y="0"/>
                </a:moveTo>
                <a:lnTo>
                  <a:pt x="3099981" y="0"/>
                </a:lnTo>
                <a:cubicBezTo>
                  <a:pt x="3137943" y="0"/>
                  <a:pt x="3168717" y="30774"/>
                  <a:pt x="3168717" y="68736"/>
                </a:cubicBezTo>
                <a:lnTo>
                  <a:pt x="3168717" y="687357"/>
                </a:lnTo>
                <a:cubicBezTo>
                  <a:pt x="3168717" y="725319"/>
                  <a:pt x="3137943" y="756093"/>
                  <a:pt x="3099981" y="756093"/>
                </a:cubicBezTo>
                <a:lnTo>
                  <a:pt x="13747" y="756093"/>
                </a:lnTo>
                <a:cubicBezTo>
                  <a:pt x="6155" y="756093"/>
                  <a:pt x="0" y="749938"/>
                  <a:pt x="0" y="742346"/>
                </a:cubicBezTo>
                <a:lnTo>
                  <a:pt x="0" y="13747"/>
                </a:lnTo>
                <a:cubicBezTo>
                  <a:pt x="0" y="6160"/>
                  <a:pt x="6160" y="0"/>
                  <a:pt x="1374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811396" y="1931367"/>
            <a:ext cx="13747" cy="756093"/>
          </a:xfrm>
          <a:custGeom>
            <a:avLst/>
            <a:gdLst/>
            <a:ahLst/>
            <a:cxnLst/>
            <a:rect l="l" t="t" r="r" b="b"/>
            <a:pathLst>
              <a:path w="13747" h="756093">
                <a:moveTo>
                  <a:pt x="13747" y="0"/>
                </a:moveTo>
                <a:lnTo>
                  <a:pt x="13747" y="0"/>
                </a:lnTo>
                <a:lnTo>
                  <a:pt x="13747" y="756093"/>
                </a:lnTo>
                <a:lnTo>
                  <a:pt x="13747" y="756093"/>
                </a:lnTo>
                <a:cubicBezTo>
                  <a:pt x="6155" y="756093"/>
                  <a:pt x="0" y="749938"/>
                  <a:pt x="0" y="742346"/>
                </a:cubicBezTo>
                <a:lnTo>
                  <a:pt x="0" y="13747"/>
                </a:lnTo>
                <a:cubicBezTo>
                  <a:pt x="0" y="6160"/>
                  <a:pt x="6160" y="0"/>
                  <a:pt x="13747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5" name="Text 13"/>
          <p:cNvSpPr/>
          <p:nvPr/>
        </p:nvSpPr>
        <p:spPr>
          <a:xfrm>
            <a:off x="3921373" y="2034471"/>
            <a:ext cx="3015780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Retrieval Strategy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21373" y="2240678"/>
            <a:ext cx="3015780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Extracts shortest paths connecting question entities to answer candidates as reasoning evidence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5828" y="2828369"/>
            <a:ext cx="6450848" cy="1037910"/>
          </a:xfrm>
          <a:custGeom>
            <a:avLst/>
            <a:gdLst/>
            <a:ahLst/>
            <a:cxnLst/>
            <a:rect l="l" t="t" r="r" b="b"/>
            <a:pathLst>
              <a:path w="6450848" h="1037910">
                <a:moveTo>
                  <a:pt x="68741" y="0"/>
                </a:moveTo>
                <a:lnTo>
                  <a:pt x="6382107" y="0"/>
                </a:lnTo>
                <a:cubicBezTo>
                  <a:pt x="6420072" y="0"/>
                  <a:pt x="6450848" y="30776"/>
                  <a:pt x="6450848" y="68741"/>
                </a:cubicBezTo>
                <a:lnTo>
                  <a:pt x="6450848" y="969169"/>
                </a:lnTo>
                <a:cubicBezTo>
                  <a:pt x="6450848" y="1007133"/>
                  <a:pt x="6420072" y="1037910"/>
                  <a:pt x="6382107" y="1037910"/>
                </a:cubicBezTo>
                <a:lnTo>
                  <a:pt x="68741" y="1037910"/>
                </a:lnTo>
                <a:cubicBezTo>
                  <a:pt x="30776" y="1037910"/>
                  <a:pt x="0" y="1007133"/>
                  <a:pt x="0" y="969169"/>
                </a:cubicBezTo>
                <a:lnTo>
                  <a:pt x="0" y="68741"/>
                </a:lnTo>
                <a:cubicBezTo>
                  <a:pt x="0" y="30802"/>
                  <a:pt x="30802" y="0"/>
                  <a:pt x="68741" y="0"/>
                </a:cubicBezTo>
                <a:close/>
              </a:path>
            </a:pathLst>
          </a:custGeom>
          <a:solidFill>
            <a:srgbClr val="FFD166">
              <a:alpha val="10196"/>
            </a:srgbClr>
          </a:solidFill>
          <a:ln w="10160">
            <a:solidFill>
              <a:srgbClr val="FFD166">
                <a:alpha val="3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369" y="2934907"/>
            <a:ext cx="6306503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Highlights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2369" y="3244218"/>
            <a:ext cx="1056812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WebQSP Accuracy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113728" y="3209850"/>
            <a:ext cx="652989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83.27%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21707" y="3244218"/>
            <a:ext cx="816237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CWQ F1 Score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86849" y="3209850"/>
            <a:ext cx="670173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63.48%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2369" y="3553529"/>
            <a:ext cx="532702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 GPT-4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023298" y="3519161"/>
            <a:ext cx="747501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Matches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21707" y="3553529"/>
            <a:ext cx="842013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Multi-hop Gain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19532" y="3519161"/>
            <a:ext cx="936524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+8.9-15.5%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32057" y="3998595"/>
            <a:ext cx="135323" cy="120288"/>
          </a:xfrm>
          <a:custGeom>
            <a:avLst/>
            <a:gdLst/>
            <a:ahLst/>
            <a:cxnLst/>
            <a:rect l="l" t="t" r="r" b="b"/>
            <a:pathLst>
              <a:path w="135323" h="120288">
                <a:moveTo>
                  <a:pt x="84765" y="282"/>
                </a:moveTo>
                <a:cubicBezTo>
                  <a:pt x="80771" y="-869"/>
                  <a:pt x="76613" y="1457"/>
                  <a:pt x="75462" y="5451"/>
                </a:cubicBezTo>
                <a:lnTo>
                  <a:pt x="45390" y="110702"/>
                </a:lnTo>
                <a:cubicBezTo>
                  <a:pt x="44239" y="114696"/>
                  <a:pt x="46564" y="118854"/>
                  <a:pt x="50558" y="120006"/>
                </a:cubicBezTo>
                <a:cubicBezTo>
                  <a:pt x="54552" y="121157"/>
                  <a:pt x="58711" y="118831"/>
                  <a:pt x="59862" y="114837"/>
                </a:cubicBezTo>
                <a:lnTo>
                  <a:pt x="89934" y="9585"/>
                </a:lnTo>
                <a:cubicBezTo>
                  <a:pt x="91085" y="5591"/>
                  <a:pt x="88759" y="1433"/>
                  <a:pt x="84765" y="282"/>
                </a:cubicBezTo>
                <a:close/>
                <a:moveTo>
                  <a:pt x="99942" y="32257"/>
                </a:moveTo>
                <a:cubicBezTo>
                  <a:pt x="97005" y="35193"/>
                  <a:pt x="97005" y="39963"/>
                  <a:pt x="99942" y="42899"/>
                </a:cubicBezTo>
                <a:lnTo>
                  <a:pt x="117186" y="60144"/>
                </a:lnTo>
                <a:lnTo>
                  <a:pt x="99942" y="77388"/>
                </a:lnTo>
                <a:cubicBezTo>
                  <a:pt x="97005" y="80325"/>
                  <a:pt x="97005" y="85094"/>
                  <a:pt x="99942" y="88031"/>
                </a:cubicBezTo>
                <a:cubicBezTo>
                  <a:pt x="102879" y="90967"/>
                  <a:pt x="107648" y="90967"/>
                  <a:pt x="110585" y="88031"/>
                </a:cubicBezTo>
                <a:lnTo>
                  <a:pt x="133139" y="65477"/>
                </a:lnTo>
                <a:cubicBezTo>
                  <a:pt x="136075" y="62540"/>
                  <a:pt x="136075" y="57771"/>
                  <a:pt x="133139" y="54834"/>
                </a:cubicBezTo>
                <a:lnTo>
                  <a:pt x="110585" y="32280"/>
                </a:lnTo>
                <a:cubicBezTo>
                  <a:pt x="107648" y="29344"/>
                  <a:pt x="102879" y="29344"/>
                  <a:pt x="99942" y="32280"/>
                </a:cubicBezTo>
                <a:close/>
                <a:moveTo>
                  <a:pt x="35405" y="32257"/>
                </a:moveTo>
                <a:cubicBezTo>
                  <a:pt x="32468" y="29320"/>
                  <a:pt x="27699" y="29320"/>
                  <a:pt x="24762" y="32257"/>
                </a:cubicBezTo>
                <a:lnTo>
                  <a:pt x="2208" y="54811"/>
                </a:lnTo>
                <a:cubicBezTo>
                  <a:pt x="-728" y="57747"/>
                  <a:pt x="-728" y="62517"/>
                  <a:pt x="2208" y="65453"/>
                </a:cubicBezTo>
                <a:lnTo>
                  <a:pt x="24762" y="88007"/>
                </a:lnTo>
                <a:cubicBezTo>
                  <a:pt x="27699" y="90944"/>
                  <a:pt x="32468" y="90944"/>
                  <a:pt x="35405" y="88007"/>
                </a:cubicBezTo>
                <a:cubicBezTo>
                  <a:pt x="38342" y="85071"/>
                  <a:pt x="38342" y="80301"/>
                  <a:pt x="35405" y="77365"/>
                </a:cubicBezTo>
                <a:lnTo>
                  <a:pt x="18161" y="60144"/>
                </a:lnTo>
                <a:lnTo>
                  <a:pt x="35381" y="42899"/>
                </a:lnTo>
                <a:cubicBezTo>
                  <a:pt x="38318" y="39963"/>
                  <a:pt x="38318" y="35193"/>
                  <a:pt x="35381" y="32257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8" name="Text 26"/>
          <p:cNvSpPr/>
          <p:nvPr/>
        </p:nvSpPr>
        <p:spPr>
          <a:xfrm>
            <a:off x="741487" y="3972819"/>
            <a:ext cx="1684025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github.com/cmavro/GNN-RAG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47115" y="4918041"/>
            <a:ext cx="6811711" cy="1759635"/>
          </a:xfrm>
          <a:custGeom>
            <a:avLst/>
            <a:gdLst/>
            <a:ahLst/>
            <a:cxnLst/>
            <a:rect l="l" t="t" r="r" b="b"/>
            <a:pathLst>
              <a:path w="6811711" h="1759635">
                <a:moveTo>
                  <a:pt x="103097" y="0"/>
                </a:moveTo>
                <a:lnTo>
                  <a:pt x="6708614" y="0"/>
                </a:lnTo>
                <a:cubicBezTo>
                  <a:pt x="6765553" y="0"/>
                  <a:pt x="6811711" y="46158"/>
                  <a:pt x="6811711" y="103097"/>
                </a:cubicBezTo>
                <a:lnTo>
                  <a:pt x="6811711" y="1656538"/>
                </a:lnTo>
                <a:cubicBezTo>
                  <a:pt x="6811711" y="1713477"/>
                  <a:pt x="6765553" y="1759635"/>
                  <a:pt x="6708614" y="1759635"/>
                </a:cubicBezTo>
                <a:lnTo>
                  <a:pt x="103097" y="1759635"/>
                </a:lnTo>
                <a:cubicBezTo>
                  <a:pt x="46158" y="1759635"/>
                  <a:pt x="0" y="1713477"/>
                  <a:pt x="0" y="1656538"/>
                </a:cubicBezTo>
                <a:lnTo>
                  <a:pt x="0" y="103097"/>
                </a:lnTo>
                <a:cubicBezTo>
                  <a:pt x="0" y="46196"/>
                  <a:pt x="46196" y="0"/>
                  <a:pt x="103097" y="0"/>
                </a:cubicBezTo>
                <a:close/>
              </a:path>
            </a:pathLst>
          </a:custGeom>
          <a:solidFill>
            <a:srgbClr val="FFD166">
              <a:alpha val="10196"/>
            </a:srgbClr>
          </a:solidFill>
          <a:ln w="10160">
            <a:solidFill>
              <a:srgbClr val="FFD166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2392" y="5093320"/>
            <a:ext cx="1855865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4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GraphRAG-R1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2392" y="5436890"/>
            <a:ext cx="1821497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RL-Enhanced Graph Retrieval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856929" y="5096757"/>
            <a:ext cx="1123829" cy="350552"/>
          </a:xfrm>
          <a:custGeom>
            <a:avLst/>
            <a:gdLst/>
            <a:ahLst/>
            <a:cxnLst/>
            <a:rect l="l" t="t" r="r" b="b"/>
            <a:pathLst>
              <a:path w="1123829" h="350552">
                <a:moveTo>
                  <a:pt x="68736" y="0"/>
                </a:moveTo>
                <a:lnTo>
                  <a:pt x="1055093" y="0"/>
                </a:lnTo>
                <a:cubicBezTo>
                  <a:pt x="1093055" y="0"/>
                  <a:pt x="1123829" y="30774"/>
                  <a:pt x="1123829" y="68736"/>
                </a:cubicBezTo>
                <a:lnTo>
                  <a:pt x="1123829" y="281816"/>
                </a:lnTo>
                <a:cubicBezTo>
                  <a:pt x="1123829" y="319778"/>
                  <a:pt x="1093055" y="350552"/>
                  <a:pt x="1055093" y="350552"/>
                </a:cubicBezTo>
                <a:lnTo>
                  <a:pt x="68736" y="350552"/>
                </a:lnTo>
                <a:cubicBezTo>
                  <a:pt x="30800" y="350552"/>
                  <a:pt x="0" y="319753"/>
                  <a:pt x="0" y="281816"/>
                </a:cubicBezTo>
                <a:lnTo>
                  <a:pt x="0" y="68736"/>
                </a:lnTo>
                <a:cubicBezTo>
                  <a:pt x="0" y="30800"/>
                  <a:pt x="30800" y="0"/>
                  <a:pt x="68736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1016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97837" y="5210167"/>
            <a:ext cx="901512" cy="137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Reasoning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2392" y="5746200"/>
            <a:ext cx="2087848" cy="756093"/>
          </a:xfrm>
          <a:custGeom>
            <a:avLst/>
            <a:gdLst/>
            <a:ahLst/>
            <a:cxnLst/>
            <a:rect l="l" t="t" r="r" b="b"/>
            <a:pathLst>
              <a:path w="2087848" h="756093">
                <a:moveTo>
                  <a:pt x="68736" y="0"/>
                </a:moveTo>
                <a:lnTo>
                  <a:pt x="2019111" y="0"/>
                </a:lnTo>
                <a:cubicBezTo>
                  <a:pt x="2057073" y="0"/>
                  <a:pt x="2087848" y="30774"/>
                  <a:pt x="2087848" y="68736"/>
                </a:cubicBezTo>
                <a:lnTo>
                  <a:pt x="2087848" y="687357"/>
                </a:lnTo>
                <a:cubicBezTo>
                  <a:pt x="2087848" y="725319"/>
                  <a:pt x="2057073" y="756093"/>
                  <a:pt x="2019111" y="756093"/>
                </a:cubicBezTo>
                <a:lnTo>
                  <a:pt x="68736" y="756093"/>
                </a:lnTo>
                <a:cubicBezTo>
                  <a:pt x="30774" y="756093"/>
                  <a:pt x="0" y="725319"/>
                  <a:pt x="0" y="687357"/>
                </a:cubicBezTo>
                <a:lnTo>
                  <a:pt x="0" y="68736"/>
                </a:lnTo>
                <a:cubicBezTo>
                  <a:pt x="0" y="30800"/>
                  <a:pt x="30800" y="0"/>
                  <a:pt x="6873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25495" y="5849304"/>
            <a:ext cx="1941784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RL Optimization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5495" y="6055511"/>
            <a:ext cx="1941784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Process-constrained RL with custom reward schedules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710443" y="5746200"/>
            <a:ext cx="2087848" cy="756093"/>
          </a:xfrm>
          <a:custGeom>
            <a:avLst/>
            <a:gdLst/>
            <a:ahLst/>
            <a:cxnLst/>
            <a:rect l="l" t="t" r="r" b="b"/>
            <a:pathLst>
              <a:path w="2087848" h="756093">
                <a:moveTo>
                  <a:pt x="68736" y="0"/>
                </a:moveTo>
                <a:lnTo>
                  <a:pt x="2019111" y="0"/>
                </a:lnTo>
                <a:cubicBezTo>
                  <a:pt x="2057073" y="0"/>
                  <a:pt x="2087848" y="30774"/>
                  <a:pt x="2087848" y="68736"/>
                </a:cubicBezTo>
                <a:lnTo>
                  <a:pt x="2087848" y="687357"/>
                </a:lnTo>
                <a:cubicBezTo>
                  <a:pt x="2087848" y="725319"/>
                  <a:pt x="2057073" y="756093"/>
                  <a:pt x="2019111" y="756093"/>
                </a:cubicBezTo>
                <a:lnTo>
                  <a:pt x="68736" y="756093"/>
                </a:lnTo>
                <a:cubicBezTo>
                  <a:pt x="30774" y="756093"/>
                  <a:pt x="0" y="725319"/>
                  <a:pt x="0" y="687357"/>
                </a:cubicBezTo>
                <a:lnTo>
                  <a:pt x="0" y="68736"/>
                </a:lnTo>
                <a:cubicBezTo>
                  <a:pt x="0" y="30800"/>
                  <a:pt x="30800" y="0"/>
                  <a:pt x="6873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2813547" y="5849304"/>
            <a:ext cx="1941784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Retrieval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813547" y="6055511"/>
            <a:ext cx="1941784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Supports reasoning beyond 2-3 hop limitations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898495" y="5746200"/>
            <a:ext cx="2087848" cy="756093"/>
          </a:xfrm>
          <a:custGeom>
            <a:avLst/>
            <a:gdLst/>
            <a:ahLst/>
            <a:cxnLst/>
            <a:rect l="l" t="t" r="r" b="b"/>
            <a:pathLst>
              <a:path w="2087848" h="756093">
                <a:moveTo>
                  <a:pt x="68736" y="0"/>
                </a:moveTo>
                <a:lnTo>
                  <a:pt x="2019111" y="0"/>
                </a:lnTo>
                <a:cubicBezTo>
                  <a:pt x="2057073" y="0"/>
                  <a:pt x="2087848" y="30774"/>
                  <a:pt x="2087848" y="68736"/>
                </a:cubicBezTo>
                <a:lnTo>
                  <a:pt x="2087848" y="687357"/>
                </a:lnTo>
                <a:cubicBezTo>
                  <a:pt x="2087848" y="725319"/>
                  <a:pt x="2057073" y="756093"/>
                  <a:pt x="2019111" y="756093"/>
                </a:cubicBezTo>
                <a:lnTo>
                  <a:pt x="68736" y="756093"/>
                </a:lnTo>
                <a:cubicBezTo>
                  <a:pt x="30774" y="756093"/>
                  <a:pt x="0" y="725319"/>
                  <a:pt x="0" y="687357"/>
                </a:cubicBezTo>
                <a:lnTo>
                  <a:pt x="0" y="68736"/>
                </a:lnTo>
                <a:cubicBezTo>
                  <a:pt x="0" y="30800"/>
                  <a:pt x="30800" y="0"/>
                  <a:pt x="6873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001598" y="5849304"/>
            <a:ext cx="1941784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001598" y="6055511"/>
            <a:ext cx="1941784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multi-point F1 improvements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303172" y="1068841"/>
            <a:ext cx="4534840" cy="3443660"/>
          </a:xfrm>
          <a:custGeom>
            <a:avLst/>
            <a:gdLst/>
            <a:ahLst/>
            <a:cxnLst/>
            <a:rect l="l" t="t" r="r" b="b"/>
            <a:pathLst>
              <a:path w="4534840" h="3443660">
                <a:moveTo>
                  <a:pt x="103103" y="0"/>
                </a:moveTo>
                <a:lnTo>
                  <a:pt x="4431737" y="0"/>
                </a:lnTo>
                <a:cubicBezTo>
                  <a:pt x="4488679" y="0"/>
                  <a:pt x="4534840" y="46161"/>
                  <a:pt x="4534840" y="103103"/>
                </a:cubicBezTo>
                <a:lnTo>
                  <a:pt x="4534840" y="3340557"/>
                </a:lnTo>
                <a:cubicBezTo>
                  <a:pt x="4534840" y="3397499"/>
                  <a:pt x="4488679" y="3443660"/>
                  <a:pt x="4431737" y="3443660"/>
                </a:cubicBezTo>
                <a:lnTo>
                  <a:pt x="103103" y="3443660"/>
                </a:lnTo>
                <a:cubicBezTo>
                  <a:pt x="46161" y="3443660"/>
                  <a:pt x="0" y="3397499"/>
                  <a:pt x="0" y="3340557"/>
                </a:cubicBezTo>
                <a:lnTo>
                  <a:pt x="0" y="103103"/>
                </a:lnTo>
                <a:cubicBezTo>
                  <a:pt x="0" y="46199"/>
                  <a:pt x="46199" y="0"/>
                  <a:pt x="103103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016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78448" y="1244119"/>
            <a:ext cx="1615290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4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G-Retriever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478448" y="1587689"/>
            <a:ext cx="1580922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Conversational Graph QA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747262" y="1247556"/>
            <a:ext cx="917622" cy="350552"/>
          </a:xfrm>
          <a:custGeom>
            <a:avLst/>
            <a:gdLst/>
            <a:ahLst/>
            <a:cxnLst/>
            <a:rect l="l" t="t" r="r" b="b"/>
            <a:pathLst>
              <a:path w="917622" h="350552">
                <a:moveTo>
                  <a:pt x="68736" y="0"/>
                </a:moveTo>
                <a:lnTo>
                  <a:pt x="848886" y="0"/>
                </a:lnTo>
                <a:cubicBezTo>
                  <a:pt x="886848" y="0"/>
                  <a:pt x="917622" y="30774"/>
                  <a:pt x="917622" y="68736"/>
                </a:cubicBezTo>
                <a:lnTo>
                  <a:pt x="917622" y="281816"/>
                </a:lnTo>
                <a:cubicBezTo>
                  <a:pt x="917622" y="319778"/>
                  <a:pt x="886848" y="350552"/>
                  <a:pt x="848886" y="350552"/>
                </a:cubicBezTo>
                <a:lnTo>
                  <a:pt x="68736" y="350552"/>
                </a:lnTo>
                <a:cubicBezTo>
                  <a:pt x="30800" y="350552"/>
                  <a:pt x="0" y="319753"/>
                  <a:pt x="0" y="281816"/>
                </a:cubicBezTo>
                <a:lnTo>
                  <a:pt x="0" y="68736"/>
                </a:lnTo>
                <a:cubicBezTo>
                  <a:pt x="0" y="30800"/>
                  <a:pt x="30800" y="0"/>
                  <a:pt x="68736" y="0"/>
                </a:cubicBezTo>
                <a:close/>
              </a:path>
            </a:pathLst>
          </a:custGeom>
          <a:solidFill>
            <a:srgbClr val="FFD166">
              <a:alpha val="20000"/>
            </a:srgbClr>
          </a:solidFill>
          <a:ln w="10160">
            <a:solidFill>
              <a:srgbClr val="FFD166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888169" y="1360967"/>
            <a:ext cx="694338" cy="137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2× Accuracy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478448" y="1931367"/>
            <a:ext cx="4184288" cy="790461"/>
          </a:xfrm>
          <a:custGeom>
            <a:avLst/>
            <a:gdLst/>
            <a:ahLst/>
            <a:cxnLst/>
            <a:rect l="l" t="t" r="r" b="b"/>
            <a:pathLst>
              <a:path w="4184288" h="790461">
                <a:moveTo>
                  <a:pt x="68738" y="0"/>
                </a:moveTo>
                <a:lnTo>
                  <a:pt x="4115549" y="0"/>
                </a:lnTo>
                <a:cubicBezTo>
                  <a:pt x="4153487" y="0"/>
                  <a:pt x="4184288" y="30801"/>
                  <a:pt x="4184288" y="68738"/>
                </a:cubicBezTo>
                <a:lnTo>
                  <a:pt x="4184288" y="721722"/>
                </a:lnTo>
                <a:cubicBezTo>
                  <a:pt x="4184288" y="759686"/>
                  <a:pt x="4153512" y="790461"/>
                  <a:pt x="4115549" y="790461"/>
                </a:cubicBezTo>
                <a:lnTo>
                  <a:pt x="68738" y="790461"/>
                </a:lnTo>
                <a:cubicBezTo>
                  <a:pt x="30801" y="790461"/>
                  <a:pt x="0" y="759660"/>
                  <a:pt x="0" y="721722"/>
                </a:cubicBezTo>
                <a:lnTo>
                  <a:pt x="0" y="68738"/>
                </a:lnTo>
                <a:cubicBezTo>
                  <a:pt x="0" y="30801"/>
                  <a:pt x="30801" y="0"/>
                  <a:pt x="6873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600883" y="2068839"/>
            <a:ext cx="90216" cy="103104"/>
          </a:xfrm>
          <a:custGeom>
            <a:avLst/>
            <a:gdLst/>
            <a:ahLst/>
            <a:cxnLst/>
            <a:rect l="l" t="t" r="r" b="b"/>
            <a:pathLst>
              <a:path w="90216" h="103104">
                <a:moveTo>
                  <a:pt x="45108" y="-6444"/>
                </a:moveTo>
                <a:cubicBezTo>
                  <a:pt x="46517" y="-6444"/>
                  <a:pt x="47867" y="-5820"/>
                  <a:pt x="48793" y="-4732"/>
                </a:cubicBezTo>
                <a:lnTo>
                  <a:pt x="76180" y="27488"/>
                </a:lnTo>
                <a:cubicBezTo>
                  <a:pt x="77408" y="28917"/>
                  <a:pt x="77670" y="30931"/>
                  <a:pt x="76885" y="32643"/>
                </a:cubicBezTo>
                <a:cubicBezTo>
                  <a:pt x="76099" y="34354"/>
                  <a:pt x="74388" y="35442"/>
                  <a:pt x="72495" y="35442"/>
                </a:cubicBezTo>
                <a:lnTo>
                  <a:pt x="67480" y="35442"/>
                </a:lnTo>
                <a:lnTo>
                  <a:pt x="82624" y="53263"/>
                </a:lnTo>
                <a:cubicBezTo>
                  <a:pt x="83852" y="54693"/>
                  <a:pt x="84114" y="56707"/>
                  <a:pt x="83329" y="58419"/>
                </a:cubicBezTo>
                <a:cubicBezTo>
                  <a:pt x="82543" y="60130"/>
                  <a:pt x="80832" y="61218"/>
                  <a:pt x="78939" y="61218"/>
                </a:cubicBezTo>
                <a:lnTo>
                  <a:pt x="71186" y="61218"/>
                </a:lnTo>
                <a:lnTo>
                  <a:pt x="89068" y="82261"/>
                </a:lnTo>
                <a:cubicBezTo>
                  <a:pt x="90296" y="83691"/>
                  <a:pt x="90558" y="85705"/>
                  <a:pt x="89773" y="87417"/>
                </a:cubicBezTo>
                <a:cubicBezTo>
                  <a:pt x="88987" y="89128"/>
                  <a:pt x="87276" y="90216"/>
                  <a:pt x="85383" y="90216"/>
                </a:cubicBezTo>
                <a:lnTo>
                  <a:pt x="51552" y="90216"/>
                </a:lnTo>
                <a:lnTo>
                  <a:pt x="51552" y="103104"/>
                </a:lnTo>
                <a:cubicBezTo>
                  <a:pt x="51552" y="106668"/>
                  <a:pt x="48672" y="109548"/>
                  <a:pt x="45108" y="109548"/>
                </a:cubicBezTo>
                <a:cubicBezTo>
                  <a:pt x="41543" y="109548"/>
                  <a:pt x="38664" y="106668"/>
                  <a:pt x="38664" y="103104"/>
                </a:cubicBezTo>
                <a:lnTo>
                  <a:pt x="38664" y="90216"/>
                </a:lnTo>
                <a:lnTo>
                  <a:pt x="4833" y="90216"/>
                </a:lnTo>
                <a:cubicBezTo>
                  <a:pt x="2940" y="90216"/>
                  <a:pt x="1228" y="89128"/>
                  <a:pt x="443" y="87417"/>
                </a:cubicBezTo>
                <a:cubicBezTo>
                  <a:pt x="-342" y="85705"/>
                  <a:pt x="-81" y="83691"/>
                  <a:pt x="1148" y="82261"/>
                </a:cubicBezTo>
                <a:lnTo>
                  <a:pt x="19030" y="61218"/>
                </a:lnTo>
                <a:lnTo>
                  <a:pt x="11277" y="61218"/>
                </a:lnTo>
                <a:cubicBezTo>
                  <a:pt x="9384" y="61218"/>
                  <a:pt x="7672" y="60130"/>
                  <a:pt x="6887" y="58419"/>
                </a:cubicBezTo>
                <a:cubicBezTo>
                  <a:pt x="6102" y="56707"/>
                  <a:pt x="6363" y="54693"/>
                  <a:pt x="7592" y="53263"/>
                </a:cubicBezTo>
                <a:lnTo>
                  <a:pt x="22735" y="35442"/>
                </a:lnTo>
                <a:lnTo>
                  <a:pt x="17721" y="35442"/>
                </a:lnTo>
                <a:cubicBezTo>
                  <a:pt x="15828" y="35442"/>
                  <a:pt x="14116" y="34354"/>
                  <a:pt x="13331" y="32643"/>
                </a:cubicBezTo>
                <a:cubicBezTo>
                  <a:pt x="12546" y="30931"/>
                  <a:pt x="12807" y="28917"/>
                  <a:pt x="14036" y="27488"/>
                </a:cubicBezTo>
                <a:lnTo>
                  <a:pt x="41423" y="-4732"/>
                </a:lnTo>
                <a:cubicBezTo>
                  <a:pt x="42349" y="-5820"/>
                  <a:pt x="43698" y="-6444"/>
                  <a:pt x="45108" y="-644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0" name="Text 48"/>
          <p:cNvSpPr/>
          <p:nvPr/>
        </p:nvSpPr>
        <p:spPr>
          <a:xfrm>
            <a:off x="7710431" y="2034471"/>
            <a:ext cx="3909345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PCST Algorithm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581551" y="2275046"/>
            <a:ext cx="4038224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Prize-Collecting Steiner Tree finds optimal subgraph maximizing relevance while minimizing size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478448" y="2824932"/>
            <a:ext cx="4184288" cy="790461"/>
          </a:xfrm>
          <a:custGeom>
            <a:avLst/>
            <a:gdLst/>
            <a:ahLst/>
            <a:cxnLst/>
            <a:rect l="l" t="t" r="r" b="b"/>
            <a:pathLst>
              <a:path w="4184288" h="790461">
                <a:moveTo>
                  <a:pt x="68738" y="0"/>
                </a:moveTo>
                <a:lnTo>
                  <a:pt x="4115549" y="0"/>
                </a:lnTo>
                <a:cubicBezTo>
                  <a:pt x="4153487" y="0"/>
                  <a:pt x="4184288" y="30801"/>
                  <a:pt x="4184288" y="68738"/>
                </a:cubicBezTo>
                <a:lnTo>
                  <a:pt x="4184288" y="721722"/>
                </a:lnTo>
                <a:cubicBezTo>
                  <a:pt x="4184288" y="759686"/>
                  <a:pt x="4153512" y="790461"/>
                  <a:pt x="4115549" y="790461"/>
                </a:cubicBezTo>
                <a:lnTo>
                  <a:pt x="68738" y="790461"/>
                </a:lnTo>
                <a:cubicBezTo>
                  <a:pt x="30801" y="790461"/>
                  <a:pt x="0" y="759660"/>
                  <a:pt x="0" y="721722"/>
                </a:cubicBezTo>
                <a:lnTo>
                  <a:pt x="0" y="68738"/>
                </a:lnTo>
                <a:cubicBezTo>
                  <a:pt x="0" y="30801"/>
                  <a:pt x="30801" y="0"/>
                  <a:pt x="6873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587995" y="2962403"/>
            <a:ext cx="115992" cy="103104"/>
          </a:xfrm>
          <a:custGeom>
            <a:avLst/>
            <a:gdLst/>
            <a:ahLst/>
            <a:cxnLst/>
            <a:rect l="l" t="t" r="r" b="b"/>
            <a:pathLst>
              <a:path w="115992" h="103104">
                <a:moveTo>
                  <a:pt x="84476" y="19332"/>
                </a:moveTo>
                <a:cubicBezTo>
                  <a:pt x="81134" y="19332"/>
                  <a:pt x="77892" y="20238"/>
                  <a:pt x="75052" y="21889"/>
                </a:cubicBezTo>
                <a:cubicBezTo>
                  <a:pt x="71870" y="18667"/>
                  <a:pt x="68165" y="15969"/>
                  <a:pt x="64077" y="13935"/>
                </a:cubicBezTo>
                <a:cubicBezTo>
                  <a:pt x="69756" y="9102"/>
                  <a:pt x="76985" y="6444"/>
                  <a:pt x="84476" y="6444"/>
                </a:cubicBezTo>
                <a:cubicBezTo>
                  <a:pt x="101875" y="6444"/>
                  <a:pt x="115992" y="20540"/>
                  <a:pt x="115992" y="37959"/>
                </a:cubicBezTo>
                <a:cubicBezTo>
                  <a:pt x="115992" y="46316"/>
                  <a:pt x="112669" y="54331"/>
                  <a:pt x="106769" y="60231"/>
                </a:cubicBezTo>
                <a:lnTo>
                  <a:pt x="92451" y="74549"/>
                </a:lnTo>
                <a:cubicBezTo>
                  <a:pt x="86551" y="80449"/>
                  <a:pt x="78536" y="83772"/>
                  <a:pt x="70179" y="83772"/>
                </a:cubicBezTo>
                <a:cubicBezTo>
                  <a:pt x="52780" y="83772"/>
                  <a:pt x="38664" y="69675"/>
                  <a:pt x="38664" y="52257"/>
                </a:cubicBezTo>
                <a:cubicBezTo>
                  <a:pt x="38664" y="51955"/>
                  <a:pt x="38664" y="51652"/>
                  <a:pt x="38684" y="51350"/>
                </a:cubicBezTo>
                <a:cubicBezTo>
                  <a:pt x="38785" y="47786"/>
                  <a:pt x="41745" y="44987"/>
                  <a:pt x="45309" y="45088"/>
                </a:cubicBezTo>
                <a:cubicBezTo>
                  <a:pt x="48874" y="45188"/>
                  <a:pt x="51673" y="48149"/>
                  <a:pt x="51572" y="51713"/>
                </a:cubicBezTo>
                <a:cubicBezTo>
                  <a:pt x="51572" y="51894"/>
                  <a:pt x="51572" y="52075"/>
                  <a:pt x="51572" y="52236"/>
                </a:cubicBezTo>
                <a:cubicBezTo>
                  <a:pt x="51572" y="62527"/>
                  <a:pt x="59909" y="70864"/>
                  <a:pt x="70199" y="70864"/>
                </a:cubicBezTo>
                <a:cubicBezTo>
                  <a:pt x="75133" y="70864"/>
                  <a:pt x="79865" y="68910"/>
                  <a:pt x="83369" y="65406"/>
                </a:cubicBezTo>
                <a:lnTo>
                  <a:pt x="97687" y="51089"/>
                </a:lnTo>
                <a:cubicBezTo>
                  <a:pt x="101170" y="47605"/>
                  <a:pt x="103144" y="42852"/>
                  <a:pt x="103144" y="37919"/>
                </a:cubicBezTo>
                <a:cubicBezTo>
                  <a:pt x="103144" y="27629"/>
                  <a:pt x="94807" y="19292"/>
                  <a:pt x="84517" y="19292"/>
                </a:cubicBezTo>
                <a:close/>
                <a:moveTo>
                  <a:pt x="55418" y="34898"/>
                </a:moveTo>
                <a:cubicBezTo>
                  <a:pt x="55036" y="34737"/>
                  <a:pt x="54653" y="34516"/>
                  <a:pt x="54311" y="34274"/>
                </a:cubicBezTo>
                <a:cubicBezTo>
                  <a:pt x="51773" y="32965"/>
                  <a:pt x="48874" y="32220"/>
                  <a:pt x="45833" y="32220"/>
                </a:cubicBezTo>
                <a:cubicBezTo>
                  <a:pt x="40899" y="32220"/>
                  <a:pt x="36167" y="34173"/>
                  <a:pt x="32663" y="37677"/>
                </a:cubicBezTo>
                <a:lnTo>
                  <a:pt x="18345" y="51995"/>
                </a:lnTo>
                <a:cubicBezTo>
                  <a:pt x="14861" y="55479"/>
                  <a:pt x="12888" y="60231"/>
                  <a:pt x="12888" y="65165"/>
                </a:cubicBezTo>
                <a:cubicBezTo>
                  <a:pt x="12888" y="75455"/>
                  <a:pt x="21225" y="83792"/>
                  <a:pt x="31515" y="83792"/>
                </a:cubicBezTo>
                <a:cubicBezTo>
                  <a:pt x="34838" y="83792"/>
                  <a:pt x="38080" y="82906"/>
                  <a:pt x="40919" y="81254"/>
                </a:cubicBezTo>
                <a:cubicBezTo>
                  <a:pt x="44101" y="84476"/>
                  <a:pt x="47806" y="87175"/>
                  <a:pt x="51914" y="89209"/>
                </a:cubicBezTo>
                <a:cubicBezTo>
                  <a:pt x="46236" y="94022"/>
                  <a:pt x="39026" y="96700"/>
                  <a:pt x="31515" y="96700"/>
                </a:cubicBezTo>
                <a:cubicBezTo>
                  <a:pt x="14116" y="96700"/>
                  <a:pt x="0" y="82604"/>
                  <a:pt x="0" y="65185"/>
                </a:cubicBezTo>
                <a:cubicBezTo>
                  <a:pt x="0" y="56828"/>
                  <a:pt x="3323" y="48813"/>
                  <a:pt x="9223" y="42913"/>
                </a:cubicBezTo>
                <a:lnTo>
                  <a:pt x="23541" y="28595"/>
                </a:lnTo>
                <a:cubicBezTo>
                  <a:pt x="29441" y="22695"/>
                  <a:pt x="37456" y="19372"/>
                  <a:pt x="45813" y="19372"/>
                </a:cubicBezTo>
                <a:cubicBezTo>
                  <a:pt x="63252" y="19372"/>
                  <a:pt x="77328" y="33589"/>
                  <a:pt x="77328" y="50968"/>
                </a:cubicBezTo>
                <a:cubicBezTo>
                  <a:pt x="77328" y="51230"/>
                  <a:pt x="77328" y="51491"/>
                  <a:pt x="77328" y="51753"/>
                </a:cubicBezTo>
                <a:cubicBezTo>
                  <a:pt x="77247" y="55317"/>
                  <a:pt x="74287" y="58117"/>
                  <a:pt x="70723" y="58036"/>
                </a:cubicBezTo>
                <a:cubicBezTo>
                  <a:pt x="67158" y="57955"/>
                  <a:pt x="64359" y="54995"/>
                  <a:pt x="64440" y="51431"/>
                </a:cubicBezTo>
                <a:cubicBezTo>
                  <a:pt x="64440" y="51270"/>
                  <a:pt x="64440" y="51129"/>
                  <a:pt x="64440" y="50968"/>
                </a:cubicBezTo>
                <a:cubicBezTo>
                  <a:pt x="64440" y="44182"/>
                  <a:pt x="60815" y="38221"/>
                  <a:pt x="55418" y="34938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4" name="Text 52"/>
          <p:cNvSpPr/>
          <p:nvPr/>
        </p:nvSpPr>
        <p:spPr>
          <a:xfrm>
            <a:off x="7710431" y="2928036"/>
            <a:ext cx="3909345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GNN-LLM Integration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581551" y="3168611"/>
            <a:ext cx="4038224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Integrates GNN layers during LLM fine-tuning for optimized attention on retrieved context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478448" y="3718496"/>
            <a:ext cx="4184288" cy="618622"/>
          </a:xfrm>
          <a:custGeom>
            <a:avLst/>
            <a:gdLst/>
            <a:ahLst/>
            <a:cxnLst/>
            <a:rect l="l" t="t" r="r" b="b"/>
            <a:pathLst>
              <a:path w="4184288" h="618622">
                <a:moveTo>
                  <a:pt x="68735" y="0"/>
                </a:moveTo>
                <a:lnTo>
                  <a:pt x="4115552" y="0"/>
                </a:lnTo>
                <a:cubicBezTo>
                  <a:pt x="4153514" y="0"/>
                  <a:pt x="4184288" y="30774"/>
                  <a:pt x="4184288" y="68735"/>
                </a:cubicBezTo>
                <a:lnTo>
                  <a:pt x="4184288" y="549887"/>
                </a:lnTo>
                <a:cubicBezTo>
                  <a:pt x="4184288" y="587848"/>
                  <a:pt x="4153514" y="618622"/>
                  <a:pt x="4115552" y="618622"/>
                </a:cubicBezTo>
                <a:lnTo>
                  <a:pt x="68735" y="618622"/>
                </a:lnTo>
                <a:cubicBezTo>
                  <a:pt x="30774" y="618622"/>
                  <a:pt x="0" y="587848"/>
                  <a:pt x="0" y="549887"/>
                </a:cubicBezTo>
                <a:lnTo>
                  <a:pt x="0" y="68735"/>
                </a:lnTo>
                <a:cubicBezTo>
                  <a:pt x="0" y="30799"/>
                  <a:pt x="30799" y="0"/>
                  <a:pt x="6873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587995" y="3855968"/>
            <a:ext cx="115992" cy="103104"/>
          </a:xfrm>
          <a:custGeom>
            <a:avLst/>
            <a:gdLst/>
            <a:ahLst/>
            <a:cxnLst/>
            <a:rect l="l" t="t" r="r" b="b"/>
            <a:pathLst>
              <a:path w="115992" h="103104">
                <a:moveTo>
                  <a:pt x="77328" y="28998"/>
                </a:moveTo>
                <a:cubicBezTo>
                  <a:pt x="77328" y="48571"/>
                  <a:pt x="60010" y="64440"/>
                  <a:pt x="38664" y="64440"/>
                </a:cubicBezTo>
                <a:cubicBezTo>
                  <a:pt x="33287" y="64440"/>
                  <a:pt x="28172" y="63433"/>
                  <a:pt x="23521" y="61621"/>
                </a:cubicBezTo>
                <a:lnTo>
                  <a:pt x="7088" y="70320"/>
                </a:lnTo>
                <a:cubicBezTo>
                  <a:pt x="5216" y="71307"/>
                  <a:pt x="2920" y="70964"/>
                  <a:pt x="1410" y="69474"/>
                </a:cubicBezTo>
                <a:cubicBezTo>
                  <a:pt x="-101" y="67984"/>
                  <a:pt x="-443" y="65668"/>
                  <a:pt x="564" y="63795"/>
                </a:cubicBezTo>
                <a:lnTo>
                  <a:pt x="7733" y="50263"/>
                </a:lnTo>
                <a:cubicBezTo>
                  <a:pt x="2880" y="44343"/>
                  <a:pt x="0" y="36972"/>
                  <a:pt x="0" y="28998"/>
                </a:cubicBezTo>
                <a:cubicBezTo>
                  <a:pt x="0" y="9424"/>
                  <a:pt x="17318" y="-6444"/>
                  <a:pt x="38664" y="-6444"/>
                </a:cubicBezTo>
                <a:cubicBezTo>
                  <a:pt x="60010" y="-6444"/>
                  <a:pt x="77328" y="9424"/>
                  <a:pt x="77328" y="28998"/>
                </a:cubicBezTo>
                <a:close/>
                <a:moveTo>
                  <a:pt x="77328" y="103104"/>
                </a:moveTo>
                <a:cubicBezTo>
                  <a:pt x="58378" y="103104"/>
                  <a:pt x="42611" y="90598"/>
                  <a:pt x="39308" y="74106"/>
                </a:cubicBezTo>
                <a:cubicBezTo>
                  <a:pt x="63473" y="73804"/>
                  <a:pt x="84476" y="56606"/>
                  <a:pt x="86792" y="33287"/>
                </a:cubicBezTo>
                <a:cubicBezTo>
                  <a:pt x="103567" y="37154"/>
                  <a:pt x="115992" y="51068"/>
                  <a:pt x="115992" y="67662"/>
                </a:cubicBezTo>
                <a:cubicBezTo>
                  <a:pt x="115992" y="75636"/>
                  <a:pt x="113112" y="83006"/>
                  <a:pt x="108259" y="88927"/>
                </a:cubicBezTo>
                <a:lnTo>
                  <a:pt x="115428" y="102459"/>
                </a:lnTo>
                <a:cubicBezTo>
                  <a:pt x="116414" y="104332"/>
                  <a:pt x="116072" y="106628"/>
                  <a:pt x="114582" y="108138"/>
                </a:cubicBezTo>
                <a:cubicBezTo>
                  <a:pt x="113092" y="109648"/>
                  <a:pt x="110776" y="109991"/>
                  <a:pt x="108903" y="108984"/>
                </a:cubicBezTo>
                <a:lnTo>
                  <a:pt x="92471" y="100284"/>
                </a:lnTo>
                <a:cubicBezTo>
                  <a:pt x="87819" y="102097"/>
                  <a:pt x="82704" y="103104"/>
                  <a:pt x="77328" y="10310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8" name="Text 56"/>
          <p:cNvSpPr/>
          <p:nvPr/>
        </p:nvSpPr>
        <p:spPr>
          <a:xfrm>
            <a:off x="7710431" y="3821600"/>
            <a:ext cx="3909345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Conversational QA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581551" y="4062175"/>
            <a:ext cx="4038224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natural language interaction with graph-structured knowledge bases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303172" y="4656737"/>
            <a:ext cx="4534840" cy="2017394"/>
          </a:xfrm>
          <a:custGeom>
            <a:avLst/>
            <a:gdLst/>
            <a:ahLst/>
            <a:cxnLst/>
            <a:rect l="l" t="t" r="r" b="b"/>
            <a:pathLst>
              <a:path w="4534840" h="2017394">
                <a:moveTo>
                  <a:pt x="103109" y="0"/>
                </a:moveTo>
                <a:lnTo>
                  <a:pt x="4431731" y="0"/>
                </a:lnTo>
                <a:cubicBezTo>
                  <a:pt x="4488676" y="0"/>
                  <a:pt x="4534840" y="46163"/>
                  <a:pt x="4534840" y="103109"/>
                </a:cubicBezTo>
                <a:lnTo>
                  <a:pt x="4534840" y="1914285"/>
                </a:lnTo>
                <a:cubicBezTo>
                  <a:pt x="4534840" y="1971230"/>
                  <a:pt x="4488676" y="2017394"/>
                  <a:pt x="4431731" y="2017394"/>
                </a:cubicBezTo>
                <a:lnTo>
                  <a:pt x="103109" y="2017394"/>
                </a:lnTo>
                <a:cubicBezTo>
                  <a:pt x="46163" y="2017394"/>
                  <a:pt x="0" y="1971230"/>
                  <a:pt x="0" y="1914285"/>
                </a:cubicBezTo>
                <a:lnTo>
                  <a:pt x="0" y="103109"/>
                </a:lnTo>
                <a:cubicBezTo>
                  <a:pt x="0" y="46163"/>
                  <a:pt x="46163" y="0"/>
                  <a:pt x="103109" y="0"/>
                </a:cubicBezTo>
                <a:close/>
              </a:path>
            </a:pathLst>
          </a:custGeom>
          <a:solidFill>
            <a:srgbClr val="556677">
              <a:alpha val="10196"/>
            </a:srgbClr>
          </a:solidFill>
          <a:ln w="10160">
            <a:solidFill>
              <a:srgbClr val="556677">
                <a:alpha val="30196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499927" y="4874976"/>
            <a:ext cx="154655" cy="154655"/>
          </a:xfrm>
          <a:custGeom>
            <a:avLst/>
            <a:gdLst/>
            <a:ahLst/>
            <a:cxnLst/>
            <a:rect l="l" t="t" r="r" b="b"/>
            <a:pathLst>
              <a:path w="154655" h="154655">
                <a:moveTo>
                  <a:pt x="9666" y="9666"/>
                </a:moveTo>
                <a:cubicBezTo>
                  <a:pt x="15012" y="9666"/>
                  <a:pt x="19332" y="13985"/>
                  <a:pt x="19332" y="19332"/>
                </a:cubicBezTo>
                <a:lnTo>
                  <a:pt x="19332" y="120825"/>
                </a:lnTo>
                <a:cubicBezTo>
                  <a:pt x="19332" y="123483"/>
                  <a:pt x="21507" y="125658"/>
                  <a:pt x="24165" y="125658"/>
                </a:cubicBezTo>
                <a:lnTo>
                  <a:pt x="144989" y="125658"/>
                </a:lnTo>
                <a:cubicBezTo>
                  <a:pt x="150336" y="125658"/>
                  <a:pt x="154655" y="129977"/>
                  <a:pt x="154655" y="135323"/>
                </a:cubicBezTo>
                <a:cubicBezTo>
                  <a:pt x="154655" y="140670"/>
                  <a:pt x="150336" y="144989"/>
                  <a:pt x="144989" y="144989"/>
                </a:cubicBezTo>
                <a:lnTo>
                  <a:pt x="24165" y="144989"/>
                </a:lnTo>
                <a:cubicBezTo>
                  <a:pt x="10814" y="144989"/>
                  <a:pt x="0" y="134176"/>
                  <a:pt x="0" y="120825"/>
                </a:cubicBezTo>
                <a:lnTo>
                  <a:pt x="0" y="19332"/>
                </a:lnTo>
                <a:cubicBezTo>
                  <a:pt x="0" y="13985"/>
                  <a:pt x="4319" y="9666"/>
                  <a:pt x="9666" y="9666"/>
                </a:cubicBezTo>
                <a:close/>
                <a:moveTo>
                  <a:pt x="38664" y="28998"/>
                </a:moveTo>
                <a:cubicBezTo>
                  <a:pt x="38664" y="23651"/>
                  <a:pt x="42983" y="19332"/>
                  <a:pt x="48330" y="19332"/>
                </a:cubicBezTo>
                <a:lnTo>
                  <a:pt x="106326" y="19332"/>
                </a:lnTo>
                <a:cubicBezTo>
                  <a:pt x="111672" y="19332"/>
                  <a:pt x="115992" y="23651"/>
                  <a:pt x="115992" y="28998"/>
                </a:cubicBezTo>
                <a:cubicBezTo>
                  <a:pt x="115992" y="34344"/>
                  <a:pt x="111672" y="38664"/>
                  <a:pt x="106326" y="38664"/>
                </a:cubicBezTo>
                <a:lnTo>
                  <a:pt x="48330" y="38664"/>
                </a:lnTo>
                <a:cubicBezTo>
                  <a:pt x="42983" y="38664"/>
                  <a:pt x="38664" y="34344"/>
                  <a:pt x="38664" y="28998"/>
                </a:cubicBezTo>
                <a:close/>
                <a:moveTo>
                  <a:pt x="48330" y="53163"/>
                </a:moveTo>
                <a:lnTo>
                  <a:pt x="86994" y="53163"/>
                </a:lnTo>
                <a:cubicBezTo>
                  <a:pt x="92340" y="53163"/>
                  <a:pt x="96660" y="57482"/>
                  <a:pt x="96660" y="62829"/>
                </a:cubicBezTo>
                <a:cubicBezTo>
                  <a:pt x="96660" y="68175"/>
                  <a:pt x="92340" y="72495"/>
                  <a:pt x="86994" y="72495"/>
                </a:cubicBezTo>
                <a:lnTo>
                  <a:pt x="48330" y="72495"/>
                </a:lnTo>
                <a:cubicBezTo>
                  <a:pt x="42983" y="72495"/>
                  <a:pt x="38664" y="68175"/>
                  <a:pt x="38664" y="62829"/>
                </a:cubicBezTo>
                <a:cubicBezTo>
                  <a:pt x="38664" y="57482"/>
                  <a:pt x="42983" y="53163"/>
                  <a:pt x="48330" y="53163"/>
                </a:cubicBezTo>
                <a:close/>
                <a:moveTo>
                  <a:pt x="48330" y="86994"/>
                </a:moveTo>
                <a:lnTo>
                  <a:pt x="125658" y="86994"/>
                </a:lnTo>
                <a:cubicBezTo>
                  <a:pt x="131004" y="86994"/>
                  <a:pt x="135323" y="91313"/>
                  <a:pt x="135323" y="96660"/>
                </a:cubicBezTo>
                <a:cubicBezTo>
                  <a:pt x="135323" y="102006"/>
                  <a:pt x="131004" y="106326"/>
                  <a:pt x="125658" y="106326"/>
                </a:cubicBezTo>
                <a:lnTo>
                  <a:pt x="48330" y="106326"/>
                </a:lnTo>
                <a:cubicBezTo>
                  <a:pt x="42983" y="106326"/>
                  <a:pt x="38664" y="102006"/>
                  <a:pt x="38664" y="96660"/>
                </a:cubicBezTo>
                <a:cubicBezTo>
                  <a:pt x="38664" y="91313"/>
                  <a:pt x="42983" y="86994"/>
                  <a:pt x="48330" y="86994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62" name="Text 60"/>
          <p:cNvSpPr/>
          <p:nvPr/>
        </p:nvSpPr>
        <p:spPr>
          <a:xfrm>
            <a:off x="7676063" y="4832016"/>
            <a:ext cx="4064000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Framework Comparison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478448" y="5454074"/>
            <a:ext cx="4184288" cy="6874"/>
          </a:xfrm>
          <a:custGeom>
            <a:avLst/>
            <a:gdLst/>
            <a:ahLst/>
            <a:cxnLst/>
            <a:rect l="l" t="t" r="r" b="b"/>
            <a:pathLst>
              <a:path w="4184288" h="6874">
                <a:moveTo>
                  <a:pt x="0" y="0"/>
                </a:moveTo>
                <a:lnTo>
                  <a:pt x="4184288" y="0"/>
                </a:lnTo>
                <a:lnTo>
                  <a:pt x="4184288" y="6874"/>
                </a:lnTo>
                <a:lnTo>
                  <a:pt x="0" y="6874"/>
                </a:lnTo>
                <a:lnTo>
                  <a:pt x="0" y="0"/>
                </a:lnTo>
                <a:close/>
              </a:path>
            </a:pathLst>
          </a:custGeom>
          <a:solidFill>
            <a:srgbClr val="556677">
              <a:alpha val="30196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7478448" y="5227246"/>
            <a:ext cx="970892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Use Case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477261" y="5227246"/>
            <a:ext cx="2251095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KG QA / Conversational / Deep Reasoning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478448" y="5804625"/>
            <a:ext cx="4184288" cy="6874"/>
          </a:xfrm>
          <a:custGeom>
            <a:avLst/>
            <a:gdLst/>
            <a:ahLst/>
            <a:cxnLst/>
            <a:rect l="l" t="t" r="r" b="b"/>
            <a:pathLst>
              <a:path w="4184288" h="6874">
                <a:moveTo>
                  <a:pt x="0" y="0"/>
                </a:moveTo>
                <a:lnTo>
                  <a:pt x="4184288" y="0"/>
                </a:lnTo>
                <a:lnTo>
                  <a:pt x="4184288" y="6874"/>
                </a:lnTo>
                <a:lnTo>
                  <a:pt x="0" y="6874"/>
                </a:lnTo>
                <a:lnTo>
                  <a:pt x="0" y="0"/>
                </a:lnTo>
                <a:close/>
              </a:path>
            </a:pathLst>
          </a:custGeom>
          <a:solidFill>
            <a:srgbClr val="556677">
              <a:alpha val="30196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7478448" y="5577797"/>
            <a:ext cx="867789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Retrieval Depth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632024" y="5577797"/>
            <a:ext cx="2096440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Multi-hop / Adaptive / Deep Multi-hop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7478448" y="6155180"/>
            <a:ext cx="4184288" cy="6874"/>
          </a:xfrm>
          <a:custGeom>
            <a:avLst/>
            <a:gdLst/>
            <a:ahLst/>
            <a:cxnLst/>
            <a:rect l="l" t="t" r="r" b="b"/>
            <a:pathLst>
              <a:path w="4184288" h="6874">
                <a:moveTo>
                  <a:pt x="0" y="0"/>
                </a:moveTo>
                <a:lnTo>
                  <a:pt x="4184288" y="0"/>
                </a:lnTo>
                <a:lnTo>
                  <a:pt x="4184288" y="6874"/>
                </a:lnTo>
                <a:lnTo>
                  <a:pt x="0" y="6874"/>
                </a:lnTo>
                <a:lnTo>
                  <a:pt x="0" y="0"/>
                </a:lnTo>
                <a:close/>
              </a:path>
            </a:pathLst>
          </a:custGeom>
          <a:solidFill>
            <a:srgbClr val="556677">
              <a:alpha val="30196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7478448" y="5928352"/>
            <a:ext cx="1013852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Approach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9356651" y="5928352"/>
            <a:ext cx="2371383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Fine-tuning / Joint Training / RL Optimization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7478448" y="6278902"/>
            <a:ext cx="842013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Advantage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9407559" y="6278902"/>
            <a:ext cx="2319831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Efficiency / Conversational / Deep Retrieval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b4c52db9f149e5826732e186c7adeba9aa590236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779" b="777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191000" y="1931673"/>
            <a:ext cx="6705600" cy="9525"/>
          </a:xfrm>
          <a:custGeom>
            <a:avLst/>
            <a:gdLst/>
            <a:ahLst/>
            <a:cxnLst/>
            <a:rect l="l" t="t" r="r" b="b"/>
            <a:pathLst>
              <a:path w="6705600" h="9525">
                <a:moveTo>
                  <a:pt x="0" y="0"/>
                </a:moveTo>
                <a:lnTo>
                  <a:pt x="6705600" y="0"/>
                </a:lnTo>
                <a:lnTo>
                  <a:pt x="6705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D166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</p:sp>
      <p:sp>
        <p:nvSpPr>
          <p:cNvPr id="5" name="Shape 2"/>
          <p:cNvSpPr/>
          <p:nvPr/>
        </p:nvSpPr>
        <p:spPr>
          <a:xfrm>
            <a:off x="11056620" y="1563055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152398" y="0"/>
                </a:moveTo>
                <a:lnTo>
                  <a:pt x="596267" y="0"/>
                </a:lnTo>
                <a:cubicBezTo>
                  <a:pt x="680378" y="0"/>
                  <a:pt x="748665" y="68287"/>
                  <a:pt x="748665" y="152398"/>
                </a:cubicBezTo>
                <a:lnTo>
                  <a:pt x="748665" y="596267"/>
                </a:lnTo>
                <a:cubicBezTo>
                  <a:pt x="748665" y="680378"/>
                  <a:pt x="680378" y="748665"/>
                  <a:pt x="596267" y="748665"/>
                </a:cubicBezTo>
                <a:lnTo>
                  <a:pt x="152398" y="748665"/>
                </a:lnTo>
                <a:cubicBezTo>
                  <a:pt x="68287" y="748665"/>
                  <a:pt x="0" y="680378"/>
                  <a:pt x="0" y="59626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D166">
              <a:alpha val="20000"/>
            </a:srgbClr>
          </a:solidFill>
          <a:ln w="20320">
            <a:solidFill>
              <a:srgbClr val="FFD166">
                <a:alpha val="50196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48166" y="1745935"/>
            <a:ext cx="590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48100" y="2622235"/>
            <a:ext cx="7962900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</a:t>
            </a:r>
            <a:endParaRPr lang="en-US" sz="1600" dirty="0"/>
          </a:p>
          <a:p>
            <a:pPr algn="r">
              <a:lnSpc>
                <a:spcPct val="90000"/>
              </a:lnSpc>
            </a:pPr>
            <a:r>
              <a:rPr lang="en-US" sz="5400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10300" y="4359594"/>
            <a:ext cx="5600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8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 the convergence delivers transformative impact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41431" y="5112069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Healthcare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428434" y="516921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Text 8"/>
          <p:cNvSpPr/>
          <p:nvPr/>
        </p:nvSpPr>
        <p:spPr>
          <a:xfrm>
            <a:off x="8666559" y="5112069"/>
            <a:ext cx="504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270087" y="516921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13" name="Text 10"/>
          <p:cNvSpPr/>
          <p:nvPr/>
        </p:nvSpPr>
        <p:spPr>
          <a:xfrm>
            <a:off x="9508212" y="5112069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252949" y="516921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5" name="Text 12"/>
          <p:cNvSpPr/>
          <p:nvPr/>
        </p:nvSpPr>
        <p:spPr>
          <a:xfrm>
            <a:off x="10491074" y="5112069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1734800" y="516921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219" kern="0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Applications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Domain Transformations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675" y="987425"/>
            <a:ext cx="5705475" cy="3903662"/>
          </a:xfrm>
          <a:custGeom>
            <a:avLst/>
            <a:gdLst/>
            <a:ahLst/>
            <a:cxnLst/>
            <a:rect l="l" t="t" r="r" b="b"/>
            <a:pathLst>
              <a:path w="5705475" h="3903662">
                <a:moveTo>
                  <a:pt x="95249" y="0"/>
                </a:moveTo>
                <a:lnTo>
                  <a:pt x="5610226" y="0"/>
                </a:lnTo>
                <a:cubicBezTo>
                  <a:pt x="5662830" y="0"/>
                  <a:pt x="5705475" y="42645"/>
                  <a:pt x="5705475" y="95249"/>
                </a:cubicBezTo>
                <a:lnTo>
                  <a:pt x="5705475" y="3808413"/>
                </a:lnTo>
                <a:cubicBezTo>
                  <a:pt x="5705475" y="3861018"/>
                  <a:pt x="5662830" y="3903662"/>
                  <a:pt x="5610226" y="3903662"/>
                </a:cubicBezTo>
                <a:lnTo>
                  <a:pt x="95249" y="3903662"/>
                </a:lnTo>
                <a:cubicBezTo>
                  <a:pt x="42645" y="3903662"/>
                  <a:pt x="0" y="3861018"/>
                  <a:pt x="0" y="3808413"/>
                </a:cubicBezTo>
                <a:lnTo>
                  <a:pt x="0" y="95249"/>
                </a:lnTo>
                <a:cubicBezTo>
                  <a:pt x="0" y="42680"/>
                  <a:pt x="42680" y="0"/>
                  <a:pt x="95249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016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2600" y="1149352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2763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40146"/>
                </a:moveTo>
                <a:lnTo>
                  <a:pt x="89669" y="32407"/>
                </a:lnTo>
                <a:cubicBezTo>
                  <a:pt x="80367" y="19534"/>
                  <a:pt x="65447" y="11906"/>
                  <a:pt x="49523" y="11906"/>
                </a:cubicBezTo>
                <a:cubicBezTo>
                  <a:pt x="22175" y="11906"/>
                  <a:pt x="0" y="34082"/>
                  <a:pt x="0" y="61429"/>
                </a:cubicBezTo>
                <a:lnTo>
                  <a:pt x="0" y="62396"/>
                </a:lnTo>
                <a:cubicBezTo>
                  <a:pt x="0" y="71177"/>
                  <a:pt x="2307" y="80256"/>
                  <a:pt x="6176" y="89297"/>
                </a:cubicBezTo>
                <a:lnTo>
                  <a:pt x="45616" y="89297"/>
                </a:lnTo>
                <a:cubicBezTo>
                  <a:pt x="46806" y="89297"/>
                  <a:pt x="47885" y="88590"/>
                  <a:pt x="48369" y="87474"/>
                </a:cubicBezTo>
                <a:lnTo>
                  <a:pt x="60201" y="59085"/>
                </a:lnTo>
                <a:cubicBezTo>
                  <a:pt x="61578" y="55811"/>
                  <a:pt x="64777" y="53653"/>
                  <a:pt x="68312" y="53578"/>
                </a:cubicBezTo>
                <a:cubicBezTo>
                  <a:pt x="71847" y="53504"/>
                  <a:pt x="75121" y="55587"/>
                  <a:pt x="76572" y="58824"/>
                </a:cubicBezTo>
                <a:lnTo>
                  <a:pt x="95659" y="101203"/>
                </a:lnTo>
                <a:lnTo>
                  <a:pt x="111063" y="70396"/>
                </a:lnTo>
                <a:cubicBezTo>
                  <a:pt x="112588" y="67382"/>
                  <a:pt x="115677" y="65447"/>
                  <a:pt x="119063" y="65447"/>
                </a:cubicBezTo>
                <a:cubicBezTo>
                  <a:pt x="122448" y="65447"/>
                  <a:pt x="125537" y="67345"/>
                  <a:pt x="127062" y="70396"/>
                </a:cubicBezTo>
                <a:lnTo>
                  <a:pt x="135694" y="87623"/>
                </a:lnTo>
                <a:cubicBezTo>
                  <a:pt x="136215" y="88627"/>
                  <a:pt x="137220" y="89260"/>
                  <a:pt x="138373" y="89260"/>
                </a:cubicBezTo>
                <a:lnTo>
                  <a:pt x="184361" y="89260"/>
                </a:lnTo>
                <a:cubicBezTo>
                  <a:pt x="188268" y="80218"/>
                  <a:pt x="190537" y="71140"/>
                  <a:pt x="190537" y="62359"/>
                </a:cubicBezTo>
                <a:lnTo>
                  <a:pt x="190537" y="61392"/>
                </a:lnTo>
                <a:cubicBezTo>
                  <a:pt x="190500" y="34082"/>
                  <a:pt x="168325" y="11906"/>
                  <a:pt x="140977" y="11906"/>
                </a:cubicBezTo>
                <a:cubicBezTo>
                  <a:pt x="125090" y="11906"/>
                  <a:pt x="110133" y="19534"/>
                  <a:pt x="100831" y="32407"/>
                </a:cubicBezTo>
                <a:lnTo>
                  <a:pt x="95250" y="40109"/>
                </a:lnTo>
                <a:close/>
                <a:moveTo>
                  <a:pt x="174724" y="107156"/>
                </a:moveTo>
                <a:lnTo>
                  <a:pt x="138336" y="107156"/>
                </a:lnTo>
                <a:cubicBezTo>
                  <a:pt x="130448" y="107156"/>
                  <a:pt x="123230" y="102691"/>
                  <a:pt x="119695" y="95622"/>
                </a:cubicBezTo>
                <a:lnTo>
                  <a:pt x="119063" y="94357"/>
                </a:lnTo>
                <a:lnTo>
                  <a:pt x="103250" y="126020"/>
                </a:lnTo>
                <a:cubicBezTo>
                  <a:pt x="101724" y="129108"/>
                  <a:pt x="98524" y="131043"/>
                  <a:pt x="95064" y="130969"/>
                </a:cubicBezTo>
                <a:cubicBezTo>
                  <a:pt x="91604" y="130894"/>
                  <a:pt x="88516" y="128848"/>
                  <a:pt x="87102" y="125723"/>
                </a:cubicBezTo>
                <a:lnTo>
                  <a:pt x="68759" y="84981"/>
                </a:lnTo>
                <a:lnTo>
                  <a:pt x="64852" y="94357"/>
                </a:lnTo>
                <a:cubicBezTo>
                  <a:pt x="61615" y="102133"/>
                  <a:pt x="54025" y="107193"/>
                  <a:pt x="45616" y="107193"/>
                </a:cubicBezTo>
                <a:lnTo>
                  <a:pt x="15776" y="107193"/>
                </a:lnTo>
                <a:cubicBezTo>
                  <a:pt x="33338" y="134652"/>
                  <a:pt x="61540" y="159916"/>
                  <a:pt x="79177" y="173385"/>
                </a:cubicBezTo>
                <a:cubicBezTo>
                  <a:pt x="83790" y="176882"/>
                  <a:pt x="89446" y="178631"/>
                  <a:pt x="95213" y="178631"/>
                </a:cubicBezTo>
                <a:cubicBezTo>
                  <a:pt x="100980" y="178631"/>
                  <a:pt x="106673" y="176919"/>
                  <a:pt x="111249" y="173385"/>
                </a:cubicBezTo>
                <a:cubicBezTo>
                  <a:pt x="128960" y="159879"/>
                  <a:pt x="157163" y="134615"/>
                  <a:pt x="174724" y="107156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" name="Text 5"/>
          <p:cNvSpPr/>
          <p:nvPr/>
        </p:nvSpPr>
        <p:spPr>
          <a:xfrm>
            <a:off x="1022350" y="1181102"/>
            <a:ext cx="2468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 &amp; Life Sciences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2350" y="1403352"/>
            <a:ext cx="2444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 knowledge graphs &amp; molecular discovery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8950" y="1720852"/>
            <a:ext cx="5380038" cy="738188"/>
          </a:xfrm>
          <a:custGeom>
            <a:avLst/>
            <a:gdLst/>
            <a:ahLst/>
            <a:cxnLst/>
            <a:rect l="l" t="t" r="r" b="b"/>
            <a:pathLst>
              <a:path w="5380038" h="738188">
                <a:moveTo>
                  <a:pt x="12700" y="0"/>
                </a:moveTo>
                <a:lnTo>
                  <a:pt x="5316539" y="0"/>
                </a:lnTo>
                <a:cubicBezTo>
                  <a:pt x="5351608" y="0"/>
                  <a:pt x="5380038" y="28429"/>
                  <a:pt x="5380038" y="63499"/>
                </a:cubicBezTo>
                <a:lnTo>
                  <a:pt x="5380038" y="674689"/>
                </a:lnTo>
                <a:cubicBezTo>
                  <a:pt x="5380038" y="709758"/>
                  <a:pt x="5351608" y="738188"/>
                  <a:pt x="5316539" y="738188"/>
                </a:cubicBez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88950" y="1720852"/>
            <a:ext cx="12700" cy="738188"/>
          </a:xfrm>
          <a:custGeom>
            <a:avLst/>
            <a:gdLst/>
            <a:ahLst/>
            <a:cxnLst/>
            <a:rect l="l" t="t" r="r" b="b"/>
            <a:pathLst>
              <a:path w="12700" h="738188">
                <a:moveTo>
                  <a:pt x="12700" y="0"/>
                </a:moveTo>
                <a:lnTo>
                  <a:pt x="12700" y="0"/>
                </a:lnTo>
                <a:lnTo>
                  <a:pt x="12700" y="738188"/>
                </a:ln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Shape 9"/>
          <p:cNvSpPr/>
          <p:nvPr/>
        </p:nvSpPr>
        <p:spPr>
          <a:xfrm>
            <a:off x="599480" y="1855790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945" y="10418"/>
                </a:moveTo>
                <a:cubicBezTo>
                  <a:pt x="6945" y="4666"/>
                  <a:pt x="11612" y="0"/>
                  <a:pt x="17363" y="0"/>
                </a:cubicBezTo>
                <a:lnTo>
                  <a:pt x="27781" y="0"/>
                </a:lnTo>
                <a:cubicBezTo>
                  <a:pt x="31623" y="0"/>
                  <a:pt x="34727" y="3104"/>
                  <a:pt x="34727" y="6945"/>
                </a:cubicBezTo>
                <a:cubicBezTo>
                  <a:pt x="34727" y="10787"/>
                  <a:pt x="31623" y="13891"/>
                  <a:pt x="27781" y="13891"/>
                </a:cubicBezTo>
                <a:lnTo>
                  <a:pt x="20836" y="13891"/>
                </a:lnTo>
                <a:lnTo>
                  <a:pt x="20836" y="41672"/>
                </a:lnTo>
                <a:cubicBezTo>
                  <a:pt x="20836" y="53175"/>
                  <a:pt x="30169" y="62508"/>
                  <a:pt x="41672" y="62508"/>
                </a:cubicBezTo>
                <a:cubicBezTo>
                  <a:pt x="53175" y="62508"/>
                  <a:pt x="62508" y="53175"/>
                  <a:pt x="62508" y="41672"/>
                </a:cubicBezTo>
                <a:lnTo>
                  <a:pt x="62508" y="13891"/>
                </a:lnTo>
                <a:lnTo>
                  <a:pt x="55563" y="13891"/>
                </a:lnTo>
                <a:cubicBezTo>
                  <a:pt x="51721" y="13891"/>
                  <a:pt x="48617" y="10787"/>
                  <a:pt x="48617" y="6945"/>
                </a:cubicBezTo>
                <a:cubicBezTo>
                  <a:pt x="48617" y="3104"/>
                  <a:pt x="51721" y="0"/>
                  <a:pt x="55563" y="0"/>
                </a:cubicBezTo>
                <a:lnTo>
                  <a:pt x="65980" y="0"/>
                </a:lnTo>
                <a:cubicBezTo>
                  <a:pt x="71732" y="0"/>
                  <a:pt x="76398" y="4666"/>
                  <a:pt x="76398" y="10418"/>
                </a:cubicBezTo>
                <a:lnTo>
                  <a:pt x="76398" y="41672"/>
                </a:lnTo>
                <a:cubicBezTo>
                  <a:pt x="76398" y="58471"/>
                  <a:pt x="64461" y="72492"/>
                  <a:pt x="48617" y="75704"/>
                </a:cubicBezTo>
                <a:lnTo>
                  <a:pt x="48617" y="79871"/>
                </a:lnTo>
                <a:cubicBezTo>
                  <a:pt x="48617" y="93306"/>
                  <a:pt x="59491" y="104180"/>
                  <a:pt x="72926" y="104180"/>
                </a:cubicBezTo>
                <a:cubicBezTo>
                  <a:pt x="86361" y="104180"/>
                  <a:pt x="97234" y="93306"/>
                  <a:pt x="97234" y="79871"/>
                </a:cubicBezTo>
                <a:lnTo>
                  <a:pt x="97234" y="61314"/>
                </a:lnTo>
                <a:cubicBezTo>
                  <a:pt x="89139" y="58449"/>
                  <a:pt x="83344" y="50744"/>
                  <a:pt x="83344" y="41672"/>
                </a:cubicBezTo>
                <a:cubicBezTo>
                  <a:pt x="83344" y="30169"/>
                  <a:pt x="92677" y="20836"/>
                  <a:pt x="104180" y="20836"/>
                </a:cubicBezTo>
                <a:cubicBezTo>
                  <a:pt x="115683" y="20836"/>
                  <a:pt x="125016" y="30169"/>
                  <a:pt x="125016" y="41672"/>
                </a:cubicBezTo>
                <a:cubicBezTo>
                  <a:pt x="125016" y="50744"/>
                  <a:pt x="119221" y="58471"/>
                  <a:pt x="111125" y="61314"/>
                </a:cubicBezTo>
                <a:lnTo>
                  <a:pt x="111125" y="79871"/>
                </a:lnTo>
                <a:cubicBezTo>
                  <a:pt x="111125" y="100967"/>
                  <a:pt x="94022" y="118070"/>
                  <a:pt x="72926" y="118070"/>
                </a:cubicBezTo>
                <a:cubicBezTo>
                  <a:pt x="51829" y="118070"/>
                  <a:pt x="34727" y="100967"/>
                  <a:pt x="34727" y="79871"/>
                </a:cubicBezTo>
                <a:lnTo>
                  <a:pt x="34727" y="75704"/>
                </a:lnTo>
                <a:cubicBezTo>
                  <a:pt x="18883" y="72492"/>
                  <a:pt x="6945" y="58471"/>
                  <a:pt x="6945" y="41672"/>
                </a:cubicBezTo>
                <a:lnTo>
                  <a:pt x="6945" y="10418"/>
                </a:lnTo>
                <a:close/>
                <a:moveTo>
                  <a:pt x="104180" y="48617"/>
                </a:moveTo>
                <a:cubicBezTo>
                  <a:pt x="108013" y="48617"/>
                  <a:pt x="111125" y="45505"/>
                  <a:pt x="111125" y="41672"/>
                </a:cubicBezTo>
                <a:cubicBezTo>
                  <a:pt x="111125" y="37839"/>
                  <a:pt x="108013" y="34727"/>
                  <a:pt x="104180" y="34727"/>
                </a:cubicBezTo>
                <a:cubicBezTo>
                  <a:pt x="100346" y="34727"/>
                  <a:pt x="97234" y="37839"/>
                  <a:pt x="97234" y="41672"/>
                </a:cubicBezTo>
                <a:cubicBezTo>
                  <a:pt x="97234" y="45505"/>
                  <a:pt x="100346" y="48617"/>
                  <a:pt x="104180" y="48617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2" name="Text 10"/>
          <p:cNvSpPr/>
          <p:nvPr/>
        </p:nvSpPr>
        <p:spPr>
          <a:xfrm>
            <a:off x="733425" y="1816102"/>
            <a:ext cx="5103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MedGraphRAG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0550" y="2054227"/>
            <a:ext cx="523875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Improves evidence-based medical QA safety and transparency. Integrates clinical knowledge graphs with LLMs to provide grounded, explainable diagnostic support.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8950" y="2550317"/>
            <a:ext cx="5380038" cy="738188"/>
          </a:xfrm>
          <a:custGeom>
            <a:avLst/>
            <a:gdLst/>
            <a:ahLst/>
            <a:cxnLst/>
            <a:rect l="l" t="t" r="r" b="b"/>
            <a:pathLst>
              <a:path w="5380038" h="738188">
                <a:moveTo>
                  <a:pt x="12700" y="0"/>
                </a:moveTo>
                <a:lnTo>
                  <a:pt x="5316539" y="0"/>
                </a:lnTo>
                <a:cubicBezTo>
                  <a:pt x="5351608" y="0"/>
                  <a:pt x="5380038" y="28429"/>
                  <a:pt x="5380038" y="63499"/>
                </a:cubicBezTo>
                <a:lnTo>
                  <a:pt x="5380038" y="674689"/>
                </a:lnTo>
                <a:cubicBezTo>
                  <a:pt x="5380038" y="709758"/>
                  <a:pt x="5351608" y="738188"/>
                  <a:pt x="5316539" y="738188"/>
                </a:cubicBez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88950" y="2550317"/>
            <a:ext cx="12700" cy="738188"/>
          </a:xfrm>
          <a:custGeom>
            <a:avLst/>
            <a:gdLst/>
            <a:ahLst/>
            <a:cxnLst/>
            <a:rect l="l" t="t" r="r" b="b"/>
            <a:pathLst>
              <a:path w="12700" h="738188">
                <a:moveTo>
                  <a:pt x="12700" y="0"/>
                </a:moveTo>
                <a:lnTo>
                  <a:pt x="12700" y="0"/>
                </a:lnTo>
                <a:lnTo>
                  <a:pt x="12700" y="738188"/>
                </a:ln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" name="Shape 14"/>
          <p:cNvSpPr/>
          <p:nvPr/>
        </p:nvSpPr>
        <p:spPr>
          <a:xfrm>
            <a:off x="613370" y="268525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62508" y="0"/>
                </a:moveTo>
                <a:lnTo>
                  <a:pt x="27781" y="0"/>
                </a:lnTo>
                <a:cubicBezTo>
                  <a:pt x="23940" y="0"/>
                  <a:pt x="20836" y="3104"/>
                  <a:pt x="20836" y="6945"/>
                </a:cubicBezTo>
                <a:cubicBezTo>
                  <a:pt x="20836" y="10787"/>
                  <a:pt x="23940" y="13891"/>
                  <a:pt x="27781" y="13891"/>
                </a:cubicBezTo>
                <a:lnTo>
                  <a:pt x="27781" y="46772"/>
                </a:lnTo>
                <a:lnTo>
                  <a:pt x="1628" y="92525"/>
                </a:lnTo>
                <a:cubicBezTo>
                  <a:pt x="564" y="94413"/>
                  <a:pt x="0" y="96518"/>
                  <a:pt x="0" y="98689"/>
                </a:cubicBezTo>
                <a:cubicBezTo>
                  <a:pt x="0" y="105569"/>
                  <a:pt x="5556" y="111125"/>
                  <a:pt x="12436" y="111125"/>
                </a:cubicBezTo>
                <a:lnTo>
                  <a:pt x="84798" y="111125"/>
                </a:lnTo>
                <a:cubicBezTo>
                  <a:pt x="91656" y="111125"/>
                  <a:pt x="97234" y="105569"/>
                  <a:pt x="97234" y="98689"/>
                </a:cubicBezTo>
                <a:cubicBezTo>
                  <a:pt x="97234" y="96518"/>
                  <a:pt x="96670" y="94391"/>
                  <a:pt x="95607" y="92525"/>
                </a:cubicBezTo>
                <a:lnTo>
                  <a:pt x="69453" y="46772"/>
                </a:lnTo>
                <a:lnTo>
                  <a:pt x="69453" y="13891"/>
                </a:lnTo>
                <a:cubicBezTo>
                  <a:pt x="73295" y="13891"/>
                  <a:pt x="76398" y="10787"/>
                  <a:pt x="76398" y="6945"/>
                </a:cubicBezTo>
                <a:cubicBezTo>
                  <a:pt x="76398" y="3104"/>
                  <a:pt x="73295" y="0"/>
                  <a:pt x="69453" y="0"/>
                </a:cubicBezTo>
                <a:lnTo>
                  <a:pt x="62508" y="0"/>
                </a:lnTo>
                <a:close/>
                <a:moveTo>
                  <a:pt x="41672" y="46772"/>
                </a:moveTo>
                <a:lnTo>
                  <a:pt x="41672" y="13891"/>
                </a:lnTo>
                <a:lnTo>
                  <a:pt x="55563" y="13891"/>
                </a:lnTo>
                <a:lnTo>
                  <a:pt x="55563" y="46772"/>
                </a:lnTo>
                <a:cubicBezTo>
                  <a:pt x="55563" y="49181"/>
                  <a:pt x="56192" y="51569"/>
                  <a:pt x="57386" y="53674"/>
                </a:cubicBezTo>
                <a:lnTo>
                  <a:pt x="66415" y="69453"/>
                </a:lnTo>
                <a:lnTo>
                  <a:pt x="30820" y="69453"/>
                </a:lnTo>
                <a:lnTo>
                  <a:pt x="39849" y="53674"/>
                </a:lnTo>
                <a:cubicBezTo>
                  <a:pt x="41042" y="51569"/>
                  <a:pt x="41672" y="49203"/>
                  <a:pt x="41672" y="46772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7" name="Text 15"/>
          <p:cNvSpPr/>
          <p:nvPr/>
        </p:nvSpPr>
        <p:spPr>
          <a:xfrm>
            <a:off x="733425" y="2645567"/>
            <a:ext cx="5103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GALLON Framework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0550" y="2883692"/>
            <a:ext cx="523875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Distills multimodal molecular knowledge from LLMs into GNNs for property prediction. Combines textual descriptions, visual structures, and graph topology.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8950" y="3379786"/>
            <a:ext cx="5380038" cy="738188"/>
          </a:xfrm>
          <a:custGeom>
            <a:avLst/>
            <a:gdLst/>
            <a:ahLst/>
            <a:cxnLst/>
            <a:rect l="l" t="t" r="r" b="b"/>
            <a:pathLst>
              <a:path w="5380038" h="738188">
                <a:moveTo>
                  <a:pt x="12700" y="0"/>
                </a:moveTo>
                <a:lnTo>
                  <a:pt x="5316539" y="0"/>
                </a:lnTo>
                <a:cubicBezTo>
                  <a:pt x="5351608" y="0"/>
                  <a:pt x="5380038" y="28429"/>
                  <a:pt x="5380038" y="63499"/>
                </a:cubicBezTo>
                <a:lnTo>
                  <a:pt x="5380038" y="674689"/>
                </a:lnTo>
                <a:cubicBezTo>
                  <a:pt x="5380038" y="709758"/>
                  <a:pt x="5351608" y="738188"/>
                  <a:pt x="5316539" y="738188"/>
                </a:cubicBez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88950" y="3379786"/>
            <a:ext cx="12700" cy="738188"/>
          </a:xfrm>
          <a:custGeom>
            <a:avLst/>
            <a:gdLst/>
            <a:ahLst/>
            <a:cxnLst/>
            <a:rect l="l" t="t" r="r" b="b"/>
            <a:pathLst>
              <a:path w="12700" h="738188">
                <a:moveTo>
                  <a:pt x="12700" y="0"/>
                </a:moveTo>
                <a:lnTo>
                  <a:pt x="12700" y="0"/>
                </a:lnTo>
                <a:lnTo>
                  <a:pt x="12700" y="738188"/>
                </a:ln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1" name="Shape 19"/>
          <p:cNvSpPr/>
          <p:nvPr/>
        </p:nvSpPr>
        <p:spPr>
          <a:xfrm>
            <a:off x="613370" y="351472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48617" y="1736"/>
                </a:moveTo>
                <a:cubicBezTo>
                  <a:pt x="34243" y="1736"/>
                  <a:pt x="22572" y="13407"/>
                  <a:pt x="22572" y="27781"/>
                </a:cubicBezTo>
                <a:cubicBezTo>
                  <a:pt x="22572" y="42156"/>
                  <a:pt x="34243" y="53826"/>
                  <a:pt x="48617" y="53826"/>
                </a:cubicBezTo>
                <a:cubicBezTo>
                  <a:pt x="62992" y="53826"/>
                  <a:pt x="74662" y="42156"/>
                  <a:pt x="74662" y="27781"/>
                </a:cubicBezTo>
                <a:cubicBezTo>
                  <a:pt x="74662" y="13407"/>
                  <a:pt x="62992" y="1736"/>
                  <a:pt x="48617" y="1736"/>
                </a:cubicBezTo>
                <a:close/>
                <a:moveTo>
                  <a:pt x="61640" y="69627"/>
                </a:moveTo>
                <a:cubicBezTo>
                  <a:pt x="60468" y="69518"/>
                  <a:pt x="59252" y="69453"/>
                  <a:pt x="58037" y="69453"/>
                </a:cubicBezTo>
                <a:lnTo>
                  <a:pt x="39176" y="69453"/>
                </a:lnTo>
                <a:cubicBezTo>
                  <a:pt x="37960" y="69453"/>
                  <a:pt x="36767" y="69518"/>
                  <a:pt x="35573" y="69627"/>
                </a:cubicBezTo>
                <a:lnTo>
                  <a:pt x="35573" y="84277"/>
                </a:lnTo>
                <a:cubicBezTo>
                  <a:pt x="39154" y="85927"/>
                  <a:pt x="41650" y="89551"/>
                  <a:pt x="41650" y="93740"/>
                </a:cubicBezTo>
                <a:cubicBezTo>
                  <a:pt x="41650" y="99492"/>
                  <a:pt x="36984" y="104158"/>
                  <a:pt x="31232" y="104158"/>
                </a:cubicBezTo>
                <a:cubicBezTo>
                  <a:pt x="25481" y="104158"/>
                  <a:pt x="20814" y="99492"/>
                  <a:pt x="20814" y="93740"/>
                </a:cubicBezTo>
                <a:cubicBezTo>
                  <a:pt x="20814" y="89529"/>
                  <a:pt x="23310" y="85905"/>
                  <a:pt x="26891" y="84277"/>
                </a:cubicBezTo>
                <a:lnTo>
                  <a:pt x="26891" y="71602"/>
                </a:lnTo>
                <a:cubicBezTo>
                  <a:pt x="13240" y="76615"/>
                  <a:pt x="3473" y="89768"/>
                  <a:pt x="3473" y="105178"/>
                </a:cubicBezTo>
                <a:cubicBezTo>
                  <a:pt x="3473" y="108455"/>
                  <a:pt x="6142" y="111125"/>
                  <a:pt x="9420" y="111125"/>
                </a:cubicBezTo>
                <a:lnTo>
                  <a:pt x="87793" y="111125"/>
                </a:lnTo>
                <a:cubicBezTo>
                  <a:pt x="91070" y="111125"/>
                  <a:pt x="93740" y="108455"/>
                  <a:pt x="93740" y="105178"/>
                </a:cubicBezTo>
                <a:cubicBezTo>
                  <a:pt x="93740" y="89768"/>
                  <a:pt x="83973" y="76637"/>
                  <a:pt x="70300" y="71624"/>
                </a:cubicBezTo>
                <a:lnTo>
                  <a:pt x="70300" y="79741"/>
                </a:lnTo>
                <a:cubicBezTo>
                  <a:pt x="75357" y="81521"/>
                  <a:pt x="78981" y="86361"/>
                  <a:pt x="78981" y="92025"/>
                </a:cubicBezTo>
                <a:lnTo>
                  <a:pt x="78981" y="98971"/>
                </a:lnTo>
                <a:cubicBezTo>
                  <a:pt x="78981" y="101358"/>
                  <a:pt x="77028" y="103312"/>
                  <a:pt x="74640" y="103312"/>
                </a:cubicBezTo>
                <a:cubicBezTo>
                  <a:pt x="72253" y="103312"/>
                  <a:pt x="70300" y="101358"/>
                  <a:pt x="70300" y="98971"/>
                </a:cubicBezTo>
                <a:lnTo>
                  <a:pt x="70300" y="92025"/>
                </a:lnTo>
                <a:cubicBezTo>
                  <a:pt x="70300" y="89638"/>
                  <a:pt x="68346" y="87685"/>
                  <a:pt x="65959" y="87685"/>
                </a:cubicBezTo>
                <a:cubicBezTo>
                  <a:pt x="63571" y="87685"/>
                  <a:pt x="61618" y="89638"/>
                  <a:pt x="61618" y="92025"/>
                </a:cubicBezTo>
                <a:lnTo>
                  <a:pt x="61618" y="98971"/>
                </a:lnTo>
                <a:cubicBezTo>
                  <a:pt x="61618" y="101358"/>
                  <a:pt x="59665" y="103312"/>
                  <a:pt x="57277" y="103312"/>
                </a:cubicBezTo>
                <a:cubicBezTo>
                  <a:pt x="54890" y="103312"/>
                  <a:pt x="52936" y="101358"/>
                  <a:pt x="52936" y="98971"/>
                </a:cubicBezTo>
                <a:lnTo>
                  <a:pt x="52936" y="92025"/>
                </a:lnTo>
                <a:cubicBezTo>
                  <a:pt x="52936" y="86361"/>
                  <a:pt x="56561" y="81542"/>
                  <a:pt x="61618" y="79741"/>
                </a:cubicBezTo>
                <a:lnTo>
                  <a:pt x="61618" y="69627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2" name="Text 20"/>
          <p:cNvSpPr/>
          <p:nvPr/>
        </p:nvSpPr>
        <p:spPr>
          <a:xfrm>
            <a:off x="733425" y="3475036"/>
            <a:ext cx="5103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Treatment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0550" y="3713161"/>
            <a:ext cx="523875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Combines patient relationship graphs with LLM insights for personalized treatment recommendations based on medical history and genetic markers.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5775" y="4212430"/>
            <a:ext cx="5380038" cy="514350"/>
          </a:xfrm>
          <a:custGeom>
            <a:avLst/>
            <a:gdLst/>
            <a:ahLst/>
            <a:cxnLst/>
            <a:rect l="l" t="t" r="r" b="b"/>
            <a:pathLst>
              <a:path w="5380038" h="514350">
                <a:moveTo>
                  <a:pt x="63502" y="0"/>
                </a:moveTo>
                <a:lnTo>
                  <a:pt x="5316536" y="0"/>
                </a:lnTo>
                <a:cubicBezTo>
                  <a:pt x="5351607" y="0"/>
                  <a:pt x="5380038" y="28431"/>
                  <a:pt x="5380038" y="63502"/>
                </a:cubicBezTo>
                <a:lnTo>
                  <a:pt x="5380038" y="450848"/>
                </a:lnTo>
                <a:cubicBezTo>
                  <a:pt x="5380037" y="485919"/>
                  <a:pt x="5351607" y="514350"/>
                  <a:pt x="5316536" y="514350"/>
                </a:cubicBezTo>
                <a:lnTo>
                  <a:pt x="63502" y="514350"/>
                </a:lnTo>
                <a:cubicBezTo>
                  <a:pt x="28431" y="514350"/>
                  <a:pt x="0" y="485919"/>
                  <a:pt x="0" y="4508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D166">
              <a:alpha val="10196"/>
            </a:srgbClr>
          </a:solidFill>
          <a:ln w="10160">
            <a:solidFill>
              <a:srgbClr val="FFD166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8325" y="4294986"/>
            <a:ext cx="5270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8325" y="4485486"/>
            <a:ext cx="5270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Enhanced diagnostic accuracy, accelerated drug discovery, personalized medicine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62675" y="987425"/>
            <a:ext cx="5705475" cy="3903662"/>
          </a:xfrm>
          <a:custGeom>
            <a:avLst/>
            <a:gdLst/>
            <a:ahLst/>
            <a:cxnLst/>
            <a:rect l="l" t="t" r="r" b="b"/>
            <a:pathLst>
              <a:path w="5705475" h="3903662">
                <a:moveTo>
                  <a:pt x="95249" y="0"/>
                </a:moveTo>
                <a:lnTo>
                  <a:pt x="5610226" y="0"/>
                </a:lnTo>
                <a:cubicBezTo>
                  <a:pt x="5662830" y="0"/>
                  <a:pt x="5705475" y="42645"/>
                  <a:pt x="5705475" y="95249"/>
                </a:cubicBezTo>
                <a:lnTo>
                  <a:pt x="5705475" y="3808413"/>
                </a:lnTo>
                <a:cubicBezTo>
                  <a:pt x="5705475" y="3861018"/>
                  <a:pt x="5662830" y="3903662"/>
                  <a:pt x="5610226" y="3903662"/>
                </a:cubicBezTo>
                <a:lnTo>
                  <a:pt x="95249" y="3903662"/>
                </a:lnTo>
                <a:cubicBezTo>
                  <a:pt x="42645" y="3903662"/>
                  <a:pt x="0" y="3861018"/>
                  <a:pt x="0" y="3808413"/>
                </a:cubicBezTo>
                <a:lnTo>
                  <a:pt x="0" y="95249"/>
                </a:lnTo>
                <a:cubicBezTo>
                  <a:pt x="0" y="42680"/>
                  <a:pt x="42680" y="0"/>
                  <a:pt x="95249" y="0"/>
                </a:cubicBezTo>
                <a:close/>
              </a:path>
            </a:pathLst>
          </a:custGeom>
          <a:solidFill>
            <a:srgbClr val="FFD166">
              <a:alpha val="10196"/>
            </a:srgbClr>
          </a:solidFill>
          <a:ln w="10160">
            <a:solidFill>
              <a:srgbClr val="FFD166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4600" y="1149352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FD166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451600" y="12763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30" name="Text 28"/>
          <p:cNvSpPr/>
          <p:nvPr/>
        </p:nvSpPr>
        <p:spPr>
          <a:xfrm>
            <a:off x="6864350" y="1181102"/>
            <a:ext cx="1785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Services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64350" y="1403352"/>
            <a:ext cx="1762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Fraud detection &amp; risk management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30950" y="1720852"/>
            <a:ext cx="5380038" cy="738188"/>
          </a:xfrm>
          <a:custGeom>
            <a:avLst/>
            <a:gdLst/>
            <a:ahLst/>
            <a:cxnLst/>
            <a:rect l="l" t="t" r="r" b="b"/>
            <a:pathLst>
              <a:path w="5380038" h="738188">
                <a:moveTo>
                  <a:pt x="12700" y="0"/>
                </a:moveTo>
                <a:lnTo>
                  <a:pt x="5316539" y="0"/>
                </a:lnTo>
                <a:cubicBezTo>
                  <a:pt x="5351608" y="0"/>
                  <a:pt x="5380038" y="28429"/>
                  <a:pt x="5380038" y="63499"/>
                </a:cubicBezTo>
                <a:lnTo>
                  <a:pt x="5380038" y="674689"/>
                </a:lnTo>
                <a:cubicBezTo>
                  <a:pt x="5380038" y="709758"/>
                  <a:pt x="5351608" y="738188"/>
                  <a:pt x="5316539" y="738188"/>
                </a:cubicBez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330950" y="1720852"/>
            <a:ext cx="12700" cy="738188"/>
          </a:xfrm>
          <a:custGeom>
            <a:avLst/>
            <a:gdLst/>
            <a:ahLst/>
            <a:cxnLst/>
            <a:rect l="l" t="t" r="r" b="b"/>
            <a:pathLst>
              <a:path w="12700" h="738188">
                <a:moveTo>
                  <a:pt x="12700" y="0"/>
                </a:moveTo>
                <a:lnTo>
                  <a:pt x="12700" y="0"/>
                </a:lnTo>
                <a:lnTo>
                  <a:pt x="12700" y="738188"/>
                </a:ln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34" name="Shape 32"/>
          <p:cNvSpPr/>
          <p:nvPr/>
        </p:nvSpPr>
        <p:spPr>
          <a:xfrm>
            <a:off x="6448425" y="185579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90289" y="45145"/>
                </a:moveTo>
                <a:cubicBezTo>
                  <a:pt x="90289" y="55107"/>
                  <a:pt x="87055" y="64309"/>
                  <a:pt x="81607" y="71775"/>
                </a:cubicBezTo>
                <a:lnTo>
                  <a:pt x="109085" y="99275"/>
                </a:lnTo>
                <a:cubicBezTo>
                  <a:pt x="111798" y="101988"/>
                  <a:pt x="111798" y="106394"/>
                  <a:pt x="109085" y="109107"/>
                </a:cubicBezTo>
                <a:cubicBezTo>
                  <a:pt x="106372" y="111820"/>
                  <a:pt x="101966" y="111820"/>
                  <a:pt x="99253" y="109107"/>
                </a:cubicBezTo>
                <a:lnTo>
                  <a:pt x="71775" y="81607"/>
                </a:lnTo>
                <a:cubicBezTo>
                  <a:pt x="64309" y="87055"/>
                  <a:pt x="55107" y="90289"/>
                  <a:pt x="45145" y="90289"/>
                </a:cubicBezTo>
                <a:cubicBezTo>
                  <a:pt x="20207" y="90289"/>
                  <a:pt x="0" y="70083"/>
                  <a:pt x="0" y="45145"/>
                </a:cubicBezTo>
                <a:cubicBezTo>
                  <a:pt x="0" y="20207"/>
                  <a:pt x="20207" y="0"/>
                  <a:pt x="45145" y="0"/>
                </a:cubicBezTo>
                <a:cubicBezTo>
                  <a:pt x="70083" y="0"/>
                  <a:pt x="90289" y="20207"/>
                  <a:pt x="90289" y="45145"/>
                </a:cubicBezTo>
                <a:close/>
                <a:moveTo>
                  <a:pt x="46013" y="20836"/>
                </a:moveTo>
                <a:cubicBezTo>
                  <a:pt x="43625" y="20836"/>
                  <a:pt x="41672" y="22789"/>
                  <a:pt x="41672" y="25177"/>
                </a:cubicBezTo>
                <a:lnTo>
                  <a:pt x="41672" y="26045"/>
                </a:lnTo>
                <a:cubicBezTo>
                  <a:pt x="35421" y="26110"/>
                  <a:pt x="30386" y="31189"/>
                  <a:pt x="30386" y="37440"/>
                </a:cubicBezTo>
                <a:cubicBezTo>
                  <a:pt x="30386" y="43018"/>
                  <a:pt x="34401" y="47771"/>
                  <a:pt x="39914" y="48682"/>
                </a:cubicBezTo>
                <a:lnTo>
                  <a:pt x="48964" y="50202"/>
                </a:lnTo>
                <a:cubicBezTo>
                  <a:pt x="50267" y="50419"/>
                  <a:pt x="51222" y="51547"/>
                  <a:pt x="51222" y="52871"/>
                </a:cubicBezTo>
                <a:cubicBezTo>
                  <a:pt x="51222" y="54369"/>
                  <a:pt x="50006" y="55584"/>
                  <a:pt x="48509" y="55584"/>
                </a:cubicBezTo>
                <a:lnTo>
                  <a:pt x="36463" y="55563"/>
                </a:lnTo>
                <a:cubicBezTo>
                  <a:pt x="34075" y="55563"/>
                  <a:pt x="32122" y="57516"/>
                  <a:pt x="32122" y="59903"/>
                </a:cubicBezTo>
                <a:cubicBezTo>
                  <a:pt x="32122" y="62291"/>
                  <a:pt x="34075" y="64244"/>
                  <a:pt x="36463" y="64244"/>
                </a:cubicBezTo>
                <a:lnTo>
                  <a:pt x="41672" y="64244"/>
                </a:lnTo>
                <a:lnTo>
                  <a:pt x="41672" y="65112"/>
                </a:lnTo>
                <a:cubicBezTo>
                  <a:pt x="41672" y="67500"/>
                  <a:pt x="43625" y="69453"/>
                  <a:pt x="46013" y="69453"/>
                </a:cubicBezTo>
                <a:cubicBezTo>
                  <a:pt x="48400" y="69453"/>
                  <a:pt x="50354" y="67500"/>
                  <a:pt x="50354" y="65112"/>
                </a:cubicBezTo>
                <a:lnTo>
                  <a:pt x="50354" y="64092"/>
                </a:lnTo>
                <a:cubicBezTo>
                  <a:pt x="55780" y="63202"/>
                  <a:pt x="59903" y="58514"/>
                  <a:pt x="59903" y="52849"/>
                </a:cubicBezTo>
                <a:cubicBezTo>
                  <a:pt x="59903" y="47272"/>
                  <a:pt x="55888" y="42518"/>
                  <a:pt x="50375" y="41607"/>
                </a:cubicBezTo>
                <a:lnTo>
                  <a:pt x="41325" y="40087"/>
                </a:lnTo>
                <a:cubicBezTo>
                  <a:pt x="40022" y="39870"/>
                  <a:pt x="39067" y="38742"/>
                  <a:pt x="39067" y="37418"/>
                </a:cubicBezTo>
                <a:cubicBezTo>
                  <a:pt x="39067" y="35920"/>
                  <a:pt x="40283" y="34705"/>
                  <a:pt x="41780" y="34705"/>
                </a:cubicBezTo>
                <a:lnTo>
                  <a:pt x="52090" y="34705"/>
                </a:lnTo>
                <a:cubicBezTo>
                  <a:pt x="54477" y="34705"/>
                  <a:pt x="56431" y="32751"/>
                  <a:pt x="56431" y="30364"/>
                </a:cubicBezTo>
                <a:cubicBezTo>
                  <a:pt x="56431" y="27977"/>
                  <a:pt x="54477" y="26023"/>
                  <a:pt x="52090" y="26023"/>
                </a:cubicBezTo>
                <a:lnTo>
                  <a:pt x="50354" y="26023"/>
                </a:lnTo>
                <a:lnTo>
                  <a:pt x="50354" y="25155"/>
                </a:lnTo>
                <a:cubicBezTo>
                  <a:pt x="50354" y="22768"/>
                  <a:pt x="48400" y="20814"/>
                  <a:pt x="46013" y="20814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35" name="Text 33"/>
          <p:cNvSpPr/>
          <p:nvPr/>
        </p:nvSpPr>
        <p:spPr>
          <a:xfrm>
            <a:off x="6575425" y="1816102"/>
            <a:ext cx="5103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Fraud Detection Systems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32550" y="2054227"/>
            <a:ext cx="523875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GNNs model transactional relationships to identify anomalous patterns indicating fraud. Sub-10ms inference with explainable reasoning paths.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30950" y="2550317"/>
            <a:ext cx="5380038" cy="738188"/>
          </a:xfrm>
          <a:custGeom>
            <a:avLst/>
            <a:gdLst/>
            <a:ahLst/>
            <a:cxnLst/>
            <a:rect l="l" t="t" r="r" b="b"/>
            <a:pathLst>
              <a:path w="5380038" h="738188">
                <a:moveTo>
                  <a:pt x="12700" y="0"/>
                </a:moveTo>
                <a:lnTo>
                  <a:pt x="5316539" y="0"/>
                </a:lnTo>
                <a:cubicBezTo>
                  <a:pt x="5351608" y="0"/>
                  <a:pt x="5380038" y="28429"/>
                  <a:pt x="5380038" y="63499"/>
                </a:cubicBezTo>
                <a:lnTo>
                  <a:pt x="5380038" y="674689"/>
                </a:lnTo>
                <a:cubicBezTo>
                  <a:pt x="5380038" y="709758"/>
                  <a:pt x="5351608" y="738188"/>
                  <a:pt x="5316539" y="738188"/>
                </a:cubicBez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330950" y="2550317"/>
            <a:ext cx="12700" cy="738188"/>
          </a:xfrm>
          <a:custGeom>
            <a:avLst/>
            <a:gdLst/>
            <a:ahLst/>
            <a:cxnLst/>
            <a:rect l="l" t="t" r="r" b="b"/>
            <a:pathLst>
              <a:path w="12700" h="738188">
                <a:moveTo>
                  <a:pt x="12700" y="0"/>
                </a:moveTo>
                <a:lnTo>
                  <a:pt x="12700" y="0"/>
                </a:lnTo>
                <a:lnTo>
                  <a:pt x="12700" y="738188"/>
                </a:ln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39" name="Shape 37"/>
          <p:cNvSpPr/>
          <p:nvPr/>
        </p:nvSpPr>
        <p:spPr>
          <a:xfrm>
            <a:off x="6448425" y="268525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26045" y="12154"/>
                </a:moveTo>
                <a:cubicBezTo>
                  <a:pt x="26045" y="5448"/>
                  <a:pt x="31493" y="0"/>
                  <a:pt x="38199" y="0"/>
                </a:cubicBezTo>
                <a:lnTo>
                  <a:pt x="43408" y="0"/>
                </a:lnTo>
                <a:cubicBezTo>
                  <a:pt x="47250" y="0"/>
                  <a:pt x="50354" y="3104"/>
                  <a:pt x="50354" y="6945"/>
                </a:cubicBezTo>
                <a:lnTo>
                  <a:pt x="50354" y="104180"/>
                </a:lnTo>
                <a:cubicBezTo>
                  <a:pt x="50354" y="108021"/>
                  <a:pt x="47250" y="111125"/>
                  <a:pt x="43408" y="111125"/>
                </a:cubicBezTo>
                <a:lnTo>
                  <a:pt x="36463" y="111125"/>
                </a:lnTo>
                <a:cubicBezTo>
                  <a:pt x="29995" y="111125"/>
                  <a:pt x="24547" y="106697"/>
                  <a:pt x="23006" y="100707"/>
                </a:cubicBezTo>
                <a:cubicBezTo>
                  <a:pt x="22854" y="100707"/>
                  <a:pt x="22724" y="100707"/>
                  <a:pt x="22572" y="100707"/>
                </a:cubicBezTo>
                <a:cubicBezTo>
                  <a:pt x="12979" y="100707"/>
                  <a:pt x="5209" y="92937"/>
                  <a:pt x="5209" y="83344"/>
                </a:cubicBezTo>
                <a:cubicBezTo>
                  <a:pt x="5209" y="79437"/>
                  <a:pt x="6511" y="75834"/>
                  <a:pt x="8682" y="72926"/>
                </a:cubicBezTo>
                <a:cubicBezTo>
                  <a:pt x="4471" y="69757"/>
                  <a:pt x="1736" y="64722"/>
                  <a:pt x="1736" y="59035"/>
                </a:cubicBezTo>
                <a:cubicBezTo>
                  <a:pt x="1736" y="52329"/>
                  <a:pt x="5556" y="46490"/>
                  <a:pt x="11113" y="43604"/>
                </a:cubicBezTo>
                <a:cubicBezTo>
                  <a:pt x="9572" y="40999"/>
                  <a:pt x="8682" y="37960"/>
                  <a:pt x="8682" y="34727"/>
                </a:cubicBezTo>
                <a:cubicBezTo>
                  <a:pt x="8682" y="25133"/>
                  <a:pt x="16452" y="17363"/>
                  <a:pt x="26045" y="17363"/>
                </a:cubicBezTo>
                <a:lnTo>
                  <a:pt x="26045" y="12154"/>
                </a:lnTo>
                <a:close/>
                <a:moveTo>
                  <a:pt x="85080" y="12154"/>
                </a:moveTo>
                <a:lnTo>
                  <a:pt x="85080" y="17363"/>
                </a:lnTo>
                <a:cubicBezTo>
                  <a:pt x="94673" y="17363"/>
                  <a:pt x="102443" y="25133"/>
                  <a:pt x="102443" y="34727"/>
                </a:cubicBezTo>
                <a:cubicBezTo>
                  <a:pt x="102443" y="37982"/>
                  <a:pt x="101553" y="41021"/>
                  <a:pt x="100013" y="43604"/>
                </a:cubicBezTo>
                <a:cubicBezTo>
                  <a:pt x="105590" y="46490"/>
                  <a:pt x="109389" y="52307"/>
                  <a:pt x="109389" y="59035"/>
                </a:cubicBezTo>
                <a:cubicBezTo>
                  <a:pt x="109389" y="64722"/>
                  <a:pt x="106654" y="69757"/>
                  <a:pt x="102443" y="72926"/>
                </a:cubicBezTo>
                <a:cubicBezTo>
                  <a:pt x="104614" y="75834"/>
                  <a:pt x="105916" y="79437"/>
                  <a:pt x="105916" y="83344"/>
                </a:cubicBezTo>
                <a:cubicBezTo>
                  <a:pt x="105916" y="92937"/>
                  <a:pt x="98146" y="100707"/>
                  <a:pt x="88553" y="100707"/>
                </a:cubicBezTo>
                <a:cubicBezTo>
                  <a:pt x="88401" y="100707"/>
                  <a:pt x="88271" y="100707"/>
                  <a:pt x="88119" y="100707"/>
                </a:cubicBezTo>
                <a:cubicBezTo>
                  <a:pt x="86578" y="106697"/>
                  <a:pt x="81130" y="111125"/>
                  <a:pt x="74662" y="111125"/>
                </a:cubicBezTo>
                <a:lnTo>
                  <a:pt x="67717" y="111125"/>
                </a:lnTo>
                <a:cubicBezTo>
                  <a:pt x="63875" y="111125"/>
                  <a:pt x="60771" y="108021"/>
                  <a:pt x="60771" y="104180"/>
                </a:cubicBezTo>
                <a:lnTo>
                  <a:pt x="60771" y="6945"/>
                </a:lnTo>
                <a:cubicBezTo>
                  <a:pt x="60771" y="3104"/>
                  <a:pt x="63875" y="0"/>
                  <a:pt x="67717" y="0"/>
                </a:cubicBezTo>
                <a:lnTo>
                  <a:pt x="72926" y="0"/>
                </a:lnTo>
                <a:cubicBezTo>
                  <a:pt x="79632" y="0"/>
                  <a:pt x="85080" y="5448"/>
                  <a:pt x="85080" y="12154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40" name="Text 38"/>
          <p:cNvSpPr/>
          <p:nvPr/>
        </p:nvSpPr>
        <p:spPr>
          <a:xfrm>
            <a:off x="6575425" y="2645567"/>
            <a:ext cx="5103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Contextualization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32550" y="2883692"/>
            <a:ext cx="523875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LLMs contextualize detected anomalies with descriptive analyses, enhancing alert accuracy and significantly reducing false positives.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30950" y="3379786"/>
            <a:ext cx="5380038" cy="738188"/>
          </a:xfrm>
          <a:custGeom>
            <a:avLst/>
            <a:gdLst/>
            <a:ahLst/>
            <a:cxnLst/>
            <a:rect l="l" t="t" r="r" b="b"/>
            <a:pathLst>
              <a:path w="5380038" h="738188">
                <a:moveTo>
                  <a:pt x="12700" y="0"/>
                </a:moveTo>
                <a:lnTo>
                  <a:pt x="5316539" y="0"/>
                </a:lnTo>
                <a:cubicBezTo>
                  <a:pt x="5351608" y="0"/>
                  <a:pt x="5380038" y="28429"/>
                  <a:pt x="5380038" y="63499"/>
                </a:cubicBezTo>
                <a:lnTo>
                  <a:pt x="5380038" y="674689"/>
                </a:lnTo>
                <a:cubicBezTo>
                  <a:pt x="5380038" y="709758"/>
                  <a:pt x="5351608" y="738188"/>
                  <a:pt x="5316539" y="738188"/>
                </a:cubicBez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330950" y="3379786"/>
            <a:ext cx="12700" cy="738188"/>
          </a:xfrm>
          <a:custGeom>
            <a:avLst/>
            <a:gdLst/>
            <a:ahLst/>
            <a:cxnLst/>
            <a:rect l="l" t="t" r="r" b="b"/>
            <a:pathLst>
              <a:path w="12700" h="738188">
                <a:moveTo>
                  <a:pt x="12700" y="0"/>
                </a:moveTo>
                <a:lnTo>
                  <a:pt x="12700" y="0"/>
                </a:lnTo>
                <a:lnTo>
                  <a:pt x="12700" y="738188"/>
                </a:ln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44" name="Shape 42"/>
          <p:cNvSpPr/>
          <p:nvPr/>
        </p:nvSpPr>
        <p:spPr>
          <a:xfrm>
            <a:off x="6441480" y="3514723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53826" y="19100"/>
                </a:moveTo>
                <a:lnTo>
                  <a:pt x="71189" y="19100"/>
                </a:lnTo>
                <a:lnTo>
                  <a:pt x="71189" y="29518"/>
                </a:lnTo>
                <a:lnTo>
                  <a:pt x="53826" y="29518"/>
                </a:lnTo>
                <a:lnTo>
                  <a:pt x="53826" y="19100"/>
                </a:lnTo>
                <a:close/>
                <a:moveTo>
                  <a:pt x="52090" y="6945"/>
                </a:moveTo>
                <a:cubicBezTo>
                  <a:pt x="46338" y="6945"/>
                  <a:pt x="41672" y="11612"/>
                  <a:pt x="41672" y="17363"/>
                </a:cubicBezTo>
                <a:lnTo>
                  <a:pt x="41672" y="31254"/>
                </a:lnTo>
                <a:cubicBezTo>
                  <a:pt x="41672" y="37005"/>
                  <a:pt x="46338" y="41672"/>
                  <a:pt x="52090" y="41672"/>
                </a:cubicBezTo>
                <a:lnTo>
                  <a:pt x="55563" y="41672"/>
                </a:lnTo>
                <a:lnTo>
                  <a:pt x="55563" y="48617"/>
                </a:lnTo>
                <a:lnTo>
                  <a:pt x="6945" y="48617"/>
                </a:lnTo>
                <a:cubicBezTo>
                  <a:pt x="3104" y="48617"/>
                  <a:pt x="0" y="51721"/>
                  <a:pt x="0" y="55563"/>
                </a:cubicBezTo>
                <a:cubicBezTo>
                  <a:pt x="0" y="59404"/>
                  <a:pt x="3104" y="62508"/>
                  <a:pt x="6945" y="62508"/>
                </a:cubicBezTo>
                <a:lnTo>
                  <a:pt x="27781" y="62508"/>
                </a:lnTo>
                <a:lnTo>
                  <a:pt x="27781" y="69453"/>
                </a:lnTo>
                <a:lnTo>
                  <a:pt x="24309" y="69453"/>
                </a:lnTo>
                <a:cubicBezTo>
                  <a:pt x="18557" y="69453"/>
                  <a:pt x="13891" y="74120"/>
                  <a:pt x="13891" y="79871"/>
                </a:cubicBezTo>
                <a:lnTo>
                  <a:pt x="13891" y="93762"/>
                </a:lnTo>
                <a:cubicBezTo>
                  <a:pt x="13891" y="99513"/>
                  <a:pt x="18557" y="104180"/>
                  <a:pt x="24309" y="104180"/>
                </a:cubicBezTo>
                <a:lnTo>
                  <a:pt x="45145" y="104180"/>
                </a:lnTo>
                <a:cubicBezTo>
                  <a:pt x="50896" y="104180"/>
                  <a:pt x="55563" y="99513"/>
                  <a:pt x="55563" y="93762"/>
                </a:cubicBezTo>
                <a:lnTo>
                  <a:pt x="55563" y="79871"/>
                </a:lnTo>
                <a:cubicBezTo>
                  <a:pt x="55563" y="74120"/>
                  <a:pt x="50896" y="69453"/>
                  <a:pt x="45145" y="69453"/>
                </a:cubicBezTo>
                <a:lnTo>
                  <a:pt x="41672" y="69453"/>
                </a:lnTo>
                <a:lnTo>
                  <a:pt x="41672" y="62508"/>
                </a:lnTo>
                <a:lnTo>
                  <a:pt x="83344" y="62508"/>
                </a:lnTo>
                <a:lnTo>
                  <a:pt x="83344" y="69453"/>
                </a:lnTo>
                <a:lnTo>
                  <a:pt x="79871" y="69453"/>
                </a:lnTo>
                <a:cubicBezTo>
                  <a:pt x="74120" y="69453"/>
                  <a:pt x="69453" y="74120"/>
                  <a:pt x="69453" y="79871"/>
                </a:cubicBezTo>
                <a:lnTo>
                  <a:pt x="69453" y="93762"/>
                </a:lnTo>
                <a:cubicBezTo>
                  <a:pt x="69453" y="99513"/>
                  <a:pt x="74120" y="104180"/>
                  <a:pt x="79871" y="104180"/>
                </a:cubicBezTo>
                <a:lnTo>
                  <a:pt x="100707" y="104180"/>
                </a:lnTo>
                <a:cubicBezTo>
                  <a:pt x="106459" y="104180"/>
                  <a:pt x="111125" y="99513"/>
                  <a:pt x="111125" y="93762"/>
                </a:cubicBezTo>
                <a:lnTo>
                  <a:pt x="111125" y="79871"/>
                </a:lnTo>
                <a:cubicBezTo>
                  <a:pt x="111125" y="74120"/>
                  <a:pt x="106459" y="69453"/>
                  <a:pt x="100707" y="69453"/>
                </a:cubicBezTo>
                <a:lnTo>
                  <a:pt x="97234" y="69453"/>
                </a:lnTo>
                <a:lnTo>
                  <a:pt x="97234" y="62508"/>
                </a:lnTo>
                <a:lnTo>
                  <a:pt x="118070" y="62508"/>
                </a:lnTo>
                <a:cubicBezTo>
                  <a:pt x="121912" y="62508"/>
                  <a:pt x="125016" y="59404"/>
                  <a:pt x="125016" y="55563"/>
                </a:cubicBezTo>
                <a:cubicBezTo>
                  <a:pt x="125016" y="51721"/>
                  <a:pt x="121912" y="48617"/>
                  <a:pt x="118070" y="48617"/>
                </a:cubicBezTo>
                <a:lnTo>
                  <a:pt x="69453" y="48617"/>
                </a:lnTo>
                <a:lnTo>
                  <a:pt x="69453" y="41672"/>
                </a:lnTo>
                <a:lnTo>
                  <a:pt x="72926" y="41672"/>
                </a:lnTo>
                <a:cubicBezTo>
                  <a:pt x="78677" y="41672"/>
                  <a:pt x="83344" y="37005"/>
                  <a:pt x="83344" y="31254"/>
                </a:cubicBezTo>
                <a:lnTo>
                  <a:pt x="83344" y="17363"/>
                </a:lnTo>
                <a:cubicBezTo>
                  <a:pt x="83344" y="11612"/>
                  <a:pt x="78677" y="6945"/>
                  <a:pt x="72926" y="6945"/>
                </a:cubicBezTo>
                <a:lnTo>
                  <a:pt x="52090" y="6945"/>
                </a:lnTo>
                <a:close/>
                <a:moveTo>
                  <a:pt x="97234" y="81607"/>
                </a:moveTo>
                <a:lnTo>
                  <a:pt x="98971" y="81607"/>
                </a:lnTo>
                <a:lnTo>
                  <a:pt x="98971" y="92025"/>
                </a:lnTo>
                <a:lnTo>
                  <a:pt x="81607" y="92025"/>
                </a:lnTo>
                <a:lnTo>
                  <a:pt x="81607" y="81607"/>
                </a:lnTo>
                <a:lnTo>
                  <a:pt x="97234" y="81607"/>
                </a:lnTo>
                <a:close/>
                <a:moveTo>
                  <a:pt x="41672" y="81607"/>
                </a:moveTo>
                <a:lnTo>
                  <a:pt x="43408" y="81607"/>
                </a:lnTo>
                <a:lnTo>
                  <a:pt x="43408" y="92025"/>
                </a:lnTo>
                <a:lnTo>
                  <a:pt x="26045" y="92025"/>
                </a:lnTo>
                <a:lnTo>
                  <a:pt x="26045" y="81607"/>
                </a:lnTo>
                <a:lnTo>
                  <a:pt x="41672" y="81607"/>
                </a:ln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45" name="Text 43"/>
          <p:cNvSpPr/>
          <p:nvPr/>
        </p:nvSpPr>
        <p:spPr>
          <a:xfrm>
            <a:off x="6575425" y="3475036"/>
            <a:ext cx="5103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Transaction Graphs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32550" y="3713161"/>
            <a:ext cx="523875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 money flows through chains of accounts, detecting suspicious patterns invisible to traditional rule-based systems.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27775" y="4212430"/>
            <a:ext cx="5380038" cy="514350"/>
          </a:xfrm>
          <a:custGeom>
            <a:avLst/>
            <a:gdLst/>
            <a:ahLst/>
            <a:cxnLst/>
            <a:rect l="l" t="t" r="r" b="b"/>
            <a:pathLst>
              <a:path w="5380038" h="514350">
                <a:moveTo>
                  <a:pt x="63502" y="0"/>
                </a:moveTo>
                <a:lnTo>
                  <a:pt x="5316536" y="0"/>
                </a:lnTo>
                <a:cubicBezTo>
                  <a:pt x="5351607" y="0"/>
                  <a:pt x="5380038" y="28431"/>
                  <a:pt x="5380038" y="63502"/>
                </a:cubicBezTo>
                <a:lnTo>
                  <a:pt x="5380038" y="450848"/>
                </a:lnTo>
                <a:cubicBezTo>
                  <a:pt x="5380037" y="485919"/>
                  <a:pt x="5351607" y="514350"/>
                  <a:pt x="5316536" y="514350"/>
                </a:cubicBezTo>
                <a:lnTo>
                  <a:pt x="63502" y="514350"/>
                </a:lnTo>
                <a:cubicBezTo>
                  <a:pt x="28431" y="514350"/>
                  <a:pt x="0" y="485919"/>
                  <a:pt x="0" y="4508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016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10325" y="4294986"/>
            <a:ext cx="5270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10325" y="4485486"/>
            <a:ext cx="5270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fraud prevention, explainable decisions, regulatory compliance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20675" y="5025233"/>
            <a:ext cx="5705475" cy="3752850"/>
          </a:xfrm>
          <a:custGeom>
            <a:avLst/>
            <a:gdLst/>
            <a:ahLst/>
            <a:cxnLst/>
            <a:rect l="l" t="t" r="r" b="b"/>
            <a:pathLst>
              <a:path w="5705475" h="3752850">
                <a:moveTo>
                  <a:pt x="95247" y="0"/>
                </a:moveTo>
                <a:lnTo>
                  <a:pt x="5610228" y="0"/>
                </a:lnTo>
                <a:cubicBezTo>
                  <a:pt x="5662831" y="0"/>
                  <a:pt x="5705475" y="42644"/>
                  <a:pt x="5705475" y="95247"/>
                </a:cubicBezTo>
                <a:lnTo>
                  <a:pt x="5705475" y="3657603"/>
                </a:lnTo>
                <a:cubicBezTo>
                  <a:pt x="5705475" y="3710206"/>
                  <a:pt x="5662831" y="3752850"/>
                  <a:pt x="5610228" y="3752850"/>
                </a:cubicBezTo>
                <a:lnTo>
                  <a:pt x="95247" y="3752850"/>
                </a:lnTo>
                <a:cubicBezTo>
                  <a:pt x="42644" y="3752850"/>
                  <a:pt x="0" y="3710206"/>
                  <a:pt x="0" y="365760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016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2600" y="5187156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33413" y="5314156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65484" y="130969"/>
                </a:moveTo>
                <a:lnTo>
                  <a:pt x="77391" y="130969"/>
                </a:lnTo>
                <a:cubicBezTo>
                  <a:pt x="83976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53578" y="172641"/>
                </a:lnTo>
                <a:lnTo>
                  <a:pt x="53578" y="142875"/>
                </a:lnTo>
                <a:cubicBezTo>
                  <a:pt x="53578" y="136289"/>
                  <a:pt x="58899" y="130969"/>
                  <a:pt x="65484" y="130969"/>
                </a:cubicBezTo>
                <a:close/>
                <a:moveTo>
                  <a:pt x="35719" y="41672"/>
                </a:moveTo>
                <a:cubicBezTo>
                  <a:pt x="35719" y="38398"/>
                  <a:pt x="38398" y="35719"/>
                  <a:pt x="41672" y="35719"/>
                </a:cubicBezTo>
                <a:lnTo>
                  <a:pt x="53578" y="35719"/>
                </a:lnTo>
                <a:cubicBezTo>
                  <a:pt x="56852" y="35719"/>
                  <a:pt x="59531" y="38398"/>
                  <a:pt x="59531" y="41672"/>
                </a:cubicBezTo>
                <a:lnTo>
                  <a:pt x="59531" y="53578"/>
                </a:lnTo>
                <a:cubicBezTo>
                  <a:pt x="59531" y="56852"/>
                  <a:pt x="56852" y="59531"/>
                  <a:pt x="53578" y="59531"/>
                </a:cubicBezTo>
                <a:lnTo>
                  <a:pt x="41672" y="59531"/>
                </a:lnTo>
                <a:cubicBezTo>
                  <a:pt x="38398" y="59531"/>
                  <a:pt x="35719" y="56852"/>
                  <a:pt x="35719" y="53578"/>
                </a:cubicBezTo>
                <a:lnTo>
                  <a:pt x="35719" y="41672"/>
                </a:lnTo>
                <a:close/>
                <a:moveTo>
                  <a:pt x="89297" y="35719"/>
                </a:moveTo>
                <a:lnTo>
                  <a:pt x="101203" y="35719"/>
                </a:lnTo>
                <a:cubicBezTo>
                  <a:pt x="104477" y="35719"/>
                  <a:pt x="107156" y="38398"/>
                  <a:pt x="107156" y="41672"/>
                </a:cubicBezTo>
                <a:lnTo>
                  <a:pt x="107156" y="53578"/>
                </a:lnTo>
                <a:cubicBezTo>
                  <a:pt x="107156" y="56852"/>
                  <a:pt x="104477" y="59531"/>
                  <a:pt x="101203" y="59531"/>
                </a:cubicBezTo>
                <a:lnTo>
                  <a:pt x="89297" y="59531"/>
                </a:lnTo>
                <a:cubicBezTo>
                  <a:pt x="86023" y="59531"/>
                  <a:pt x="83344" y="56852"/>
                  <a:pt x="83344" y="53578"/>
                </a:cubicBezTo>
                <a:lnTo>
                  <a:pt x="83344" y="41672"/>
                </a:lnTo>
                <a:cubicBezTo>
                  <a:pt x="83344" y="38398"/>
                  <a:pt x="86023" y="35719"/>
                  <a:pt x="89297" y="35719"/>
                </a:cubicBezTo>
                <a:close/>
                <a:moveTo>
                  <a:pt x="35719" y="89297"/>
                </a:moveTo>
                <a:cubicBezTo>
                  <a:pt x="35719" y="86023"/>
                  <a:pt x="38398" y="83344"/>
                  <a:pt x="41672" y="83344"/>
                </a:cubicBezTo>
                <a:lnTo>
                  <a:pt x="53578" y="83344"/>
                </a:lnTo>
                <a:cubicBezTo>
                  <a:pt x="56852" y="83344"/>
                  <a:pt x="59531" y="86023"/>
                  <a:pt x="59531" y="89297"/>
                </a:cubicBezTo>
                <a:lnTo>
                  <a:pt x="59531" y="101203"/>
                </a:lnTo>
                <a:cubicBezTo>
                  <a:pt x="59531" y="104477"/>
                  <a:pt x="56852" y="107156"/>
                  <a:pt x="53578" y="107156"/>
                </a:cubicBezTo>
                <a:lnTo>
                  <a:pt x="41672" y="107156"/>
                </a:lnTo>
                <a:cubicBezTo>
                  <a:pt x="38398" y="107156"/>
                  <a:pt x="35719" y="104477"/>
                  <a:pt x="35719" y="101203"/>
                </a:cubicBezTo>
                <a:lnTo>
                  <a:pt x="35719" y="89297"/>
                </a:lnTo>
                <a:close/>
                <a:moveTo>
                  <a:pt x="89297" y="83344"/>
                </a:moveTo>
                <a:lnTo>
                  <a:pt x="101203" y="83344"/>
                </a:lnTo>
                <a:cubicBezTo>
                  <a:pt x="104477" y="83344"/>
                  <a:pt x="107156" y="86023"/>
                  <a:pt x="107156" y="89297"/>
                </a:cubicBezTo>
                <a:lnTo>
                  <a:pt x="107156" y="101203"/>
                </a:lnTo>
                <a:cubicBezTo>
                  <a:pt x="107156" y="104477"/>
                  <a:pt x="104477" y="107156"/>
                  <a:pt x="101203" y="107156"/>
                </a:cubicBezTo>
                <a:lnTo>
                  <a:pt x="89297" y="107156"/>
                </a:lnTo>
                <a:cubicBezTo>
                  <a:pt x="86023" y="107156"/>
                  <a:pt x="83344" y="104477"/>
                  <a:pt x="83344" y="101203"/>
                </a:cubicBezTo>
                <a:lnTo>
                  <a:pt x="83344" y="89297"/>
                </a:lnTo>
                <a:cubicBezTo>
                  <a:pt x="83344" y="86023"/>
                  <a:pt x="86023" y="83344"/>
                  <a:pt x="89297" y="8334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3" name="Text 51"/>
          <p:cNvSpPr/>
          <p:nvPr/>
        </p:nvSpPr>
        <p:spPr>
          <a:xfrm>
            <a:off x="1022350" y="5218906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Knowledge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22350" y="5441156"/>
            <a:ext cx="2397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Organizational intelligence &amp; policy management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88950" y="5758656"/>
            <a:ext cx="5380038" cy="738188"/>
          </a:xfrm>
          <a:custGeom>
            <a:avLst/>
            <a:gdLst/>
            <a:ahLst/>
            <a:cxnLst/>
            <a:rect l="l" t="t" r="r" b="b"/>
            <a:pathLst>
              <a:path w="5380038" h="738188">
                <a:moveTo>
                  <a:pt x="12700" y="0"/>
                </a:moveTo>
                <a:lnTo>
                  <a:pt x="5316539" y="0"/>
                </a:lnTo>
                <a:cubicBezTo>
                  <a:pt x="5351608" y="0"/>
                  <a:pt x="5380038" y="28429"/>
                  <a:pt x="5380038" y="63499"/>
                </a:cubicBezTo>
                <a:lnTo>
                  <a:pt x="5380038" y="674689"/>
                </a:lnTo>
                <a:cubicBezTo>
                  <a:pt x="5380038" y="709758"/>
                  <a:pt x="5351608" y="738188"/>
                  <a:pt x="5316539" y="738188"/>
                </a:cubicBez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488950" y="5758656"/>
            <a:ext cx="12700" cy="738188"/>
          </a:xfrm>
          <a:custGeom>
            <a:avLst/>
            <a:gdLst/>
            <a:ahLst/>
            <a:cxnLst/>
            <a:rect l="l" t="t" r="r" b="b"/>
            <a:pathLst>
              <a:path w="12700" h="738188">
                <a:moveTo>
                  <a:pt x="12700" y="0"/>
                </a:moveTo>
                <a:lnTo>
                  <a:pt x="12700" y="0"/>
                </a:lnTo>
                <a:lnTo>
                  <a:pt x="12700" y="738188"/>
                </a:ln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7" name="Shape 55"/>
          <p:cNvSpPr/>
          <p:nvPr/>
        </p:nvSpPr>
        <p:spPr>
          <a:xfrm>
            <a:off x="606425" y="5893594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41672" y="13891"/>
                </a:moveTo>
                <a:cubicBezTo>
                  <a:pt x="41672" y="10049"/>
                  <a:pt x="44776" y="6945"/>
                  <a:pt x="48617" y="6945"/>
                </a:cubicBezTo>
                <a:lnTo>
                  <a:pt x="62508" y="6945"/>
                </a:lnTo>
                <a:cubicBezTo>
                  <a:pt x="66349" y="6945"/>
                  <a:pt x="69453" y="10049"/>
                  <a:pt x="69453" y="13891"/>
                </a:cubicBezTo>
                <a:lnTo>
                  <a:pt x="69453" y="27781"/>
                </a:lnTo>
                <a:cubicBezTo>
                  <a:pt x="69453" y="31623"/>
                  <a:pt x="66349" y="34727"/>
                  <a:pt x="62508" y="34727"/>
                </a:cubicBezTo>
                <a:lnTo>
                  <a:pt x="60771" y="34727"/>
                </a:lnTo>
                <a:lnTo>
                  <a:pt x="60771" y="48617"/>
                </a:lnTo>
                <a:lnTo>
                  <a:pt x="86816" y="48617"/>
                </a:lnTo>
                <a:cubicBezTo>
                  <a:pt x="95455" y="48617"/>
                  <a:pt x="102443" y="55606"/>
                  <a:pt x="102443" y="64244"/>
                </a:cubicBezTo>
                <a:lnTo>
                  <a:pt x="102443" y="76398"/>
                </a:lnTo>
                <a:lnTo>
                  <a:pt x="104180" y="76398"/>
                </a:lnTo>
                <a:cubicBezTo>
                  <a:pt x="108021" y="76398"/>
                  <a:pt x="111125" y="79502"/>
                  <a:pt x="111125" y="83344"/>
                </a:cubicBezTo>
                <a:lnTo>
                  <a:pt x="111125" y="97234"/>
                </a:lnTo>
                <a:cubicBezTo>
                  <a:pt x="111125" y="101076"/>
                  <a:pt x="108021" y="104180"/>
                  <a:pt x="104180" y="104180"/>
                </a:cubicBezTo>
                <a:lnTo>
                  <a:pt x="90289" y="104180"/>
                </a:lnTo>
                <a:cubicBezTo>
                  <a:pt x="86447" y="104180"/>
                  <a:pt x="83344" y="101076"/>
                  <a:pt x="83344" y="97234"/>
                </a:cubicBezTo>
                <a:lnTo>
                  <a:pt x="83344" y="83344"/>
                </a:lnTo>
                <a:cubicBezTo>
                  <a:pt x="83344" y="79502"/>
                  <a:pt x="86447" y="76398"/>
                  <a:pt x="90289" y="76398"/>
                </a:cubicBezTo>
                <a:lnTo>
                  <a:pt x="92025" y="76398"/>
                </a:lnTo>
                <a:lnTo>
                  <a:pt x="92025" y="64244"/>
                </a:lnTo>
                <a:cubicBezTo>
                  <a:pt x="92025" y="61357"/>
                  <a:pt x="89703" y="59035"/>
                  <a:pt x="86816" y="59035"/>
                </a:cubicBezTo>
                <a:lnTo>
                  <a:pt x="60771" y="59035"/>
                </a:lnTo>
                <a:lnTo>
                  <a:pt x="60771" y="76398"/>
                </a:lnTo>
                <a:lnTo>
                  <a:pt x="62508" y="76398"/>
                </a:lnTo>
                <a:cubicBezTo>
                  <a:pt x="66349" y="76398"/>
                  <a:pt x="69453" y="79502"/>
                  <a:pt x="69453" y="83344"/>
                </a:cubicBezTo>
                <a:lnTo>
                  <a:pt x="69453" y="97234"/>
                </a:lnTo>
                <a:cubicBezTo>
                  <a:pt x="69453" y="101076"/>
                  <a:pt x="66349" y="104180"/>
                  <a:pt x="62508" y="104180"/>
                </a:cubicBezTo>
                <a:lnTo>
                  <a:pt x="48617" y="104180"/>
                </a:lnTo>
                <a:cubicBezTo>
                  <a:pt x="44776" y="104180"/>
                  <a:pt x="41672" y="101076"/>
                  <a:pt x="41672" y="97234"/>
                </a:cubicBezTo>
                <a:lnTo>
                  <a:pt x="41672" y="83344"/>
                </a:lnTo>
                <a:cubicBezTo>
                  <a:pt x="41672" y="79502"/>
                  <a:pt x="44776" y="76398"/>
                  <a:pt x="48617" y="76398"/>
                </a:cubicBezTo>
                <a:lnTo>
                  <a:pt x="50354" y="76398"/>
                </a:lnTo>
                <a:lnTo>
                  <a:pt x="50354" y="59035"/>
                </a:lnTo>
                <a:lnTo>
                  <a:pt x="24309" y="59035"/>
                </a:lnTo>
                <a:cubicBezTo>
                  <a:pt x="21422" y="59035"/>
                  <a:pt x="19100" y="61357"/>
                  <a:pt x="19100" y="64244"/>
                </a:cubicBezTo>
                <a:lnTo>
                  <a:pt x="19100" y="76398"/>
                </a:lnTo>
                <a:lnTo>
                  <a:pt x="20836" y="76398"/>
                </a:lnTo>
                <a:cubicBezTo>
                  <a:pt x="24678" y="76398"/>
                  <a:pt x="27781" y="79502"/>
                  <a:pt x="27781" y="83344"/>
                </a:cubicBezTo>
                <a:lnTo>
                  <a:pt x="27781" y="97234"/>
                </a:lnTo>
                <a:cubicBezTo>
                  <a:pt x="27781" y="101076"/>
                  <a:pt x="24678" y="104180"/>
                  <a:pt x="20836" y="104180"/>
                </a:cubicBezTo>
                <a:lnTo>
                  <a:pt x="6945" y="104180"/>
                </a:lnTo>
                <a:cubicBezTo>
                  <a:pt x="3104" y="104180"/>
                  <a:pt x="0" y="101076"/>
                  <a:pt x="0" y="97234"/>
                </a:cubicBezTo>
                <a:lnTo>
                  <a:pt x="0" y="83344"/>
                </a:lnTo>
                <a:cubicBezTo>
                  <a:pt x="0" y="79502"/>
                  <a:pt x="3104" y="76398"/>
                  <a:pt x="6945" y="76398"/>
                </a:cubicBezTo>
                <a:lnTo>
                  <a:pt x="8682" y="76398"/>
                </a:lnTo>
                <a:lnTo>
                  <a:pt x="8682" y="64244"/>
                </a:lnTo>
                <a:cubicBezTo>
                  <a:pt x="8682" y="55606"/>
                  <a:pt x="15670" y="48617"/>
                  <a:pt x="24309" y="48617"/>
                </a:cubicBezTo>
                <a:lnTo>
                  <a:pt x="50354" y="48617"/>
                </a:lnTo>
                <a:lnTo>
                  <a:pt x="50354" y="34727"/>
                </a:lnTo>
                <a:lnTo>
                  <a:pt x="48617" y="34727"/>
                </a:lnTo>
                <a:cubicBezTo>
                  <a:pt x="44776" y="34727"/>
                  <a:pt x="41672" y="31623"/>
                  <a:pt x="41672" y="27781"/>
                </a:cubicBezTo>
                <a:lnTo>
                  <a:pt x="41672" y="13891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8" name="Text 56"/>
          <p:cNvSpPr/>
          <p:nvPr/>
        </p:nvSpPr>
        <p:spPr>
          <a:xfrm>
            <a:off x="733425" y="5853906"/>
            <a:ext cx="5103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GraphRAG for Enterprise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90550" y="6092031"/>
            <a:ext cx="523875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complex policy queries across organizational knowledge graphs. Answers questions requiring understanding of relationships between departments.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88950" y="6588125"/>
            <a:ext cx="5380038" cy="738188"/>
          </a:xfrm>
          <a:custGeom>
            <a:avLst/>
            <a:gdLst/>
            <a:ahLst/>
            <a:cxnLst/>
            <a:rect l="l" t="t" r="r" b="b"/>
            <a:pathLst>
              <a:path w="5380038" h="738188">
                <a:moveTo>
                  <a:pt x="12700" y="0"/>
                </a:moveTo>
                <a:lnTo>
                  <a:pt x="5316539" y="0"/>
                </a:lnTo>
                <a:cubicBezTo>
                  <a:pt x="5351608" y="0"/>
                  <a:pt x="5380038" y="28429"/>
                  <a:pt x="5380038" y="63499"/>
                </a:cubicBezTo>
                <a:lnTo>
                  <a:pt x="5380038" y="674689"/>
                </a:lnTo>
                <a:cubicBezTo>
                  <a:pt x="5380038" y="709758"/>
                  <a:pt x="5351608" y="738188"/>
                  <a:pt x="5316539" y="738188"/>
                </a:cubicBez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488950" y="6588125"/>
            <a:ext cx="12700" cy="738188"/>
          </a:xfrm>
          <a:custGeom>
            <a:avLst/>
            <a:gdLst/>
            <a:ahLst/>
            <a:cxnLst/>
            <a:rect l="l" t="t" r="r" b="b"/>
            <a:pathLst>
              <a:path w="12700" h="738188">
                <a:moveTo>
                  <a:pt x="12700" y="0"/>
                </a:moveTo>
                <a:lnTo>
                  <a:pt x="12700" y="0"/>
                </a:lnTo>
                <a:lnTo>
                  <a:pt x="12700" y="738188"/>
                </a:ln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2" name="Shape 60"/>
          <p:cNvSpPr/>
          <p:nvPr/>
        </p:nvSpPr>
        <p:spPr>
          <a:xfrm>
            <a:off x="606425" y="6723063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55563" y="38199"/>
                </a:moveTo>
                <a:cubicBezTo>
                  <a:pt x="51721" y="38199"/>
                  <a:pt x="48617" y="41303"/>
                  <a:pt x="48617" y="45145"/>
                </a:cubicBezTo>
                <a:cubicBezTo>
                  <a:pt x="48617" y="48031"/>
                  <a:pt x="46295" y="50354"/>
                  <a:pt x="43408" y="50354"/>
                </a:cubicBezTo>
                <a:cubicBezTo>
                  <a:pt x="40522" y="50354"/>
                  <a:pt x="38199" y="48031"/>
                  <a:pt x="38199" y="45145"/>
                </a:cubicBezTo>
                <a:cubicBezTo>
                  <a:pt x="38199" y="35551"/>
                  <a:pt x="45969" y="27781"/>
                  <a:pt x="55563" y="27781"/>
                </a:cubicBezTo>
                <a:cubicBezTo>
                  <a:pt x="65156" y="27781"/>
                  <a:pt x="72926" y="35551"/>
                  <a:pt x="72926" y="45145"/>
                </a:cubicBezTo>
                <a:cubicBezTo>
                  <a:pt x="72926" y="55389"/>
                  <a:pt x="65112" y="59730"/>
                  <a:pt x="60771" y="61314"/>
                </a:cubicBezTo>
                <a:lnTo>
                  <a:pt x="60771" y="62139"/>
                </a:lnTo>
                <a:cubicBezTo>
                  <a:pt x="60771" y="65025"/>
                  <a:pt x="58449" y="67348"/>
                  <a:pt x="55563" y="67348"/>
                </a:cubicBezTo>
                <a:cubicBezTo>
                  <a:pt x="52676" y="67348"/>
                  <a:pt x="50354" y="65025"/>
                  <a:pt x="50354" y="62139"/>
                </a:cubicBezTo>
                <a:lnTo>
                  <a:pt x="50354" y="60381"/>
                </a:lnTo>
                <a:cubicBezTo>
                  <a:pt x="50354" y="55931"/>
                  <a:pt x="53566" y="52741"/>
                  <a:pt x="56886" y="51656"/>
                </a:cubicBezTo>
                <a:cubicBezTo>
                  <a:pt x="58276" y="51200"/>
                  <a:pt x="59751" y="50462"/>
                  <a:pt x="60837" y="49420"/>
                </a:cubicBezTo>
                <a:cubicBezTo>
                  <a:pt x="61770" y="48509"/>
                  <a:pt x="62508" y="47250"/>
                  <a:pt x="62508" y="45166"/>
                </a:cubicBezTo>
                <a:cubicBezTo>
                  <a:pt x="62508" y="41325"/>
                  <a:pt x="59404" y="38221"/>
                  <a:pt x="55563" y="38221"/>
                </a:cubicBezTo>
                <a:close/>
                <a:moveTo>
                  <a:pt x="48617" y="79871"/>
                </a:moveTo>
                <a:cubicBezTo>
                  <a:pt x="48617" y="76038"/>
                  <a:pt x="51729" y="72926"/>
                  <a:pt x="55563" y="72926"/>
                </a:cubicBezTo>
                <a:cubicBezTo>
                  <a:pt x="59396" y="72926"/>
                  <a:pt x="62508" y="76038"/>
                  <a:pt x="62508" y="79871"/>
                </a:cubicBezTo>
                <a:cubicBezTo>
                  <a:pt x="62508" y="83704"/>
                  <a:pt x="59396" y="86816"/>
                  <a:pt x="55563" y="86816"/>
                </a:cubicBezTo>
                <a:cubicBezTo>
                  <a:pt x="51729" y="86816"/>
                  <a:pt x="48617" y="83704"/>
                  <a:pt x="48617" y="7987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3" name="Text 61"/>
          <p:cNvSpPr/>
          <p:nvPr/>
        </p:nvSpPr>
        <p:spPr>
          <a:xfrm>
            <a:off x="733425" y="6683375"/>
            <a:ext cx="5103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 Query Example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90550" y="6921500"/>
            <a:ext cx="523875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"Do we have special leave policies for cross-department projects?" — combines textual policy retrieval with graph-based relationship analysis.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85775" y="8097441"/>
            <a:ext cx="5380038" cy="514350"/>
          </a:xfrm>
          <a:custGeom>
            <a:avLst/>
            <a:gdLst/>
            <a:ahLst/>
            <a:cxnLst/>
            <a:rect l="l" t="t" r="r" b="b"/>
            <a:pathLst>
              <a:path w="5380038" h="514350">
                <a:moveTo>
                  <a:pt x="63502" y="0"/>
                </a:moveTo>
                <a:lnTo>
                  <a:pt x="5316536" y="0"/>
                </a:lnTo>
                <a:cubicBezTo>
                  <a:pt x="5351607" y="0"/>
                  <a:pt x="5380038" y="28431"/>
                  <a:pt x="5380038" y="63502"/>
                </a:cubicBezTo>
                <a:lnTo>
                  <a:pt x="5380038" y="450848"/>
                </a:lnTo>
                <a:cubicBezTo>
                  <a:pt x="5380037" y="485919"/>
                  <a:pt x="5351607" y="514350"/>
                  <a:pt x="5316536" y="514350"/>
                </a:cubicBezTo>
                <a:lnTo>
                  <a:pt x="63502" y="514350"/>
                </a:lnTo>
                <a:cubicBezTo>
                  <a:pt x="28431" y="514350"/>
                  <a:pt x="0" y="485919"/>
                  <a:pt x="0" y="4508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D166">
              <a:alpha val="10196"/>
            </a:srgbClr>
          </a:solidFill>
          <a:ln w="10160">
            <a:solidFill>
              <a:srgbClr val="FFD166">
                <a:alpha val="30196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68325" y="8179989"/>
            <a:ext cx="5270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568325" y="8370489"/>
            <a:ext cx="5270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 employee self-service, policy compliance, knowledge accessibility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162675" y="5025233"/>
            <a:ext cx="5705475" cy="3752850"/>
          </a:xfrm>
          <a:custGeom>
            <a:avLst/>
            <a:gdLst/>
            <a:ahLst/>
            <a:cxnLst/>
            <a:rect l="l" t="t" r="r" b="b"/>
            <a:pathLst>
              <a:path w="5705475" h="3752850">
                <a:moveTo>
                  <a:pt x="95247" y="0"/>
                </a:moveTo>
                <a:lnTo>
                  <a:pt x="5610228" y="0"/>
                </a:lnTo>
                <a:cubicBezTo>
                  <a:pt x="5662831" y="0"/>
                  <a:pt x="5705475" y="42644"/>
                  <a:pt x="5705475" y="95247"/>
                </a:cubicBezTo>
                <a:lnTo>
                  <a:pt x="5705475" y="3657603"/>
                </a:lnTo>
                <a:cubicBezTo>
                  <a:pt x="5705475" y="3710206"/>
                  <a:pt x="5662831" y="3752850"/>
                  <a:pt x="5610228" y="3752850"/>
                </a:cubicBezTo>
                <a:lnTo>
                  <a:pt x="95247" y="3752850"/>
                </a:lnTo>
                <a:cubicBezTo>
                  <a:pt x="42644" y="3752850"/>
                  <a:pt x="0" y="3710206"/>
                  <a:pt x="0" y="365760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FFD166">
              <a:alpha val="10196"/>
            </a:srgbClr>
          </a:solidFill>
          <a:ln w="10160">
            <a:solidFill>
              <a:srgbClr val="FFD166">
                <a:alpha val="30196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324600" y="5187156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FD166">
              <a:alpha val="2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6451600" y="531415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9766" y="59531"/>
                </a:moveTo>
                <a:cubicBezTo>
                  <a:pt x="36351" y="59531"/>
                  <a:pt x="41672" y="64852"/>
                  <a:pt x="41672" y="71438"/>
                </a:cubicBezTo>
                <a:lnTo>
                  <a:pt x="41672" y="166688"/>
                </a:lnTo>
                <a:cubicBezTo>
                  <a:pt x="41672" y="173273"/>
                  <a:pt x="36351" y="178594"/>
                  <a:pt x="29766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71438"/>
                </a:lnTo>
                <a:cubicBezTo>
                  <a:pt x="0" y="64852"/>
                  <a:pt x="5321" y="59531"/>
                  <a:pt x="11906" y="59531"/>
                </a:cubicBezTo>
                <a:lnTo>
                  <a:pt x="29766" y="59531"/>
                </a:lnTo>
                <a:close/>
                <a:moveTo>
                  <a:pt x="100682" y="5953"/>
                </a:moveTo>
                <a:cubicBezTo>
                  <a:pt x="110840" y="5953"/>
                  <a:pt x="119063" y="14176"/>
                  <a:pt x="119063" y="24333"/>
                </a:cubicBezTo>
                <a:lnTo>
                  <a:pt x="119063" y="25896"/>
                </a:lnTo>
                <a:cubicBezTo>
                  <a:pt x="119063" y="28426"/>
                  <a:pt x="118579" y="30956"/>
                  <a:pt x="117649" y="33300"/>
                </a:cubicBezTo>
                <a:lnTo>
                  <a:pt x="107156" y="59531"/>
                </a:lnTo>
                <a:lnTo>
                  <a:pt x="166688" y="59531"/>
                </a:lnTo>
                <a:cubicBezTo>
                  <a:pt x="176547" y="59531"/>
                  <a:pt x="184547" y="67531"/>
                  <a:pt x="184547" y="77391"/>
                </a:cubicBezTo>
                <a:cubicBezTo>
                  <a:pt x="184547" y="84720"/>
                  <a:pt x="180119" y="91008"/>
                  <a:pt x="173794" y="93762"/>
                </a:cubicBezTo>
                <a:cubicBezTo>
                  <a:pt x="180119" y="96515"/>
                  <a:pt x="184547" y="102803"/>
                  <a:pt x="184547" y="110133"/>
                </a:cubicBezTo>
                <a:cubicBezTo>
                  <a:pt x="184547" y="118839"/>
                  <a:pt x="178296" y="126095"/>
                  <a:pt x="170036" y="127657"/>
                </a:cubicBezTo>
                <a:cubicBezTo>
                  <a:pt x="171673" y="130373"/>
                  <a:pt x="172641" y="133536"/>
                  <a:pt x="172641" y="136922"/>
                </a:cubicBezTo>
                <a:cubicBezTo>
                  <a:pt x="172641" y="145182"/>
                  <a:pt x="167060" y="152102"/>
                  <a:pt x="159469" y="154149"/>
                </a:cubicBezTo>
                <a:cubicBezTo>
                  <a:pt x="160288" y="156195"/>
                  <a:pt x="160734" y="158428"/>
                  <a:pt x="160734" y="160734"/>
                </a:cubicBezTo>
                <a:cubicBezTo>
                  <a:pt x="160734" y="170594"/>
                  <a:pt x="152735" y="178594"/>
                  <a:pt x="142875" y="178594"/>
                </a:cubicBezTo>
                <a:lnTo>
                  <a:pt x="110170" y="178594"/>
                </a:lnTo>
                <a:cubicBezTo>
                  <a:pt x="96664" y="178594"/>
                  <a:pt x="83530" y="173980"/>
                  <a:pt x="73000" y="165534"/>
                </a:cubicBezTo>
                <a:lnTo>
                  <a:pt x="68461" y="161925"/>
                </a:lnTo>
                <a:cubicBezTo>
                  <a:pt x="62805" y="157423"/>
                  <a:pt x="59531" y="150577"/>
                  <a:pt x="59531" y="143321"/>
                </a:cubicBezTo>
                <a:lnTo>
                  <a:pt x="59531" y="73893"/>
                </a:lnTo>
                <a:cubicBezTo>
                  <a:pt x="59531" y="68349"/>
                  <a:pt x="60833" y="62880"/>
                  <a:pt x="63289" y="57931"/>
                </a:cubicBezTo>
                <a:lnTo>
                  <a:pt x="84200" y="16111"/>
                </a:lnTo>
                <a:cubicBezTo>
                  <a:pt x="87325" y="9897"/>
                  <a:pt x="93687" y="5953"/>
                  <a:pt x="100682" y="5953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71" name="Text 69"/>
          <p:cNvSpPr/>
          <p:nvPr/>
        </p:nvSpPr>
        <p:spPr>
          <a:xfrm>
            <a:off x="6864350" y="5218906"/>
            <a:ext cx="1960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 Systems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864350" y="5441156"/>
            <a:ext cx="1936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Personalization at scale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330950" y="5758656"/>
            <a:ext cx="5380038" cy="738188"/>
          </a:xfrm>
          <a:custGeom>
            <a:avLst/>
            <a:gdLst/>
            <a:ahLst/>
            <a:cxnLst/>
            <a:rect l="l" t="t" r="r" b="b"/>
            <a:pathLst>
              <a:path w="5380038" h="738188">
                <a:moveTo>
                  <a:pt x="12700" y="0"/>
                </a:moveTo>
                <a:lnTo>
                  <a:pt x="5316539" y="0"/>
                </a:lnTo>
                <a:cubicBezTo>
                  <a:pt x="5351608" y="0"/>
                  <a:pt x="5380038" y="28429"/>
                  <a:pt x="5380038" y="63499"/>
                </a:cubicBezTo>
                <a:lnTo>
                  <a:pt x="5380038" y="674689"/>
                </a:lnTo>
                <a:cubicBezTo>
                  <a:pt x="5380038" y="709758"/>
                  <a:pt x="5351608" y="738188"/>
                  <a:pt x="5316539" y="738188"/>
                </a:cubicBez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6330950" y="5758656"/>
            <a:ext cx="12700" cy="738188"/>
          </a:xfrm>
          <a:custGeom>
            <a:avLst/>
            <a:gdLst/>
            <a:ahLst/>
            <a:cxnLst/>
            <a:rect l="l" t="t" r="r" b="b"/>
            <a:pathLst>
              <a:path w="12700" h="738188">
                <a:moveTo>
                  <a:pt x="12700" y="0"/>
                </a:moveTo>
                <a:lnTo>
                  <a:pt x="12700" y="0"/>
                </a:lnTo>
                <a:lnTo>
                  <a:pt x="12700" y="738188"/>
                </a:ln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75" name="Shape 73"/>
          <p:cNvSpPr/>
          <p:nvPr/>
        </p:nvSpPr>
        <p:spPr>
          <a:xfrm>
            <a:off x="6448425" y="5893594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3891" y="13891"/>
                </a:moveTo>
                <a:cubicBezTo>
                  <a:pt x="13891" y="10049"/>
                  <a:pt x="10787" y="6945"/>
                  <a:pt x="6945" y="6945"/>
                </a:cubicBezTo>
                <a:cubicBezTo>
                  <a:pt x="3104" y="6945"/>
                  <a:pt x="0" y="10049"/>
                  <a:pt x="0" y="13891"/>
                </a:cubicBezTo>
                <a:lnTo>
                  <a:pt x="0" y="86816"/>
                </a:lnTo>
                <a:cubicBezTo>
                  <a:pt x="0" y="96410"/>
                  <a:pt x="7770" y="104180"/>
                  <a:pt x="17363" y="104180"/>
                </a:cubicBezTo>
                <a:lnTo>
                  <a:pt x="104180" y="104180"/>
                </a:lnTo>
                <a:cubicBezTo>
                  <a:pt x="108021" y="104180"/>
                  <a:pt x="111125" y="101076"/>
                  <a:pt x="111125" y="97234"/>
                </a:cubicBezTo>
                <a:cubicBezTo>
                  <a:pt x="111125" y="93393"/>
                  <a:pt x="108021" y="90289"/>
                  <a:pt x="104180" y="90289"/>
                </a:cubicBezTo>
                <a:lnTo>
                  <a:pt x="17363" y="90289"/>
                </a:lnTo>
                <a:cubicBezTo>
                  <a:pt x="15453" y="90289"/>
                  <a:pt x="13891" y="88726"/>
                  <a:pt x="13891" y="86816"/>
                </a:cubicBezTo>
                <a:lnTo>
                  <a:pt x="13891" y="13891"/>
                </a:lnTo>
                <a:close/>
                <a:moveTo>
                  <a:pt x="102140" y="32686"/>
                </a:moveTo>
                <a:cubicBezTo>
                  <a:pt x="104853" y="29973"/>
                  <a:pt x="104853" y="25567"/>
                  <a:pt x="102140" y="22854"/>
                </a:cubicBezTo>
                <a:cubicBezTo>
                  <a:pt x="99426" y="20141"/>
                  <a:pt x="95021" y="20141"/>
                  <a:pt x="92308" y="22854"/>
                </a:cubicBezTo>
                <a:lnTo>
                  <a:pt x="69453" y="45731"/>
                </a:lnTo>
                <a:lnTo>
                  <a:pt x="56995" y="33294"/>
                </a:lnTo>
                <a:cubicBezTo>
                  <a:pt x="54282" y="30581"/>
                  <a:pt x="49876" y="30581"/>
                  <a:pt x="47163" y="33294"/>
                </a:cubicBezTo>
                <a:lnTo>
                  <a:pt x="26327" y="54130"/>
                </a:lnTo>
                <a:cubicBezTo>
                  <a:pt x="23614" y="56843"/>
                  <a:pt x="23614" y="61249"/>
                  <a:pt x="26327" y="63962"/>
                </a:cubicBezTo>
                <a:cubicBezTo>
                  <a:pt x="29040" y="66675"/>
                  <a:pt x="33446" y="66675"/>
                  <a:pt x="36159" y="63962"/>
                </a:cubicBezTo>
                <a:lnTo>
                  <a:pt x="52090" y="48031"/>
                </a:lnTo>
                <a:lnTo>
                  <a:pt x="64548" y="60489"/>
                </a:lnTo>
                <a:cubicBezTo>
                  <a:pt x="67261" y="63202"/>
                  <a:pt x="71667" y="63202"/>
                  <a:pt x="74380" y="60489"/>
                </a:cubicBezTo>
                <a:lnTo>
                  <a:pt x="102161" y="32708"/>
                </a:ln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76" name="Text 74"/>
          <p:cNvSpPr/>
          <p:nvPr/>
        </p:nvSpPr>
        <p:spPr>
          <a:xfrm>
            <a:off x="6575425" y="5853906"/>
            <a:ext cx="5103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Pinterest Success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432550" y="6092031"/>
            <a:ext cx="523875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Achieved </a:t>
            </a:r>
            <a:pPr>
              <a:lnSpc>
                <a:spcPct val="110000"/>
              </a:lnSpc>
            </a:pPr>
            <a:r>
              <a:rPr lang="en-US" sz="875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 improvement</a:t>
            </a:r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recommendation accuracy by embedding graph-derived context into LLM prompts.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330950" y="6588125"/>
            <a:ext cx="5380038" cy="579438"/>
          </a:xfrm>
          <a:custGeom>
            <a:avLst/>
            <a:gdLst/>
            <a:ahLst/>
            <a:cxnLst/>
            <a:rect l="l" t="t" r="r" b="b"/>
            <a:pathLst>
              <a:path w="5380038" h="579438">
                <a:moveTo>
                  <a:pt x="12700" y="0"/>
                </a:moveTo>
                <a:lnTo>
                  <a:pt x="5316537" y="0"/>
                </a:lnTo>
                <a:cubicBezTo>
                  <a:pt x="5351607" y="0"/>
                  <a:pt x="5380037" y="28430"/>
                  <a:pt x="5380037" y="63501"/>
                </a:cubicBezTo>
                <a:lnTo>
                  <a:pt x="5380038" y="515937"/>
                </a:lnTo>
                <a:cubicBezTo>
                  <a:pt x="5380037" y="551007"/>
                  <a:pt x="5351607" y="579437"/>
                  <a:pt x="5316537" y="579438"/>
                </a:cubicBezTo>
                <a:lnTo>
                  <a:pt x="12700" y="579438"/>
                </a:lnTo>
                <a:cubicBezTo>
                  <a:pt x="5691" y="579438"/>
                  <a:pt x="0" y="573747"/>
                  <a:pt x="0" y="56673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6330950" y="6588125"/>
            <a:ext cx="12700" cy="579438"/>
          </a:xfrm>
          <a:custGeom>
            <a:avLst/>
            <a:gdLst/>
            <a:ahLst/>
            <a:cxnLst/>
            <a:rect l="l" t="t" r="r" b="b"/>
            <a:pathLst>
              <a:path w="12700" h="579438">
                <a:moveTo>
                  <a:pt x="12700" y="0"/>
                </a:moveTo>
                <a:lnTo>
                  <a:pt x="12700" y="0"/>
                </a:lnTo>
                <a:lnTo>
                  <a:pt x="12700" y="579438"/>
                </a:lnTo>
                <a:lnTo>
                  <a:pt x="12700" y="579438"/>
                </a:lnTo>
                <a:cubicBezTo>
                  <a:pt x="5691" y="579438"/>
                  <a:pt x="0" y="573747"/>
                  <a:pt x="0" y="56673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80" name="Shape 78"/>
          <p:cNvSpPr/>
          <p:nvPr/>
        </p:nvSpPr>
        <p:spPr>
          <a:xfrm>
            <a:off x="6448425" y="6723063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27781" y="69453"/>
                </a:moveTo>
                <a:lnTo>
                  <a:pt x="5318" y="69453"/>
                </a:lnTo>
                <a:cubicBezTo>
                  <a:pt x="-87" y="69453"/>
                  <a:pt x="-3408" y="63571"/>
                  <a:pt x="-629" y="58927"/>
                </a:cubicBezTo>
                <a:lnTo>
                  <a:pt x="10852" y="39784"/>
                </a:lnTo>
                <a:cubicBezTo>
                  <a:pt x="12740" y="36637"/>
                  <a:pt x="16126" y="34727"/>
                  <a:pt x="19794" y="34727"/>
                </a:cubicBezTo>
                <a:lnTo>
                  <a:pt x="40413" y="34727"/>
                </a:lnTo>
                <a:cubicBezTo>
                  <a:pt x="56930" y="6750"/>
                  <a:pt x="81564" y="5339"/>
                  <a:pt x="98037" y="7748"/>
                </a:cubicBezTo>
                <a:cubicBezTo>
                  <a:pt x="100816" y="8161"/>
                  <a:pt x="102986" y="10331"/>
                  <a:pt x="103377" y="13088"/>
                </a:cubicBezTo>
                <a:cubicBezTo>
                  <a:pt x="105786" y="29561"/>
                  <a:pt x="104375" y="54195"/>
                  <a:pt x="76398" y="70712"/>
                </a:cubicBezTo>
                <a:lnTo>
                  <a:pt x="76398" y="91331"/>
                </a:lnTo>
                <a:cubicBezTo>
                  <a:pt x="76398" y="94999"/>
                  <a:pt x="74488" y="98385"/>
                  <a:pt x="71341" y="100273"/>
                </a:cubicBezTo>
                <a:lnTo>
                  <a:pt x="52198" y="111754"/>
                </a:lnTo>
                <a:cubicBezTo>
                  <a:pt x="47575" y="114533"/>
                  <a:pt x="41672" y="111190"/>
                  <a:pt x="41672" y="105807"/>
                </a:cubicBezTo>
                <a:lnTo>
                  <a:pt x="41672" y="83344"/>
                </a:lnTo>
                <a:cubicBezTo>
                  <a:pt x="41672" y="75682"/>
                  <a:pt x="35443" y="69453"/>
                  <a:pt x="27781" y="69453"/>
                </a:cubicBezTo>
                <a:lnTo>
                  <a:pt x="27760" y="69453"/>
                </a:lnTo>
                <a:close/>
                <a:moveTo>
                  <a:pt x="86816" y="34727"/>
                </a:moveTo>
                <a:cubicBezTo>
                  <a:pt x="86816" y="28977"/>
                  <a:pt x="82148" y="24309"/>
                  <a:pt x="76398" y="24309"/>
                </a:cubicBezTo>
                <a:cubicBezTo>
                  <a:pt x="70649" y="24309"/>
                  <a:pt x="65980" y="28977"/>
                  <a:pt x="65980" y="34727"/>
                </a:cubicBezTo>
                <a:cubicBezTo>
                  <a:pt x="65980" y="40476"/>
                  <a:pt x="70649" y="45145"/>
                  <a:pt x="76398" y="45145"/>
                </a:cubicBezTo>
                <a:cubicBezTo>
                  <a:pt x="82148" y="45145"/>
                  <a:pt x="86816" y="40476"/>
                  <a:pt x="86816" y="34727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81" name="Text 79"/>
          <p:cNvSpPr/>
          <p:nvPr/>
        </p:nvSpPr>
        <p:spPr>
          <a:xfrm>
            <a:off x="6575425" y="6683375"/>
            <a:ext cx="5103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Alibaba Performance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6432550" y="6921500"/>
            <a:ext cx="5238750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Achieved </a:t>
            </a:r>
            <a:pPr>
              <a:lnSpc>
                <a:spcPct val="110000"/>
              </a:lnSpc>
            </a:pPr>
            <a:r>
              <a:rPr lang="en-US" sz="875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3× query performance increase</a:t>
            </a:r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GNN-generated embeddings for product recommendations.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330950" y="7264797"/>
            <a:ext cx="5380038" cy="738188"/>
          </a:xfrm>
          <a:custGeom>
            <a:avLst/>
            <a:gdLst/>
            <a:ahLst/>
            <a:cxnLst/>
            <a:rect l="l" t="t" r="r" b="b"/>
            <a:pathLst>
              <a:path w="5380038" h="738188">
                <a:moveTo>
                  <a:pt x="12700" y="0"/>
                </a:moveTo>
                <a:lnTo>
                  <a:pt x="5316539" y="0"/>
                </a:lnTo>
                <a:cubicBezTo>
                  <a:pt x="5351608" y="0"/>
                  <a:pt x="5380038" y="28429"/>
                  <a:pt x="5380038" y="63499"/>
                </a:cubicBezTo>
                <a:lnTo>
                  <a:pt x="5380038" y="674689"/>
                </a:lnTo>
                <a:cubicBezTo>
                  <a:pt x="5380038" y="709758"/>
                  <a:pt x="5351608" y="738188"/>
                  <a:pt x="5316539" y="738188"/>
                </a:cubicBez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6330950" y="7264797"/>
            <a:ext cx="12700" cy="738188"/>
          </a:xfrm>
          <a:custGeom>
            <a:avLst/>
            <a:gdLst/>
            <a:ahLst/>
            <a:cxnLst/>
            <a:rect l="l" t="t" r="r" b="b"/>
            <a:pathLst>
              <a:path w="12700" h="738188">
                <a:moveTo>
                  <a:pt x="12700" y="0"/>
                </a:moveTo>
                <a:lnTo>
                  <a:pt x="12700" y="0"/>
                </a:lnTo>
                <a:lnTo>
                  <a:pt x="12700" y="738188"/>
                </a:ln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85" name="Shape 83"/>
          <p:cNvSpPr/>
          <p:nvPr/>
        </p:nvSpPr>
        <p:spPr>
          <a:xfrm>
            <a:off x="6441480" y="7399734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83344" y="31254"/>
                </a:moveTo>
                <a:cubicBezTo>
                  <a:pt x="83344" y="52350"/>
                  <a:pt x="64678" y="69453"/>
                  <a:pt x="41672" y="69453"/>
                </a:cubicBezTo>
                <a:cubicBezTo>
                  <a:pt x="35877" y="69453"/>
                  <a:pt x="30364" y="68368"/>
                  <a:pt x="25350" y="66415"/>
                </a:cubicBezTo>
                <a:lnTo>
                  <a:pt x="7640" y="75791"/>
                </a:lnTo>
                <a:cubicBezTo>
                  <a:pt x="5621" y="76854"/>
                  <a:pt x="3147" y="76485"/>
                  <a:pt x="1519" y="74879"/>
                </a:cubicBezTo>
                <a:cubicBezTo>
                  <a:pt x="-109" y="73273"/>
                  <a:pt x="-477" y="70777"/>
                  <a:pt x="608" y="68759"/>
                </a:cubicBezTo>
                <a:lnTo>
                  <a:pt x="8334" y="54173"/>
                </a:lnTo>
                <a:cubicBezTo>
                  <a:pt x="3104" y="47792"/>
                  <a:pt x="0" y="39849"/>
                  <a:pt x="0" y="31254"/>
                </a:cubicBezTo>
                <a:cubicBezTo>
                  <a:pt x="0" y="10158"/>
                  <a:pt x="18666" y="-6945"/>
                  <a:pt x="41672" y="-6945"/>
                </a:cubicBezTo>
                <a:cubicBezTo>
                  <a:pt x="64678" y="-6945"/>
                  <a:pt x="83344" y="10158"/>
                  <a:pt x="83344" y="31254"/>
                </a:cubicBezTo>
                <a:close/>
                <a:moveTo>
                  <a:pt x="83344" y="111125"/>
                </a:moveTo>
                <a:cubicBezTo>
                  <a:pt x="62920" y="111125"/>
                  <a:pt x="45926" y="97647"/>
                  <a:pt x="42366" y="79871"/>
                </a:cubicBezTo>
                <a:cubicBezTo>
                  <a:pt x="68411" y="79546"/>
                  <a:pt x="91049" y="61010"/>
                  <a:pt x="93545" y="35877"/>
                </a:cubicBezTo>
                <a:cubicBezTo>
                  <a:pt x="111624" y="40044"/>
                  <a:pt x="125016" y="55042"/>
                  <a:pt x="125016" y="72926"/>
                </a:cubicBezTo>
                <a:cubicBezTo>
                  <a:pt x="125016" y="81521"/>
                  <a:pt x="121912" y="89464"/>
                  <a:pt x="116681" y="95845"/>
                </a:cubicBezTo>
                <a:lnTo>
                  <a:pt x="124408" y="110430"/>
                </a:lnTo>
                <a:cubicBezTo>
                  <a:pt x="125471" y="112449"/>
                  <a:pt x="125102" y="114923"/>
                  <a:pt x="123496" y="116551"/>
                </a:cubicBezTo>
                <a:cubicBezTo>
                  <a:pt x="121890" y="118179"/>
                  <a:pt x="119394" y="118548"/>
                  <a:pt x="117376" y="117463"/>
                </a:cubicBezTo>
                <a:lnTo>
                  <a:pt x="99665" y="108086"/>
                </a:lnTo>
                <a:cubicBezTo>
                  <a:pt x="94652" y="110040"/>
                  <a:pt x="89139" y="111125"/>
                  <a:pt x="83344" y="111125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86" name="Text 84"/>
          <p:cNvSpPr/>
          <p:nvPr/>
        </p:nvSpPr>
        <p:spPr>
          <a:xfrm>
            <a:off x="6575425" y="7360047"/>
            <a:ext cx="5103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Explainable Recommendations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6432550" y="7598172"/>
            <a:ext cx="523875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LLMs provide natural language explanations for recommendations based on graph-derived user-item interaction patterns.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6327775" y="8097441"/>
            <a:ext cx="5380038" cy="514350"/>
          </a:xfrm>
          <a:custGeom>
            <a:avLst/>
            <a:gdLst/>
            <a:ahLst/>
            <a:cxnLst/>
            <a:rect l="l" t="t" r="r" b="b"/>
            <a:pathLst>
              <a:path w="5380038" h="514350">
                <a:moveTo>
                  <a:pt x="63502" y="0"/>
                </a:moveTo>
                <a:lnTo>
                  <a:pt x="5316536" y="0"/>
                </a:lnTo>
                <a:cubicBezTo>
                  <a:pt x="5351607" y="0"/>
                  <a:pt x="5380038" y="28431"/>
                  <a:pt x="5380038" y="63502"/>
                </a:cubicBezTo>
                <a:lnTo>
                  <a:pt x="5380038" y="450848"/>
                </a:lnTo>
                <a:cubicBezTo>
                  <a:pt x="5380037" y="485919"/>
                  <a:pt x="5351607" y="514350"/>
                  <a:pt x="5316536" y="514350"/>
                </a:cubicBezTo>
                <a:lnTo>
                  <a:pt x="63502" y="514350"/>
                </a:lnTo>
                <a:cubicBezTo>
                  <a:pt x="28431" y="514350"/>
                  <a:pt x="0" y="485919"/>
                  <a:pt x="0" y="4508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016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410325" y="8179989"/>
            <a:ext cx="5270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6410325" y="8370489"/>
            <a:ext cx="5270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engagement, improved conversion, user trust through explanations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ambridge-intelligence.com/adc6938658288a5c7b16b7bb1ad326c9ae95c1e6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8620" y="1563051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152398" y="0"/>
                </a:moveTo>
                <a:lnTo>
                  <a:pt x="596267" y="0"/>
                </a:lnTo>
                <a:cubicBezTo>
                  <a:pt x="680378" y="0"/>
                  <a:pt x="748665" y="68287"/>
                  <a:pt x="748665" y="152398"/>
                </a:cubicBezTo>
                <a:lnTo>
                  <a:pt x="748665" y="596267"/>
                </a:lnTo>
                <a:cubicBezTo>
                  <a:pt x="748665" y="680378"/>
                  <a:pt x="680378" y="748665"/>
                  <a:pt x="596267" y="748665"/>
                </a:cubicBezTo>
                <a:lnTo>
                  <a:pt x="152398" y="748665"/>
                </a:lnTo>
                <a:cubicBezTo>
                  <a:pt x="68287" y="748665"/>
                  <a:pt x="0" y="680378"/>
                  <a:pt x="0" y="59626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20320">
            <a:solidFill>
              <a:srgbClr val="4ECDC4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3760" y="1745931"/>
            <a:ext cx="590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931668"/>
            <a:ext cx="6705600" cy="9525"/>
          </a:xfrm>
          <a:custGeom>
            <a:avLst/>
            <a:gdLst/>
            <a:ahLst/>
            <a:cxnLst/>
            <a:rect l="l" t="t" r="r" b="b"/>
            <a:pathLst>
              <a:path w="6705600" h="9525">
                <a:moveTo>
                  <a:pt x="0" y="0"/>
                </a:moveTo>
                <a:lnTo>
                  <a:pt x="6705600" y="0"/>
                </a:lnTo>
                <a:lnTo>
                  <a:pt x="6705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381000" y="2622231"/>
            <a:ext cx="7962900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Breakthroughs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359594"/>
            <a:ext cx="5600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Quantifying the convergence advantage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16921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0" name="Text 7"/>
          <p:cNvSpPr/>
          <p:nvPr/>
        </p:nvSpPr>
        <p:spPr>
          <a:xfrm>
            <a:off x="552450" y="5112069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Benchmark Dominance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121813" y="516921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12" name="Text 9"/>
          <p:cNvSpPr/>
          <p:nvPr/>
        </p:nvSpPr>
        <p:spPr>
          <a:xfrm>
            <a:off x="2293263" y="5112069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Efficiency Gains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425666" y="516921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4" name="Text 11"/>
          <p:cNvSpPr/>
          <p:nvPr/>
        </p:nvSpPr>
        <p:spPr>
          <a:xfrm>
            <a:off x="3597116" y="5112069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Robustness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513" y="341513"/>
            <a:ext cx="11568739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spc="235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Breakthroughs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1513" y="580571"/>
            <a:ext cx="11662655" cy="34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2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Benchmark Dominance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4928" y="1062104"/>
            <a:ext cx="6247973" cy="3080444"/>
          </a:xfrm>
          <a:custGeom>
            <a:avLst/>
            <a:gdLst/>
            <a:ahLst/>
            <a:cxnLst/>
            <a:rect l="l" t="t" r="r" b="b"/>
            <a:pathLst>
              <a:path w="6247973" h="3080444">
                <a:moveTo>
                  <a:pt x="102456" y="0"/>
                </a:moveTo>
                <a:lnTo>
                  <a:pt x="6145518" y="0"/>
                </a:lnTo>
                <a:cubicBezTo>
                  <a:pt x="6202102" y="0"/>
                  <a:pt x="6247973" y="45871"/>
                  <a:pt x="6247973" y="102456"/>
                </a:cubicBezTo>
                <a:lnTo>
                  <a:pt x="6247973" y="2977988"/>
                </a:lnTo>
                <a:cubicBezTo>
                  <a:pt x="6247973" y="3034573"/>
                  <a:pt x="6202102" y="3080444"/>
                  <a:pt x="6145518" y="3080444"/>
                </a:cubicBezTo>
                <a:lnTo>
                  <a:pt x="102456" y="3080444"/>
                </a:lnTo>
                <a:cubicBezTo>
                  <a:pt x="45871" y="3080444"/>
                  <a:pt x="0" y="3034573"/>
                  <a:pt x="0" y="2977988"/>
                </a:cubicBezTo>
                <a:lnTo>
                  <a:pt x="0" y="102456"/>
                </a:lnTo>
                <a:cubicBezTo>
                  <a:pt x="0" y="45909"/>
                  <a:pt x="45909" y="0"/>
                  <a:pt x="102456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016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0444" y="1278963"/>
            <a:ext cx="153681" cy="153681"/>
          </a:xfrm>
          <a:custGeom>
            <a:avLst/>
            <a:gdLst/>
            <a:ahLst/>
            <a:cxnLst/>
            <a:rect l="l" t="t" r="r" b="b"/>
            <a:pathLst>
              <a:path w="153681" h="153681">
                <a:moveTo>
                  <a:pt x="43313" y="0"/>
                </a:moveTo>
                <a:lnTo>
                  <a:pt x="110548" y="0"/>
                </a:lnTo>
                <a:cubicBezTo>
                  <a:pt x="118502" y="0"/>
                  <a:pt x="124986" y="6543"/>
                  <a:pt x="124685" y="14468"/>
                </a:cubicBezTo>
                <a:cubicBezTo>
                  <a:pt x="124625" y="16058"/>
                  <a:pt x="124565" y="17649"/>
                  <a:pt x="124475" y="19210"/>
                </a:cubicBezTo>
                <a:lnTo>
                  <a:pt x="139363" y="19210"/>
                </a:lnTo>
                <a:cubicBezTo>
                  <a:pt x="147197" y="19210"/>
                  <a:pt x="154101" y="25693"/>
                  <a:pt x="153501" y="34158"/>
                </a:cubicBezTo>
                <a:cubicBezTo>
                  <a:pt x="151249" y="65284"/>
                  <a:pt x="135341" y="82393"/>
                  <a:pt x="118082" y="91338"/>
                </a:cubicBezTo>
                <a:cubicBezTo>
                  <a:pt x="113339" y="93799"/>
                  <a:pt x="108507" y="95630"/>
                  <a:pt x="103915" y="96981"/>
                </a:cubicBezTo>
                <a:cubicBezTo>
                  <a:pt x="97851" y="105565"/>
                  <a:pt x="91548" y="110098"/>
                  <a:pt x="86535" y="112529"/>
                </a:cubicBezTo>
                <a:lnTo>
                  <a:pt x="86535" y="134471"/>
                </a:lnTo>
                <a:lnTo>
                  <a:pt x="105746" y="134471"/>
                </a:lnTo>
                <a:cubicBezTo>
                  <a:pt x="111058" y="134471"/>
                  <a:pt x="115351" y="138763"/>
                  <a:pt x="115351" y="144076"/>
                </a:cubicBezTo>
                <a:cubicBezTo>
                  <a:pt x="115351" y="149388"/>
                  <a:pt x="111058" y="153681"/>
                  <a:pt x="105746" y="153681"/>
                </a:cubicBezTo>
                <a:lnTo>
                  <a:pt x="48115" y="153681"/>
                </a:lnTo>
                <a:cubicBezTo>
                  <a:pt x="42802" y="153681"/>
                  <a:pt x="38510" y="149388"/>
                  <a:pt x="38510" y="144076"/>
                </a:cubicBezTo>
                <a:cubicBezTo>
                  <a:pt x="38510" y="138763"/>
                  <a:pt x="42802" y="134471"/>
                  <a:pt x="48115" y="134471"/>
                </a:cubicBezTo>
                <a:lnTo>
                  <a:pt x="67325" y="134471"/>
                </a:lnTo>
                <a:lnTo>
                  <a:pt x="67325" y="112529"/>
                </a:lnTo>
                <a:cubicBezTo>
                  <a:pt x="62523" y="110218"/>
                  <a:pt x="56550" y="105926"/>
                  <a:pt x="50727" y="98031"/>
                </a:cubicBezTo>
                <a:cubicBezTo>
                  <a:pt x="45204" y="96591"/>
                  <a:pt x="39201" y="94400"/>
                  <a:pt x="33348" y="91098"/>
                </a:cubicBezTo>
                <a:cubicBezTo>
                  <a:pt x="17109" y="82003"/>
                  <a:pt x="2461" y="64864"/>
                  <a:pt x="360" y="34098"/>
                </a:cubicBezTo>
                <a:cubicBezTo>
                  <a:pt x="-210" y="25663"/>
                  <a:pt x="6663" y="19180"/>
                  <a:pt x="14498" y="19180"/>
                </a:cubicBezTo>
                <a:lnTo>
                  <a:pt x="29385" y="19180"/>
                </a:lnTo>
                <a:cubicBezTo>
                  <a:pt x="29295" y="17619"/>
                  <a:pt x="29235" y="16058"/>
                  <a:pt x="29175" y="14438"/>
                </a:cubicBezTo>
                <a:cubicBezTo>
                  <a:pt x="28875" y="6483"/>
                  <a:pt x="35359" y="-30"/>
                  <a:pt x="43313" y="-30"/>
                </a:cubicBezTo>
                <a:close/>
                <a:moveTo>
                  <a:pt x="30466" y="33618"/>
                </a:moveTo>
                <a:lnTo>
                  <a:pt x="14738" y="33618"/>
                </a:lnTo>
                <a:cubicBezTo>
                  <a:pt x="16599" y="59041"/>
                  <a:pt x="28275" y="71768"/>
                  <a:pt x="40311" y="78521"/>
                </a:cubicBezTo>
                <a:cubicBezTo>
                  <a:pt x="35989" y="67325"/>
                  <a:pt x="32417" y="52708"/>
                  <a:pt x="30466" y="33618"/>
                </a:cubicBezTo>
                <a:close/>
                <a:moveTo>
                  <a:pt x="114060" y="77080"/>
                </a:moveTo>
                <a:cubicBezTo>
                  <a:pt x="126216" y="69937"/>
                  <a:pt x="137202" y="57240"/>
                  <a:pt x="139063" y="33618"/>
                </a:cubicBezTo>
                <a:lnTo>
                  <a:pt x="123365" y="33618"/>
                </a:lnTo>
                <a:cubicBezTo>
                  <a:pt x="121504" y="51897"/>
                  <a:pt x="118142" y="66095"/>
                  <a:pt x="114060" y="7708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" name="Text 4"/>
          <p:cNvSpPr/>
          <p:nvPr/>
        </p:nvSpPr>
        <p:spPr>
          <a:xfrm>
            <a:off x="715469" y="1236274"/>
            <a:ext cx="5788639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5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Graph QA Performance</a:t>
            </a:r>
            <a:endParaRPr lang="en-US" sz="1600" dirty="0"/>
          </a:p>
        </p:txBody>
      </p:sp>
      <p:pic>
        <p:nvPicPr>
          <p:cNvPr id="7" name="Image 0" descr="https://kimi-img.moonshot.cn/pub/slides/26-03-23-12:14:53-d70bsf909tpefkgqk1sg.png">    </p:cNvPr>
          <p:cNvPicPr>
            <a:picLocks noChangeAspect="1"/>
          </p:cNvPicPr>
          <p:nvPr/>
        </p:nvPicPr>
        <p:blipFill>
          <a:blip r:embed="rId1"/>
          <a:srcRect l="0" r="0" t="33" b="33"/>
          <a:stretch/>
        </p:blipFill>
        <p:spPr>
          <a:xfrm>
            <a:off x="519099" y="1577787"/>
            <a:ext cx="5208067" cy="2390588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344928" y="4285988"/>
            <a:ext cx="6247973" cy="2568175"/>
          </a:xfrm>
          <a:custGeom>
            <a:avLst/>
            <a:gdLst/>
            <a:ahLst/>
            <a:cxnLst/>
            <a:rect l="l" t="t" r="r" b="b"/>
            <a:pathLst>
              <a:path w="6247973" h="2568175">
                <a:moveTo>
                  <a:pt x="102444" y="0"/>
                </a:moveTo>
                <a:lnTo>
                  <a:pt x="6145529" y="0"/>
                </a:lnTo>
                <a:cubicBezTo>
                  <a:pt x="6202107" y="0"/>
                  <a:pt x="6247973" y="45866"/>
                  <a:pt x="6247973" y="102444"/>
                </a:cubicBezTo>
                <a:lnTo>
                  <a:pt x="6247973" y="2465730"/>
                </a:lnTo>
                <a:cubicBezTo>
                  <a:pt x="6247973" y="2522309"/>
                  <a:pt x="6202107" y="2568175"/>
                  <a:pt x="6145529" y="2568175"/>
                </a:cubicBezTo>
                <a:lnTo>
                  <a:pt x="102444" y="2568175"/>
                </a:lnTo>
                <a:cubicBezTo>
                  <a:pt x="45866" y="2568175"/>
                  <a:pt x="0" y="2522309"/>
                  <a:pt x="0" y="2465730"/>
                </a:cubicBezTo>
                <a:lnTo>
                  <a:pt x="0" y="102444"/>
                </a:lnTo>
                <a:cubicBezTo>
                  <a:pt x="0" y="45904"/>
                  <a:pt x="45904" y="0"/>
                  <a:pt x="102444" y="0"/>
                </a:cubicBezTo>
                <a:close/>
              </a:path>
            </a:pathLst>
          </a:custGeom>
          <a:solidFill>
            <a:srgbClr val="FFD166">
              <a:alpha val="10196"/>
            </a:srgbClr>
          </a:solidFill>
          <a:ln w="10160">
            <a:solidFill>
              <a:srgbClr val="FFD166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0049" y="4502847"/>
            <a:ext cx="134471" cy="153681"/>
          </a:xfrm>
          <a:custGeom>
            <a:avLst/>
            <a:gdLst/>
            <a:ahLst/>
            <a:cxnLst/>
            <a:rect l="l" t="t" r="r" b="b"/>
            <a:pathLst>
              <a:path w="134471" h="153681">
                <a:moveTo>
                  <a:pt x="101693" y="-2972"/>
                </a:moveTo>
                <a:cubicBezTo>
                  <a:pt x="105265" y="-390"/>
                  <a:pt x="106586" y="4292"/>
                  <a:pt x="104965" y="8374"/>
                </a:cubicBezTo>
                <a:lnTo>
                  <a:pt x="81433" y="67235"/>
                </a:lnTo>
                <a:lnTo>
                  <a:pt x="124866" y="67235"/>
                </a:lnTo>
                <a:cubicBezTo>
                  <a:pt x="128918" y="67235"/>
                  <a:pt x="132520" y="69757"/>
                  <a:pt x="133900" y="73569"/>
                </a:cubicBezTo>
                <a:cubicBezTo>
                  <a:pt x="135281" y="77381"/>
                  <a:pt x="134110" y="81643"/>
                  <a:pt x="131019" y="84224"/>
                </a:cubicBezTo>
                <a:lnTo>
                  <a:pt x="44573" y="156262"/>
                </a:lnTo>
                <a:cubicBezTo>
                  <a:pt x="41182" y="159084"/>
                  <a:pt x="36349" y="159234"/>
                  <a:pt x="32777" y="156652"/>
                </a:cubicBezTo>
                <a:cubicBezTo>
                  <a:pt x="29205" y="154071"/>
                  <a:pt x="27885" y="149388"/>
                  <a:pt x="29505" y="145306"/>
                </a:cubicBezTo>
                <a:lnTo>
                  <a:pt x="53038" y="86445"/>
                </a:lnTo>
                <a:lnTo>
                  <a:pt x="9605" y="86445"/>
                </a:lnTo>
                <a:cubicBezTo>
                  <a:pt x="5553" y="86445"/>
                  <a:pt x="1951" y="83924"/>
                  <a:pt x="570" y="80112"/>
                </a:cubicBezTo>
                <a:cubicBezTo>
                  <a:pt x="-810" y="76300"/>
                  <a:pt x="360" y="72038"/>
                  <a:pt x="3452" y="69456"/>
                </a:cubicBezTo>
                <a:lnTo>
                  <a:pt x="89897" y="-2581"/>
                </a:lnTo>
                <a:cubicBezTo>
                  <a:pt x="93289" y="-5403"/>
                  <a:pt x="98122" y="-5553"/>
                  <a:pt x="101693" y="-2972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10" name="Text 7"/>
          <p:cNvSpPr/>
          <p:nvPr/>
        </p:nvSpPr>
        <p:spPr>
          <a:xfrm>
            <a:off x="715469" y="4460158"/>
            <a:ext cx="5788639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5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Efficiency &amp; Scalability Gains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25929" y="4801671"/>
            <a:ext cx="2892612" cy="887933"/>
          </a:xfrm>
          <a:custGeom>
            <a:avLst/>
            <a:gdLst/>
            <a:ahLst/>
            <a:cxnLst/>
            <a:rect l="l" t="t" r="r" b="b"/>
            <a:pathLst>
              <a:path w="2892612" h="887933">
                <a:moveTo>
                  <a:pt x="13661" y="0"/>
                </a:moveTo>
                <a:lnTo>
                  <a:pt x="2824312" y="0"/>
                </a:lnTo>
                <a:cubicBezTo>
                  <a:pt x="2862033" y="0"/>
                  <a:pt x="2892612" y="30579"/>
                  <a:pt x="2892612" y="68300"/>
                </a:cubicBezTo>
                <a:lnTo>
                  <a:pt x="2892612" y="819633"/>
                </a:lnTo>
                <a:cubicBezTo>
                  <a:pt x="2892612" y="857354"/>
                  <a:pt x="2862033" y="887933"/>
                  <a:pt x="2824312" y="887933"/>
                </a:cubicBezTo>
                <a:lnTo>
                  <a:pt x="13661" y="887933"/>
                </a:lnTo>
                <a:cubicBezTo>
                  <a:pt x="6116" y="887933"/>
                  <a:pt x="0" y="881817"/>
                  <a:pt x="0" y="874272"/>
                </a:cubicBezTo>
                <a:lnTo>
                  <a:pt x="0" y="13661"/>
                </a:lnTo>
                <a:cubicBezTo>
                  <a:pt x="0" y="6121"/>
                  <a:pt x="6121" y="0"/>
                  <a:pt x="136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25929" y="4801671"/>
            <a:ext cx="13661" cy="887933"/>
          </a:xfrm>
          <a:custGeom>
            <a:avLst/>
            <a:gdLst/>
            <a:ahLst/>
            <a:cxnLst/>
            <a:rect l="l" t="t" r="r" b="b"/>
            <a:pathLst>
              <a:path w="13661" h="887933">
                <a:moveTo>
                  <a:pt x="13661" y="0"/>
                </a:moveTo>
                <a:lnTo>
                  <a:pt x="13661" y="0"/>
                </a:lnTo>
                <a:lnTo>
                  <a:pt x="13661" y="887933"/>
                </a:lnTo>
                <a:lnTo>
                  <a:pt x="13661" y="887933"/>
                </a:lnTo>
                <a:cubicBezTo>
                  <a:pt x="6116" y="887933"/>
                  <a:pt x="0" y="881817"/>
                  <a:pt x="0" y="874272"/>
                </a:cubicBezTo>
                <a:lnTo>
                  <a:pt x="0" y="13661"/>
                </a:lnTo>
                <a:cubicBezTo>
                  <a:pt x="0" y="6121"/>
                  <a:pt x="6121" y="0"/>
                  <a:pt x="13661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13" name="Text 10"/>
          <p:cNvSpPr/>
          <p:nvPr/>
        </p:nvSpPr>
        <p:spPr>
          <a:xfrm>
            <a:off x="571180" y="4904124"/>
            <a:ext cx="2808941" cy="307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17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9×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05331" y="5245637"/>
            <a:ext cx="2740639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Token Reduction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09600" y="5450545"/>
            <a:ext cx="2732101" cy="136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7" dirty="0">
                <a:solidFill>
                  <a:srgbClr val="E0E2E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 long-context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525904" y="4801671"/>
            <a:ext cx="2892612" cy="887933"/>
          </a:xfrm>
          <a:custGeom>
            <a:avLst/>
            <a:gdLst/>
            <a:ahLst/>
            <a:cxnLst/>
            <a:rect l="l" t="t" r="r" b="b"/>
            <a:pathLst>
              <a:path w="2892612" h="887933">
                <a:moveTo>
                  <a:pt x="13661" y="0"/>
                </a:moveTo>
                <a:lnTo>
                  <a:pt x="2824312" y="0"/>
                </a:lnTo>
                <a:cubicBezTo>
                  <a:pt x="2862033" y="0"/>
                  <a:pt x="2892612" y="30579"/>
                  <a:pt x="2892612" y="68300"/>
                </a:cubicBezTo>
                <a:lnTo>
                  <a:pt x="2892612" y="819633"/>
                </a:lnTo>
                <a:cubicBezTo>
                  <a:pt x="2892612" y="857354"/>
                  <a:pt x="2862033" y="887933"/>
                  <a:pt x="2824312" y="887933"/>
                </a:cubicBezTo>
                <a:lnTo>
                  <a:pt x="13661" y="887933"/>
                </a:lnTo>
                <a:cubicBezTo>
                  <a:pt x="6116" y="887933"/>
                  <a:pt x="0" y="881817"/>
                  <a:pt x="0" y="874272"/>
                </a:cubicBezTo>
                <a:lnTo>
                  <a:pt x="0" y="13661"/>
                </a:lnTo>
                <a:cubicBezTo>
                  <a:pt x="0" y="6121"/>
                  <a:pt x="6121" y="0"/>
                  <a:pt x="136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3525904" y="4801671"/>
            <a:ext cx="13661" cy="887933"/>
          </a:xfrm>
          <a:custGeom>
            <a:avLst/>
            <a:gdLst/>
            <a:ahLst/>
            <a:cxnLst/>
            <a:rect l="l" t="t" r="r" b="b"/>
            <a:pathLst>
              <a:path w="13661" h="887933">
                <a:moveTo>
                  <a:pt x="13661" y="0"/>
                </a:moveTo>
                <a:lnTo>
                  <a:pt x="13661" y="0"/>
                </a:lnTo>
                <a:lnTo>
                  <a:pt x="13661" y="887933"/>
                </a:lnTo>
                <a:lnTo>
                  <a:pt x="13661" y="887933"/>
                </a:lnTo>
                <a:cubicBezTo>
                  <a:pt x="6116" y="887933"/>
                  <a:pt x="0" y="881817"/>
                  <a:pt x="0" y="874272"/>
                </a:cubicBezTo>
                <a:lnTo>
                  <a:pt x="0" y="13661"/>
                </a:lnTo>
                <a:cubicBezTo>
                  <a:pt x="0" y="6121"/>
                  <a:pt x="6121" y="0"/>
                  <a:pt x="13661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18" name="Text 15"/>
          <p:cNvSpPr/>
          <p:nvPr/>
        </p:nvSpPr>
        <p:spPr>
          <a:xfrm>
            <a:off x="3571155" y="4904124"/>
            <a:ext cx="2808941" cy="307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17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90.7%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605306" y="5245637"/>
            <a:ext cx="2740639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Token Savings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609575" y="5450545"/>
            <a:ext cx="2732101" cy="136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7" dirty="0">
                <a:solidFill>
                  <a:srgbClr val="E0E2E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cross-domain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25929" y="5791949"/>
            <a:ext cx="2892612" cy="887933"/>
          </a:xfrm>
          <a:custGeom>
            <a:avLst/>
            <a:gdLst/>
            <a:ahLst/>
            <a:cxnLst/>
            <a:rect l="l" t="t" r="r" b="b"/>
            <a:pathLst>
              <a:path w="2892612" h="887933">
                <a:moveTo>
                  <a:pt x="13661" y="0"/>
                </a:moveTo>
                <a:lnTo>
                  <a:pt x="2824312" y="0"/>
                </a:lnTo>
                <a:cubicBezTo>
                  <a:pt x="2862033" y="0"/>
                  <a:pt x="2892612" y="30579"/>
                  <a:pt x="2892612" y="68300"/>
                </a:cubicBezTo>
                <a:lnTo>
                  <a:pt x="2892612" y="819633"/>
                </a:lnTo>
                <a:cubicBezTo>
                  <a:pt x="2892612" y="857354"/>
                  <a:pt x="2862033" y="887933"/>
                  <a:pt x="2824312" y="887933"/>
                </a:cubicBezTo>
                <a:lnTo>
                  <a:pt x="13661" y="887933"/>
                </a:lnTo>
                <a:cubicBezTo>
                  <a:pt x="6116" y="887933"/>
                  <a:pt x="0" y="881817"/>
                  <a:pt x="0" y="874272"/>
                </a:cubicBezTo>
                <a:lnTo>
                  <a:pt x="0" y="13661"/>
                </a:lnTo>
                <a:cubicBezTo>
                  <a:pt x="0" y="6121"/>
                  <a:pt x="6121" y="0"/>
                  <a:pt x="136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525929" y="5791949"/>
            <a:ext cx="13661" cy="887933"/>
          </a:xfrm>
          <a:custGeom>
            <a:avLst/>
            <a:gdLst/>
            <a:ahLst/>
            <a:cxnLst/>
            <a:rect l="l" t="t" r="r" b="b"/>
            <a:pathLst>
              <a:path w="13661" h="887933">
                <a:moveTo>
                  <a:pt x="13661" y="0"/>
                </a:moveTo>
                <a:lnTo>
                  <a:pt x="13661" y="0"/>
                </a:lnTo>
                <a:lnTo>
                  <a:pt x="13661" y="887933"/>
                </a:lnTo>
                <a:lnTo>
                  <a:pt x="13661" y="887933"/>
                </a:lnTo>
                <a:cubicBezTo>
                  <a:pt x="6116" y="887933"/>
                  <a:pt x="0" y="881817"/>
                  <a:pt x="0" y="874272"/>
                </a:cubicBezTo>
                <a:lnTo>
                  <a:pt x="0" y="13661"/>
                </a:lnTo>
                <a:cubicBezTo>
                  <a:pt x="0" y="6121"/>
                  <a:pt x="6121" y="0"/>
                  <a:pt x="13661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3" name="Text 20"/>
          <p:cNvSpPr/>
          <p:nvPr/>
        </p:nvSpPr>
        <p:spPr>
          <a:xfrm>
            <a:off x="571180" y="5894403"/>
            <a:ext cx="2808941" cy="307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17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28×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05331" y="6235915"/>
            <a:ext cx="2740639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Inference Speed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09600" y="6440823"/>
            <a:ext cx="2732101" cy="136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7" dirty="0">
                <a:solidFill>
                  <a:srgbClr val="E0E2E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KG-WISE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3525904" y="5791949"/>
            <a:ext cx="2892612" cy="887933"/>
          </a:xfrm>
          <a:custGeom>
            <a:avLst/>
            <a:gdLst/>
            <a:ahLst/>
            <a:cxnLst/>
            <a:rect l="l" t="t" r="r" b="b"/>
            <a:pathLst>
              <a:path w="2892612" h="887933">
                <a:moveTo>
                  <a:pt x="13661" y="0"/>
                </a:moveTo>
                <a:lnTo>
                  <a:pt x="2824312" y="0"/>
                </a:lnTo>
                <a:cubicBezTo>
                  <a:pt x="2862033" y="0"/>
                  <a:pt x="2892612" y="30579"/>
                  <a:pt x="2892612" y="68300"/>
                </a:cubicBezTo>
                <a:lnTo>
                  <a:pt x="2892612" y="819633"/>
                </a:lnTo>
                <a:cubicBezTo>
                  <a:pt x="2892612" y="857354"/>
                  <a:pt x="2862033" y="887933"/>
                  <a:pt x="2824312" y="887933"/>
                </a:cubicBezTo>
                <a:lnTo>
                  <a:pt x="13661" y="887933"/>
                </a:lnTo>
                <a:cubicBezTo>
                  <a:pt x="6116" y="887933"/>
                  <a:pt x="0" y="881817"/>
                  <a:pt x="0" y="874272"/>
                </a:cubicBezTo>
                <a:lnTo>
                  <a:pt x="0" y="13661"/>
                </a:lnTo>
                <a:cubicBezTo>
                  <a:pt x="0" y="6121"/>
                  <a:pt x="6121" y="0"/>
                  <a:pt x="136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3525904" y="5791949"/>
            <a:ext cx="13661" cy="887933"/>
          </a:xfrm>
          <a:custGeom>
            <a:avLst/>
            <a:gdLst/>
            <a:ahLst/>
            <a:cxnLst/>
            <a:rect l="l" t="t" r="r" b="b"/>
            <a:pathLst>
              <a:path w="13661" h="887933">
                <a:moveTo>
                  <a:pt x="13661" y="0"/>
                </a:moveTo>
                <a:lnTo>
                  <a:pt x="13661" y="0"/>
                </a:lnTo>
                <a:lnTo>
                  <a:pt x="13661" y="887933"/>
                </a:lnTo>
                <a:lnTo>
                  <a:pt x="13661" y="887933"/>
                </a:lnTo>
                <a:cubicBezTo>
                  <a:pt x="6116" y="887933"/>
                  <a:pt x="0" y="881817"/>
                  <a:pt x="0" y="874272"/>
                </a:cubicBezTo>
                <a:lnTo>
                  <a:pt x="0" y="13661"/>
                </a:lnTo>
                <a:cubicBezTo>
                  <a:pt x="0" y="6121"/>
                  <a:pt x="6121" y="0"/>
                  <a:pt x="13661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8" name="Text 25"/>
          <p:cNvSpPr/>
          <p:nvPr/>
        </p:nvSpPr>
        <p:spPr>
          <a:xfrm>
            <a:off x="3571155" y="5894403"/>
            <a:ext cx="2808941" cy="307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17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98%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3605306" y="6235915"/>
            <a:ext cx="2740639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Reduction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3609575" y="6440823"/>
            <a:ext cx="2732101" cy="136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7" dirty="0">
                <a:solidFill>
                  <a:srgbClr val="E0E2E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query-aware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734308" y="1062104"/>
            <a:ext cx="5112444" cy="3165822"/>
          </a:xfrm>
          <a:custGeom>
            <a:avLst/>
            <a:gdLst/>
            <a:ahLst/>
            <a:cxnLst/>
            <a:rect l="l" t="t" r="r" b="b"/>
            <a:pathLst>
              <a:path w="5112444" h="3165822">
                <a:moveTo>
                  <a:pt x="102446" y="0"/>
                </a:moveTo>
                <a:lnTo>
                  <a:pt x="5009998" y="0"/>
                </a:lnTo>
                <a:cubicBezTo>
                  <a:pt x="5066577" y="0"/>
                  <a:pt x="5112444" y="45867"/>
                  <a:pt x="5112444" y="102446"/>
                </a:cubicBezTo>
                <a:lnTo>
                  <a:pt x="5112444" y="3063376"/>
                </a:lnTo>
                <a:cubicBezTo>
                  <a:pt x="5112444" y="3119955"/>
                  <a:pt x="5066577" y="3165822"/>
                  <a:pt x="5009998" y="3165822"/>
                </a:cubicBezTo>
                <a:lnTo>
                  <a:pt x="102446" y="3165822"/>
                </a:lnTo>
                <a:cubicBezTo>
                  <a:pt x="45867" y="3165822"/>
                  <a:pt x="0" y="3119955"/>
                  <a:pt x="0" y="3063376"/>
                </a:cubicBezTo>
                <a:lnTo>
                  <a:pt x="0" y="102446"/>
                </a:lnTo>
                <a:cubicBezTo>
                  <a:pt x="0" y="45905"/>
                  <a:pt x="45905" y="0"/>
                  <a:pt x="102446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016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920220" y="1278963"/>
            <a:ext cx="172891" cy="153681"/>
          </a:xfrm>
          <a:custGeom>
            <a:avLst/>
            <a:gdLst/>
            <a:ahLst/>
            <a:cxnLst/>
            <a:rect l="l" t="t" r="r" b="b"/>
            <a:pathLst>
              <a:path w="172891" h="153681">
                <a:moveTo>
                  <a:pt x="86445" y="-4803"/>
                </a:moveTo>
                <a:cubicBezTo>
                  <a:pt x="91758" y="-4803"/>
                  <a:pt x="96050" y="-510"/>
                  <a:pt x="96050" y="4803"/>
                </a:cubicBezTo>
                <a:lnTo>
                  <a:pt x="96050" y="10295"/>
                </a:lnTo>
                <a:cubicBezTo>
                  <a:pt x="125496" y="14498"/>
                  <a:pt x="148788" y="37790"/>
                  <a:pt x="152990" y="67235"/>
                </a:cubicBezTo>
                <a:lnTo>
                  <a:pt x="158483" y="67235"/>
                </a:lnTo>
                <a:cubicBezTo>
                  <a:pt x="163796" y="67235"/>
                  <a:pt x="168088" y="71528"/>
                  <a:pt x="168088" y="76840"/>
                </a:cubicBezTo>
                <a:cubicBezTo>
                  <a:pt x="168088" y="82153"/>
                  <a:pt x="163796" y="86445"/>
                  <a:pt x="158483" y="86445"/>
                </a:cubicBezTo>
                <a:lnTo>
                  <a:pt x="152990" y="86445"/>
                </a:lnTo>
                <a:cubicBezTo>
                  <a:pt x="148788" y="115891"/>
                  <a:pt x="125496" y="139183"/>
                  <a:pt x="96050" y="143385"/>
                </a:cubicBezTo>
                <a:lnTo>
                  <a:pt x="96050" y="148878"/>
                </a:lnTo>
                <a:cubicBezTo>
                  <a:pt x="96050" y="154191"/>
                  <a:pt x="91758" y="158483"/>
                  <a:pt x="86445" y="158483"/>
                </a:cubicBezTo>
                <a:cubicBezTo>
                  <a:pt x="81133" y="158483"/>
                  <a:pt x="76840" y="154191"/>
                  <a:pt x="76840" y="148878"/>
                </a:cubicBezTo>
                <a:lnTo>
                  <a:pt x="76840" y="143385"/>
                </a:lnTo>
                <a:cubicBezTo>
                  <a:pt x="47395" y="139183"/>
                  <a:pt x="24103" y="115891"/>
                  <a:pt x="19900" y="86445"/>
                </a:cubicBezTo>
                <a:lnTo>
                  <a:pt x="14408" y="86445"/>
                </a:lnTo>
                <a:cubicBezTo>
                  <a:pt x="9095" y="86445"/>
                  <a:pt x="4803" y="82153"/>
                  <a:pt x="4803" y="76840"/>
                </a:cubicBezTo>
                <a:cubicBezTo>
                  <a:pt x="4803" y="71528"/>
                  <a:pt x="9095" y="67235"/>
                  <a:pt x="14408" y="67235"/>
                </a:cubicBezTo>
                <a:lnTo>
                  <a:pt x="19900" y="67235"/>
                </a:lnTo>
                <a:cubicBezTo>
                  <a:pt x="24103" y="37790"/>
                  <a:pt x="47395" y="14498"/>
                  <a:pt x="76840" y="10295"/>
                </a:cubicBezTo>
                <a:lnTo>
                  <a:pt x="76840" y="4803"/>
                </a:lnTo>
                <a:cubicBezTo>
                  <a:pt x="76840" y="-510"/>
                  <a:pt x="81133" y="-4803"/>
                  <a:pt x="86445" y="-4803"/>
                </a:cubicBezTo>
                <a:close/>
                <a:moveTo>
                  <a:pt x="39381" y="86445"/>
                </a:moveTo>
                <a:cubicBezTo>
                  <a:pt x="43193" y="105265"/>
                  <a:pt x="58020" y="120093"/>
                  <a:pt x="76840" y="123905"/>
                </a:cubicBezTo>
                <a:lnTo>
                  <a:pt x="76840" y="120063"/>
                </a:lnTo>
                <a:cubicBezTo>
                  <a:pt x="76840" y="114750"/>
                  <a:pt x="81133" y="110458"/>
                  <a:pt x="86445" y="110458"/>
                </a:cubicBezTo>
                <a:cubicBezTo>
                  <a:pt x="91758" y="110458"/>
                  <a:pt x="96050" y="114750"/>
                  <a:pt x="96050" y="120063"/>
                </a:cubicBezTo>
                <a:lnTo>
                  <a:pt x="96050" y="123905"/>
                </a:lnTo>
                <a:cubicBezTo>
                  <a:pt x="114870" y="120093"/>
                  <a:pt x="129698" y="105265"/>
                  <a:pt x="133510" y="86445"/>
                </a:cubicBezTo>
                <a:lnTo>
                  <a:pt x="129668" y="86445"/>
                </a:lnTo>
                <a:cubicBezTo>
                  <a:pt x="124355" y="86445"/>
                  <a:pt x="120063" y="82153"/>
                  <a:pt x="120063" y="76840"/>
                </a:cubicBezTo>
                <a:cubicBezTo>
                  <a:pt x="120063" y="71528"/>
                  <a:pt x="124355" y="67235"/>
                  <a:pt x="129668" y="67235"/>
                </a:cubicBezTo>
                <a:lnTo>
                  <a:pt x="133510" y="67235"/>
                </a:lnTo>
                <a:cubicBezTo>
                  <a:pt x="129698" y="48415"/>
                  <a:pt x="114870" y="33588"/>
                  <a:pt x="96050" y="29776"/>
                </a:cubicBezTo>
                <a:lnTo>
                  <a:pt x="96050" y="33618"/>
                </a:lnTo>
                <a:cubicBezTo>
                  <a:pt x="96050" y="38930"/>
                  <a:pt x="91758" y="43223"/>
                  <a:pt x="86445" y="43223"/>
                </a:cubicBezTo>
                <a:cubicBezTo>
                  <a:pt x="81133" y="43223"/>
                  <a:pt x="76840" y="38930"/>
                  <a:pt x="76840" y="33618"/>
                </a:cubicBezTo>
                <a:lnTo>
                  <a:pt x="76840" y="29776"/>
                </a:lnTo>
                <a:cubicBezTo>
                  <a:pt x="58020" y="33588"/>
                  <a:pt x="43193" y="48415"/>
                  <a:pt x="39381" y="67235"/>
                </a:cubicBezTo>
                <a:lnTo>
                  <a:pt x="43223" y="67235"/>
                </a:lnTo>
                <a:cubicBezTo>
                  <a:pt x="48535" y="67235"/>
                  <a:pt x="52828" y="71528"/>
                  <a:pt x="52828" y="76840"/>
                </a:cubicBezTo>
                <a:cubicBezTo>
                  <a:pt x="52828" y="82153"/>
                  <a:pt x="48535" y="86445"/>
                  <a:pt x="43223" y="86445"/>
                </a:cubicBezTo>
                <a:lnTo>
                  <a:pt x="39381" y="86445"/>
                </a:lnTo>
                <a:close/>
                <a:moveTo>
                  <a:pt x="86445" y="62433"/>
                </a:moveTo>
                <a:cubicBezTo>
                  <a:pt x="94397" y="62433"/>
                  <a:pt x="100853" y="68889"/>
                  <a:pt x="100853" y="76840"/>
                </a:cubicBezTo>
                <a:cubicBezTo>
                  <a:pt x="100853" y="84792"/>
                  <a:pt x="94397" y="91248"/>
                  <a:pt x="86445" y="91248"/>
                </a:cubicBezTo>
                <a:cubicBezTo>
                  <a:pt x="78494" y="91248"/>
                  <a:pt x="72038" y="84792"/>
                  <a:pt x="72038" y="76840"/>
                </a:cubicBezTo>
                <a:cubicBezTo>
                  <a:pt x="72038" y="68889"/>
                  <a:pt x="78494" y="62433"/>
                  <a:pt x="86445" y="6243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3" name="Text 30"/>
          <p:cNvSpPr/>
          <p:nvPr/>
        </p:nvSpPr>
        <p:spPr>
          <a:xfrm>
            <a:off x="7104850" y="1236274"/>
            <a:ext cx="4653109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5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Retrieval Quality Improvements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908480" y="1577787"/>
            <a:ext cx="4764101" cy="768403"/>
          </a:xfrm>
          <a:custGeom>
            <a:avLst/>
            <a:gdLst/>
            <a:ahLst/>
            <a:cxnLst/>
            <a:rect l="l" t="t" r="r" b="b"/>
            <a:pathLst>
              <a:path w="4764101" h="768403">
                <a:moveTo>
                  <a:pt x="68303" y="0"/>
                </a:moveTo>
                <a:lnTo>
                  <a:pt x="4695797" y="0"/>
                </a:lnTo>
                <a:cubicBezTo>
                  <a:pt x="4733520" y="0"/>
                  <a:pt x="4764101" y="30580"/>
                  <a:pt x="4764101" y="68303"/>
                </a:cubicBezTo>
                <a:lnTo>
                  <a:pt x="4764101" y="700100"/>
                </a:lnTo>
                <a:cubicBezTo>
                  <a:pt x="4764101" y="737823"/>
                  <a:pt x="4733520" y="768403"/>
                  <a:pt x="4695797" y="768403"/>
                </a:cubicBezTo>
                <a:lnTo>
                  <a:pt x="68303" y="768403"/>
                </a:lnTo>
                <a:cubicBezTo>
                  <a:pt x="30580" y="768403"/>
                  <a:pt x="0" y="737823"/>
                  <a:pt x="0" y="700100"/>
                </a:cubicBezTo>
                <a:lnTo>
                  <a:pt x="0" y="68303"/>
                </a:lnTo>
                <a:cubicBezTo>
                  <a:pt x="0" y="30606"/>
                  <a:pt x="30606" y="0"/>
                  <a:pt x="683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7010934" y="1680240"/>
            <a:ext cx="1716101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Hit@1 - PapersWithCodeQA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010934" y="1953350"/>
            <a:ext cx="461042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LeSeGR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0802364" y="1953350"/>
            <a:ext cx="350050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0.827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7010934" y="2158258"/>
            <a:ext cx="4081076" cy="68303"/>
          </a:xfrm>
          <a:custGeom>
            <a:avLst/>
            <a:gdLst/>
            <a:ahLst/>
            <a:cxnLst/>
            <a:rect l="l" t="t" r="r" b="b"/>
            <a:pathLst>
              <a:path w="4081076" h="68303">
                <a:moveTo>
                  <a:pt x="34151" y="0"/>
                </a:moveTo>
                <a:lnTo>
                  <a:pt x="4046924" y="0"/>
                </a:lnTo>
                <a:cubicBezTo>
                  <a:pt x="4065786" y="0"/>
                  <a:pt x="4081076" y="15290"/>
                  <a:pt x="4081076" y="34151"/>
                </a:cubicBezTo>
                <a:lnTo>
                  <a:pt x="4081076" y="34151"/>
                </a:lnTo>
                <a:cubicBezTo>
                  <a:pt x="4081076" y="53012"/>
                  <a:pt x="4065786" y="68303"/>
                  <a:pt x="4046924" y="68303"/>
                </a:cubicBezTo>
                <a:lnTo>
                  <a:pt x="34151" y="68303"/>
                </a:lnTo>
                <a:cubicBezTo>
                  <a:pt x="15303" y="68303"/>
                  <a:pt x="0" y="53000"/>
                  <a:pt x="0" y="34151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556677">
              <a:alpha val="30196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7010934" y="2158258"/>
            <a:ext cx="3372437" cy="68303"/>
          </a:xfrm>
          <a:custGeom>
            <a:avLst/>
            <a:gdLst/>
            <a:ahLst/>
            <a:cxnLst/>
            <a:rect l="l" t="t" r="r" b="b"/>
            <a:pathLst>
              <a:path w="3372437" h="68303">
                <a:moveTo>
                  <a:pt x="34151" y="0"/>
                </a:moveTo>
                <a:lnTo>
                  <a:pt x="3338286" y="0"/>
                </a:lnTo>
                <a:cubicBezTo>
                  <a:pt x="3357147" y="0"/>
                  <a:pt x="3372437" y="15290"/>
                  <a:pt x="3372437" y="34151"/>
                </a:cubicBezTo>
                <a:lnTo>
                  <a:pt x="3372437" y="34151"/>
                </a:lnTo>
                <a:cubicBezTo>
                  <a:pt x="3372437" y="53012"/>
                  <a:pt x="3357147" y="68303"/>
                  <a:pt x="3338286" y="68303"/>
                </a:cubicBezTo>
                <a:lnTo>
                  <a:pt x="34151" y="68303"/>
                </a:lnTo>
                <a:cubicBezTo>
                  <a:pt x="15303" y="68303"/>
                  <a:pt x="0" y="53000"/>
                  <a:pt x="0" y="34151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0" name="Text 37"/>
          <p:cNvSpPr/>
          <p:nvPr/>
        </p:nvSpPr>
        <p:spPr>
          <a:xfrm>
            <a:off x="11141422" y="1936375"/>
            <a:ext cx="426891" cy="136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807" dirty="0">
                <a:solidFill>
                  <a:srgbClr val="E0E2E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ColBERT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11132885" y="2072880"/>
            <a:ext cx="435429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41" b="1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0.778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908480" y="2431468"/>
            <a:ext cx="4764101" cy="768403"/>
          </a:xfrm>
          <a:custGeom>
            <a:avLst/>
            <a:gdLst/>
            <a:ahLst/>
            <a:cxnLst/>
            <a:rect l="l" t="t" r="r" b="b"/>
            <a:pathLst>
              <a:path w="4764101" h="768403">
                <a:moveTo>
                  <a:pt x="68303" y="0"/>
                </a:moveTo>
                <a:lnTo>
                  <a:pt x="4695797" y="0"/>
                </a:lnTo>
                <a:cubicBezTo>
                  <a:pt x="4733520" y="0"/>
                  <a:pt x="4764101" y="30580"/>
                  <a:pt x="4764101" y="68303"/>
                </a:cubicBezTo>
                <a:lnTo>
                  <a:pt x="4764101" y="700100"/>
                </a:lnTo>
                <a:cubicBezTo>
                  <a:pt x="4764101" y="737823"/>
                  <a:pt x="4733520" y="768403"/>
                  <a:pt x="4695797" y="768403"/>
                </a:cubicBezTo>
                <a:lnTo>
                  <a:pt x="68303" y="768403"/>
                </a:lnTo>
                <a:cubicBezTo>
                  <a:pt x="30580" y="768403"/>
                  <a:pt x="0" y="737823"/>
                  <a:pt x="0" y="700100"/>
                </a:cubicBezTo>
                <a:lnTo>
                  <a:pt x="0" y="68303"/>
                </a:lnTo>
                <a:cubicBezTo>
                  <a:pt x="0" y="30606"/>
                  <a:pt x="30606" y="0"/>
                  <a:pt x="683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7010934" y="2533922"/>
            <a:ext cx="1195294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Hit@1 - PubMedQA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7010934" y="2807024"/>
            <a:ext cx="461042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LeSeGR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10814744" y="2807024"/>
            <a:ext cx="332975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0.961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7010934" y="3011931"/>
            <a:ext cx="4081076" cy="68303"/>
          </a:xfrm>
          <a:custGeom>
            <a:avLst/>
            <a:gdLst/>
            <a:ahLst/>
            <a:cxnLst/>
            <a:rect l="l" t="t" r="r" b="b"/>
            <a:pathLst>
              <a:path w="4081076" h="68303">
                <a:moveTo>
                  <a:pt x="34151" y="0"/>
                </a:moveTo>
                <a:lnTo>
                  <a:pt x="4046924" y="0"/>
                </a:lnTo>
                <a:cubicBezTo>
                  <a:pt x="4065786" y="0"/>
                  <a:pt x="4081076" y="15290"/>
                  <a:pt x="4081076" y="34151"/>
                </a:cubicBezTo>
                <a:lnTo>
                  <a:pt x="4081076" y="34151"/>
                </a:lnTo>
                <a:cubicBezTo>
                  <a:pt x="4081076" y="53012"/>
                  <a:pt x="4065786" y="68303"/>
                  <a:pt x="4046924" y="68303"/>
                </a:cubicBezTo>
                <a:lnTo>
                  <a:pt x="34151" y="68303"/>
                </a:lnTo>
                <a:cubicBezTo>
                  <a:pt x="15303" y="68303"/>
                  <a:pt x="0" y="53000"/>
                  <a:pt x="0" y="34151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556677">
              <a:alpha val="30196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7010934" y="3011931"/>
            <a:ext cx="3918857" cy="68303"/>
          </a:xfrm>
          <a:custGeom>
            <a:avLst/>
            <a:gdLst/>
            <a:ahLst/>
            <a:cxnLst/>
            <a:rect l="l" t="t" r="r" b="b"/>
            <a:pathLst>
              <a:path w="3918857" h="68303">
                <a:moveTo>
                  <a:pt x="34151" y="0"/>
                </a:moveTo>
                <a:lnTo>
                  <a:pt x="3884706" y="0"/>
                </a:lnTo>
                <a:cubicBezTo>
                  <a:pt x="3903567" y="0"/>
                  <a:pt x="3918857" y="15290"/>
                  <a:pt x="3918857" y="34151"/>
                </a:cubicBezTo>
                <a:lnTo>
                  <a:pt x="3918857" y="34151"/>
                </a:lnTo>
                <a:cubicBezTo>
                  <a:pt x="3918857" y="53012"/>
                  <a:pt x="3903567" y="68303"/>
                  <a:pt x="3884706" y="68303"/>
                </a:cubicBezTo>
                <a:lnTo>
                  <a:pt x="34151" y="68303"/>
                </a:lnTo>
                <a:cubicBezTo>
                  <a:pt x="15303" y="68303"/>
                  <a:pt x="0" y="53000"/>
                  <a:pt x="0" y="34151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8" name="Text 45"/>
          <p:cNvSpPr/>
          <p:nvPr/>
        </p:nvSpPr>
        <p:spPr>
          <a:xfrm>
            <a:off x="11141422" y="2790056"/>
            <a:ext cx="426891" cy="136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807" dirty="0">
                <a:solidFill>
                  <a:srgbClr val="E0E2E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ColBERT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11132885" y="2926553"/>
            <a:ext cx="435429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41" b="1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0.913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908480" y="3285141"/>
            <a:ext cx="4764101" cy="768403"/>
          </a:xfrm>
          <a:custGeom>
            <a:avLst/>
            <a:gdLst/>
            <a:ahLst/>
            <a:cxnLst/>
            <a:rect l="l" t="t" r="r" b="b"/>
            <a:pathLst>
              <a:path w="4764101" h="768403">
                <a:moveTo>
                  <a:pt x="68303" y="0"/>
                </a:moveTo>
                <a:lnTo>
                  <a:pt x="4695797" y="0"/>
                </a:lnTo>
                <a:cubicBezTo>
                  <a:pt x="4733520" y="0"/>
                  <a:pt x="4764101" y="30580"/>
                  <a:pt x="4764101" y="68303"/>
                </a:cubicBezTo>
                <a:lnTo>
                  <a:pt x="4764101" y="700100"/>
                </a:lnTo>
                <a:cubicBezTo>
                  <a:pt x="4764101" y="737823"/>
                  <a:pt x="4733520" y="768403"/>
                  <a:pt x="4695797" y="768403"/>
                </a:cubicBezTo>
                <a:lnTo>
                  <a:pt x="68303" y="768403"/>
                </a:lnTo>
                <a:cubicBezTo>
                  <a:pt x="30580" y="768403"/>
                  <a:pt x="0" y="737823"/>
                  <a:pt x="0" y="700100"/>
                </a:cubicBezTo>
                <a:lnTo>
                  <a:pt x="0" y="68303"/>
                </a:lnTo>
                <a:cubicBezTo>
                  <a:pt x="0" y="30606"/>
                  <a:pt x="30606" y="0"/>
                  <a:pt x="683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1" name="Text 48"/>
          <p:cNvSpPr/>
          <p:nvPr/>
        </p:nvSpPr>
        <p:spPr>
          <a:xfrm>
            <a:off x="7010934" y="3387595"/>
            <a:ext cx="1297748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Generative Accuracy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7010934" y="3660697"/>
            <a:ext cx="845244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LeSeGR+GPT-4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10459143" y="3660697"/>
            <a:ext cx="358588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0.835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7010934" y="3865604"/>
            <a:ext cx="3748101" cy="68303"/>
          </a:xfrm>
          <a:custGeom>
            <a:avLst/>
            <a:gdLst/>
            <a:ahLst/>
            <a:cxnLst/>
            <a:rect l="l" t="t" r="r" b="b"/>
            <a:pathLst>
              <a:path w="3748101" h="68303">
                <a:moveTo>
                  <a:pt x="34151" y="0"/>
                </a:moveTo>
                <a:lnTo>
                  <a:pt x="3713950" y="0"/>
                </a:lnTo>
                <a:cubicBezTo>
                  <a:pt x="3732811" y="0"/>
                  <a:pt x="3748101" y="15290"/>
                  <a:pt x="3748101" y="34151"/>
                </a:cubicBezTo>
                <a:lnTo>
                  <a:pt x="3748101" y="34151"/>
                </a:lnTo>
                <a:cubicBezTo>
                  <a:pt x="3748101" y="53012"/>
                  <a:pt x="3732811" y="68303"/>
                  <a:pt x="3713950" y="68303"/>
                </a:cubicBezTo>
                <a:lnTo>
                  <a:pt x="34151" y="68303"/>
                </a:lnTo>
                <a:cubicBezTo>
                  <a:pt x="15303" y="68303"/>
                  <a:pt x="0" y="53000"/>
                  <a:pt x="0" y="34151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556677">
              <a:alpha val="30196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7010934" y="3865604"/>
            <a:ext cx="3133378" cy="68303"/>
          </a:xfrm>
          <a:custGeom>
            <a:avLst/>
            <a:gdLst/>
            <a:ahLst/>
            <a:cxnLst/>
            <a:rect l="l" t="t" r="r" b="b"/>
            <a:pathLst>
              <a:path w="3133378" h="68303">
                <a:moveTo>
                  <a:pt x="34151" y="0"/>
                </a:moveTo>
                <a:lnTo>
                  <a:pt x="3099227" y="0"/>
                </a:lnTo>
                <a:cubicBezTo>
                  <a:pt x="3118088" y="0"/>
                  <a:pt x="3133378" y="15290"/>
                  <a:pt x="3133378" y="34151"/>
                </a:cubicBezTo>
                <a:lnTo>
                  <a:pt x="3133378" y="34151"/>
                </a:lnTo>
                <a:cubicBezTo>
                  <a:pt x="3133378" y="53012"/>
                  <a:pt x="3118088" y="68303"/>
                  <a:pt x="3099227" y="68303"/>
                </a:cubicBezTo>
                <a:lnTo>
                  <a:pt x="34151" y="68303"/>
                </a:lnTo>
                <a:cubicBezTo>
                  <a:pt x="15303" y="68303"/>
                  <a:pt x="0" y="53000"/>
                  <a:pt x="0" y="34151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56" name="Text 53"/>
          <p:cNvSpPr/>
          <p:nvPr/>
        </p:nvSpPr>
        <p:spPr>
          <a:xfrm>
            <a:off x="10811008" y="3643729"/>
            <a:ext cx="759866" cy="136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807" dirty="0">
                <a:solidFill>
                  <a:srgbClr val="E0E2E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ColBERT+GPT-4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10802471" y="3780226"/>
            <a:ext cx="768403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41" b="1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0.769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6734308" y="4371041"/>
            <a:ext cx="5112444" cy="2482797"/>
          </a:xfrm>
          <a:custGeom>
            <a:avLst/>
            <a:gdLst/>
            <a:ahLst/>
            <a:cxnLst/>
            <a:rect l="l" t="t" r="r" b="b"/>
            <a:pathLst>
              <a:path w="5112444" h="2482797">
                <a:moveTo>
                  <a:pt x="102465" y="0"/>
                </a:moveTo>
                <a:lnTo>
                  <a:pt x="5009979" y="0"/>
                </a:lnTo>
                <a:cubicBezTo>
                  <a:pt x="5066569" y="0"/>
                  <a:pt x="5112444" y="45875"/>
                  <a:pt x="5112444" y="102465"/>
                </a:cubicBezTo>
                <a:lnTo>
                  <a:pt x="5112444" y="2380332"/>
                </a:lnTo>
                <a:cubicBezTo>
                  <a:pt x="5112444" y="2436921"/>
                  <a:pt x="5066569" y="2482797"/>
                  <a:pt x="5009979" y="2482797"/>
                </a:cubicBezTo>
                <a:lnTo>
                  <a:pt x="102465" y="2482797"/>
                </a:lnTo>
                <a:cubicBezTo>
                  <a:pt x="45875" y="2482797"/>
                  <a:pt x="0" y="2436921"/>
                  <a:pt x="0" y="2380332"/>
                </a:cubicBezTo>
                <a:lnTo>
                  <a:pt x="0" y="102465"/>
                </a:lnTo>
                <a:cubicBezTo>
                  <a:pt x="0" y="45913"/>
                  <a:pt x="45913" y="0"/>
                  <a:pt x="102465" y="0"/>
                </a:cubicBezTo>
                <a:close/>
              </a:path>
            </a:pathLst>
          </a:custGeom>
          <a:solidFill>
            <a:srgbClr val="FFD166">
              <a:alpha val="10196"/>
            </a:srgbClr>
          </a:solidFill>
          <a:ln w="10160">
            <a:solidFill>
              <a:srgbClr val="FFD166">
                <a:alpha val="30196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929825" y="4587900"/>
            <a:ext cx="153681" cy="153681"/>
          </a:xfrm>
          <a:custGeom>
            <a:avLst/>
            <a:gdLst/>
            <a:ahLst/>
            <a:cxnLst/>
            <a:rect l="l" t="t" r="r" b="b"/>
            <a:pathLst>
              <a:path w="153681" h="153681">
                <a:moveTo>
                  <a:pt x="76840" y="0"/>
                </a:moveTo>
                <a:cubicBezTo>
                  <a:pt x="78221" y="0"/>
                  <a:pt x="79602" y="300"/>
                  <a:pt x="80862" y="870"/>
                </a:cubicBezTo>
                <a:lnTo>
                  <a:pt x="137412" y="24853"/>
                </a:lnTo>
                <a:cubicBezTo>
                  <a:pt x="144016" y="27645"/>
                  <a:pt x="148938" y="34158"/>
                  <a:pt x="148908" y="42022"/>
                </a:cubicBezTo>
                <a:cubicBezTo>
                  <a:pt x="148758" y="71798"/>
                  <a:pt x="136512" y="126276"/>
                  <a:pt x="84795" y="151039"/>
                </a:cubicBezTo>
                <a:cubicBezTo>
                  <a:pt x="79782" y="153441"/>
                  <a:pt x="73959" y="153441"/>
                  <a:pt x="68946" y="151039"/>
                </a:cubicBezTo>
                <a:cubicBezTo>
                  <a:pt x="17199" y="126276"/>
                  <a:pt x="4983" y="71798"/>
                  <a:pt x="4833" y="42022"/>
                </a:cubicBezTo>
                <a:cubicBezTo>
                  <a:pt x="4803" y="34158"/>
                  <a:pt x="9725" y="27645"/>
                  <a:pt x="16329" y="24853"/>
                </a:cubicBezTo>
                <a:lnTo>
                  <a:pt x="72848" y="870"/>
                </a:lnTo>
                <a:cubicBezTo>
                  <a:pt x="74109" y="300"/>
                  <a:pt x="75460" y="0"/>
                  <a:pt x="76840" y="0"/>
                </a:cubicBezTo>
                <a:close/>
                <a:moveTo>
                  <a:pt x="76840" y="20051"/>
                </a:moveTo>
                <a:lnTo>
                  <a:pt x="76840" y="133540"/>
                </a:lnTo>
                <a:cubicBezTo>
                  <a:pt x="118262" y="113490"/>
                  <a:pt x="129398" y="69066"/>
                  <a:pt x="129668" y="42472"/>
                </a:cubicBezTo>
                <a:lnTo>
                  <a:pt x="76840" y="20081"/>
                </a:lnTo>
                <a:lnTo>
                  <a:pt x="76840" y="20081"/>
                </a:ln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60" name="Text 57"/>
          <p:cNvSpPr/>
          <p:nvPr/>
        </p:nvSpPr>
        <p:spPr>
          <a:xfrm>
            <a:off x="7104850" y="4545211"/>
            <a:ext cx="4653109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5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Robustness Under Adversarial Conditions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6915310" y="4886724"/>
            <a:ext cx="4753855" cy="853782"/>
          </a:xfrm>
          <a:custGeom>
            <a:avLst/>
            <a:gdLst/>
            <a:ahLst/>
            <a:cxnLst/>
            <a:rect l="l" t="t" r="r" b="b"/>
            <a:pathLst>
              <a:path w="4753855" h="853782">
                <a:moveTo>
                  <a:pt x="13661" y="0"/>
                </a:moveTo>
                <a:lnTo>
                  <a:pt x="4685553" y="0"/>
                </a:lnTo>
                <a:cubicBezTo>
                  <a:pt x="4723275" y="0"/>
                  <a:pt x="4753855" y="30580"/>
                  <a:pt x="4753855" y="68303"/>
                </a:cubicBezTo>
                <a:lnTo>
                  <a:pt x="4753855" y="785479"/>
                </a:lnTo>
                <a:cubicBezTo>
                  <a:pt x="4753855" y="823201"/>
                  <a:pt x="4723275" y="853782"/>
                  <a:pt x="4685553" y="853782"/>
                </a:cubicBezTo>
                <a:lnTo>
                  <a:pt x="13661" y="853782"/>
                </a:lnTo>
                <a:cubicBezTo>
                  <a:pt x="6116" y="853782"/>
                  <a:pt x="0" y="847665"/>
                  <a:pt x="0" y="840121"/>
                </a:cubicBezTo>
                <a:lnTo>
                  <a:pt x="0" y="13661"/>
                </a:lnTo>
                <a:cubicBezTo>
                  <a:pt x="0" y="6121"/>
                  <a:pt x="6121" y="0"/>
                  <a:pt x="136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6915310" y="4886724"/>
            <a:ext cx="13661" cy="853782"/>
          </a:xfrm>
          <a:custGeom>
            <a:avLst/>
            <a:gdLst/>
            <a:ahLst/>
            <a:cxnLst/>
            <a:rect l="l" t="t" r="r" b="b"/>
            <a:pathLst>
              <a:path w="13661" h="853782">
                <a:moveTo>
                  <a:pt x="13661" y="0"/>
                </a:moveTo>
                <a:lnTo>
                  <a:pt x="13661" y="0"/>
                </a:lnTo>
                <a:lnTo>
                  <a:pt x="13661" y="853782"/>
                </a:lnTo>
                <a:lnTo>
                  <a:pt x="13661" y="853782"/>
                </a:lnTo>
                <a:cubicBezTo>
                  <a:pt x="6116" y="853782"/>
                  <a:pt x="0" y="847665"/>
                  <a:pt x="0" y="840121"/>
                </a:cubicBezTo>
                <a:lnTo>
                  <a:pt x="0" y="13661"/>
                </a:lnTo>
                <a:cubicBezTo>
                  <a:pt x="0" y="6121"/>
                  <a:pt x="6121" y="0"/>
                  <a:pt x="13661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63" name="Text 60"/>
          <p:cNvSpPr/>
          <p:nvPr/>
        </p:nvSpPr>
        <p:spPr>
          <a:xfrm>
            <a:off x="7024594" y="4989177"/>
            <a:ext cx="4610420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RoGRAD Performance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7024594" y="5262387"/>
            <a:ext cx="2288134" cy="136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7" dirty="0">
                <a:solidFill>
                  <a:srgbClr val="E0E2E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Accuracy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7024594" y="5398892"/>
            <a:ext cx="2322286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5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96.29%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9329697" y="5262387"/>
            <a:ext cx="2288134" cy="136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7" dirty="0">
                <a:solidFill>
                  <a:srgbClr val="E0E2E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Worst-Case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9329697" y="5398892"/>
            <a:ext cx="2322286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5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90.64%</a:t>
            </a:r>
            <a:endParaRPr lang="en-US" sz="1600" dirty="0"/>
          </a:p>
        </p:txBody>
      </p:sp>
      <p:sp>
        <p:nvSpPr>
          <p:cNvPr id="68" name="Shape 65"/>
          <p:cNvSpPr/>
          <p:nvPr/>
        </p:nvSpPr>
        <p:spPr>
          <a:xfrm>
            <a:off x="6908480" y="5825783"/>
            <a:ext cx="4764101" cy="537882"/>
          </a:xfrm>
          <a:custGeom>
            <a:avLst/>
            <a:gdLst/>
            <a:ahLst/>
            <a:cxnLst/>
            <a:rect l="l" t="t" r="r" b="b"/>
            <a:pathLst>
              <a:path w="4764101" h="537882">
                <a:moveTo>
                  <a:pt x="68300" y="0"/>
                </a:moveTo>
                <a:lnTo>
                  <a:pt x="4695801" y="0"/>
                </a:lnTo>
                <a:cubicBezTo>
                  <a:pt x="4733522" y="0"/>
                  <a:pt x="4764101" y="30579"/>
                  <a:pt x="4764101" y="68300"/>
                </a:cubicBezTo>
                <a:lnTo>
                  <a:pt x="4764101" y="469582"/>
                </a:lnTo>
                <a:cubicBezTo>
                  <a:pt x="4764101" y="507303"/>
                  <a:pt x="4733522" y="537882"/>
                  <a:pt x="4695801" y="537882"/>
                </a:cubicBezTo>
                <a:lnTo>
                  <a:pt x="68300" y="537882"/>
                </a:lnTo>
                <a:cubicBezTo>
                  <a:pt x="30579" y="537882"/>
                  <a:pt x="0" y="507303"/>
                  <a:pt x="0" y="469582"/>
                </a:cubicBezTo>
                <a:lnTo>
                  <a:pt x="0" y="68300"/>
                </a:lnTo>
                <a:cubicBezTo>
                  <a:pt x="0" y="30579"/>
                  <a:pt x="30579" y="0"/>
                  <a:pt x="683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9" name="Text 66"/>
          <p:cNvSpPr/>
          <p:nvPr/>
        </p:nvSpPr>
        <p:spPr>
          <a:xfrm>
            <a:off x="7010934" y="5928237"/>
            <a:ext cx="4618958" cy="332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41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Improvement over baselines:</a:t>
            </a:r>
            <a:pPr>
              <a:lnSpc>
                <a:spcPct val="110000"/>
              </a:lnSpc>
            </a:pP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Up to 82.43% on Arxiv, 74.31% on Cora, 62.12% on PubMed under compound deficiencies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673542344ed150ed19a564b063ac5af2b7f8e01e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11" r="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191000" y="1931668"/>
            <a:ext cx="6705600" cy="9525"/>
          </a:xfrm>
          <a:custGeom>
            <a:avLst/>
            <a:gdLst/>
            <a:ahLst/>
            <a:cxnLst/>
            <a:rect l="l" t="t" r="r" b="b"/>
            <a:pathLst>
              <a:path w="6705600" h="9525">
                <a:moveTo>
                  <a:pt x="0" y="0"/>
                </a:moveTo>
                <a:lnTo>
                  <a:pt x="6705600" y="0"/>
                </a:lnTo>
                <a:lnTo>
                  <a:pt x="6705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D166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</p:sp>
      <p:sp>
        <p:nvSpPr>
          <p:cNvPr id="5" name="Shape 2"/>
          <p:cNvSpPr/>
          <p:nvPr/>
        </p:nvSpPr>
        <p:spPr>
          <a:xfrm>
            <a:off x="11056620" y="1563051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152398" y="0"/>
                </a:moveTo>
                <a:lnTo>
                  <a:pt x="596267" y="0"/>
                </a:lnTo>
                <a:cubicBezTo>
                  <a:pt x="680378" y="0"/>
                  <a:pt x="748665" y="68287"/>
                  <a:pt x="748665" y="152398"/>
                </a:cubicBezTo>
                <a:lnTo>
                  <a:pt x="748665" y="596267"/>
                </a:lnTo>
                <a:cubicBezTo>
                  <a:pt x="748665" y="680378"/>
                  <a:pt x="680378" y="748665"/>
                  <a:pt x="596267" y="748665"/>
                </a:cubicBezTo>
                <a:lnTo>
                  <a:pt x="152398" y="748665"/>
                </a:lnTo>
                <a:cubicBezTo>
                  <a:pt x="68287" y="748665"/>
                  <a:pt x="0" y="680378"/>
                  <a:pt x="0" y="59626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D166">
              <a:alpha val="20000"/>
            </a:srgbClr>
          </a:solidFill>
          <a:ln w="20320">
            <a:solidFill>
              <a:srgbClr val="FFD166">
                <a:alpha val="50196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46619" y="1745931"/>
            <a:ext cx="600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48100" y="2622231"/>
            <a:ext cx="7962900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&amp;</a:t>
            </a:r>
            <a:endParaRPr lang="en-US" sz="1600" dirty="0"/>
          </a:p>
          <a:p>
            <a:pPr algn="r">
              <a:lnSpc>
                <a:spcPct val="90000"/>
              </a:lnSpc>
            </a:pPr>
            <a:r>
              <a:rPr lang="en-US" sz="5400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Frontiers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10300" y="4359594"/>
            <a:ext cx="5600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8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Navigating the path to mature integration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41475" y="5112069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687759" y="516921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Text 8"/>
          <p:cNvSpPr/>
          <p:nvPr/>
        </p:nvSpPr>
        <p:spPr>
          <a:xfrm>
            <a:off x="9925884" y="5112069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708720" y="516921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13" name="Text 10"/>
          <p:cNvSpPr/>
          <p:nvPr/>
        </p:nvSpPr>
        <p:spPr>
          <a:xfrm>
            <a:off x="10946845" y="5112069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1734800" y="516921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219" kern="0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Challenges &amp; Frontiers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Challenges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675" y="987425"/>
            <a:ext cx="5705475" cy="3292475"/>
          </a:xfrm>
          <a:custGeom>
            <a:avLst/>
            <a:gdLst/>
            <a:ahLst/>
            <a:cxnLst/>
            <a:rect l="l" t="t" r="r" b="b"/>
            <a:pathLst>
              <a:path w="5705475" h="3292475">
                <a:moveTo>
                  <a:pt x="95251" y="0"/>
                </a:moveTo>
                <a:lnTo>
                  <a:pt x="5610224" y="0"/>
                </a:lnTo>
                <a:cubicBezTo>
                  <a:pt x="5662830" y="0"/>
                  <a:pt x="5705475" y="42645"/>
                  <a:pt x="5705475" y="95251"/>
                </a:cubicBezTo>
                <a:lnTo>
                  <a:pt x="5705475" y="3197224"/>
                </a:lnTo>
                <a:cubicBezTo>
                  <a:pt x="5705475" y="3249830"/>
                  <a:pt x="5662830" y="3292475"/>
                  <a:pt x="5610224" y="3292475"/>
                </a:cubicBezTo>
                <a:lnTo>
                  <a:pt x="95251" y="3292475"/>
                </a:lnTo>
                <a:cubicBezTo>
                  <a:pt x="42645" y="3292475"/>
                  <a:pt x="0" y="3249830"/>
                  <a:pt x="0" y="3197224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016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2600" y="1149348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21506" y="127634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2508" y="11906"/>
                </a:moveTo>
                <a:lnTo>
                  <a:pt x="8930" y="11906"/>
                </a:lnTo>
                <a:cubicBezTo>
                  <a:pt x="3981" y="11906"/>
                  <a:pt x="0" y="15887"/>
                  <a:pt x="0" y="20836"/>
                </a:cubicBezTo>
                <a:lnTo>
                  <a:pt x="0" y="74414"/>
                </a:lnTo>
                <a:cubicBezTo>
                  <a:pt x="0" y="78023"/>
                  <a:pt x="2158" y="81297"/>
                  <a:pt x="5507" y="82674"/>
                </a:cubicBezTo>
                <a:cubicBezTo>
                  <a:pt x="8855" y="84051"/>
                  <a:pt x="12688" y="83269"/>
                  <a:pt x="15255" y="80739"/>
                </a:cubicBezTo>
                <a:lnTo>
                  <a:pt x="30138" y="65856"/>
                </a:lnTo>
                <a:lnTo>
                  <a:pt x="59531" y="95250"/>
                </a:lnTo>
                <a:lnTo>
                  <a:pt x="30138" y="124644"/>
                </a:lnTo>
                <a:lnTo>
                  <a:pt x="15255" y="109761"/>
                </a:lnTo>
                <a:cubicBezTo>
                  <a:pt x="12688" y="107193"/>
                  <a:pt x="8855" y="106449"/>
                  <a:pt x="5507" y="107826"/>
                </a:cubicBezTo>
                <a:cubicBezTo>
                  <a:pt x="2158" y="109203"/>
                  <a:pt x="0" y="112477"/>
                  <a:pt x="0" y="116086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lnTo>
                  <a:pt x="62508" y="178594"/>
                </a:lnTo>
                <a:cubicBezTo>
                  <a:pt x="66117" y="178594"/>
                  <a:pt x="69391" y="176436"/>
                  <a:pt x="70768" y="173087"/>
                </a:cubicBezTo>
                <a:cubicBezTo>
                  <a:pt x="72144" y="169738"/>
                  <a:pt x="71400" y="165906"/>
                  <a:pt x="68833" y="163339"/>
                </a:cubicBezTo>
                <a:lnTo>
                  <a:pt x="53950" y="148456"/>
                </a:lnTo>
                <a:lnTo>
                  <a:pt x="83344" y="119063"/>
                </a:lnTo>
                <a:lnTo>
                  <a:pt x="112737" y="148456"/>
                </a:lnTo>
                <a:lnTo>
                  <a:pt x="97854" y="163339"/>
                </a:lnTo>
                <a:cubicBezTo>
                  <a:pt x="95287" y="165906"/>
                  <a:pt x="94543" y="169738"/>
                  <a:pt x="95920" y="173087"/>
                </a:cubicBezTo>
                <a:cubicBezTo>
                  <a:pt x="97296" y="176436"/>
                  <a:pt x="100571" y="178594"/>
                  <a:pt x="104180" y="178594"/>
                </a:cubicBezTo>
                <a:lnTo>
                  <a:pt x="157758" y="178594"/>
                </a:lnTo>
                <a:cubicBezTo>
                  <a:pt x="162706" y="178594"/>
                  <a:pt x="166688" y="174613"/>
                  <a:pt x="166688" y="169664"/>
                </a:cubicBezTo>
                <a:lnTo>
                  <a:pt x="166688" y="116086"/>
                </a:lnTo>
                <a:cubicBezTo>
                  <a:pt x="166688" y="112477"/>
                  <a:pt x="164529" y="109203"/>
                  <a:pt x="161181" y="107826"/>
                </a:cubicBezTo>
                <a:cubicBezTo>
                  <a:pt x="157832" y="106449"/>
                  <a:pt x="154000" y="107193"/>
                  <a:pt x="151433" y="109761"/>
                </a:cubicBezTo>
                <a:lnTo>
                  <a:pt x="136550" y="124644"/>
                </a:lnTo>
                <a:lnTo>
                  <a:pt x="107156" y="95250"/>
                </a:lnTo>
                <a:lnTo>
                  <a:pt x="136550" y="65856"/>
                </a:lnTo>
                <a:lnTo>
                  <a:pt x="151433" y="80739"/>
                </a:lnTo>
                <a:cubicBezTo>
                  <a:pt x="154000" y="83307"/>
                  <a:pt x="157832" y="84051"/>
                  <a:pt x="161181" y="82674"/>
                </a:cubicBezTo>
                <a:cubicBezTo>
                  <a:pt x="164529" y="81297"/>
                  <a:pt x="166688" y="78023"/>
                  <a:pt x="166688" y="74414"/>
                </a:cubicBezTo>
                <a:lnTo>
                  <a:pt x="166688" y="20836"/>
                </a:lnTo>
                <a:cubicBezTo>
                  <a:pt x="166688" y="15887"/>
                  <a:pt x="162706" y="11906"/>
                  <a:pt x="157758" y="11906"/>
                </a:cubicBezTo>
                <a:lnTo>
                  <a:pt x="104180" y="11906"/>
                </a:lnTo>
                <a:cubicBezTo>
                  <a:pt x="100571" y="11906"/>
                  <a:pt x="97296" y="14064"/>
                  <a:pt x="95920" y="17413"/>
                </a:cubicBezTo>
                <a:cubicBezTo>
                  <a:pt x="94543" y="20762"/>
                  <a:pt x="95324" y="24594"/>
                  <a:pt x="97854" y="27161"/>
                </a:cubicBezTo>
                <a:lnTo>
                  <a:pt x="112737" y="42044"/>
                </a:lnTo>
                <a:lnTo>
                  <a:pt x="83344" y="71438"/>
                </a:lnTo>
                <a:lnTo>
                  <a:pt x="53950" y="42044"/>
                </a:lnTo>
                <a:lnTo>
                  <a:pt x="68833" y="27161"/>
                </a:lnTo>
                <a:cubicBezTo>
                  <a:pt x="71400" y="24594"/>
                  <a:pt x="72144" y="20762"/>
                  <a:pt x="70768" y="17413"/>
                </a:cubicBezTo>
                <a:cubicBezTo>
                  <a:pt x="69391" y="14064"/>
                  <a:pt x="66117" y="11906"/>
                  <a:pt x="62508" y="11906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" name="Text 5"/>
          <p:cNvSpPr/>
          <p:nvPr/>
        </p:nvSpPr>
        <p:spPr>
          <a:xfrm>
            <a:off x="1022350" y="1260473"/>
            <a:ext cx="1643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Scalability Constraints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8950" y="1720848"/>
            <a:ext cx="5380038" cy="738188"/>
          </a:xfrm>
          <a:custGeom>
            <a:avLst/>
            <a:gdLst/>
            <a:ahLst/>
            <a:cxnLst/>
            <a:rect l="l" t="t" r="r" b="b"/>
            <a:pathLst>
              <a:path w="5380038" h="738188">
                <a:moveTo>
                  <a:pt x="12700" y="0"/>
                </a:moveTo>
                <a:lnTo>
                  <a:pt x="5316539" y="0"/>
                </a:lnTo>
                <a:cubicBezTo>
                  <a:pt x="5351608" y="0"/>
                  <a:pt x="5380038" y="28429"/>
                  <a:pt x="5380038" y="63499"/>
                </a:cubicBezTo>
                <a:lnTo>
                  <a:pt x="5380038" y="674689"/>
                </a:lnTo>
                <a:cubicBezTo>
                  <a:pt x="5380038" y="709758"/>
                  <a:pt x="5351608" y="738188"/>
                  <a:pt x="5316539" y="738188"/>
                </a:cubicBez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88950" y="1720848"/>
            <a:ext cx="12700" cy="738188"/>
          </a:xfrm>
          <a:custGeom>
            <a:avLst/>
            <a:gdLst/>
            <a:ahLst/>
            <a:cxnLst/>
            <a:rect l="l" t="t" r="r" b="b"/>
            <a:pathLst>
              <a:path w="12700" h="738188">
                <a:moveTo>
                  <a:pt x="12700" y="0"/>
                </a:moveTo>
                <a:lnTo>
                  <a:pt x="12700" y="0"/>
                </a:lnTo>
                <a:lnTo>
                  <a:pt x="12700" y="738188"/>
                </a:ln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0" name="Text 8"/>
          <p:cNvSpPr/>
          <p:nvPr/>
        </p:nvSpPr>
        <p:spPr>
          <a:xfrm>
            <a:off x="590550" y="1816098"/>
            <a:ext cx="5246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Token Limitations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0550" y="2054223"/>
            <a:ext cx="523875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token limits hinder effective graph representation for large-scale graphs. Encoding complex graph structures within context windows remains a fundamental bottleneck.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8950" y="2550317"/>
            <a:ext cx="5380038" cy="738188"/>
          </a:xfrm>
          <a:custGeom>
            <a:avLst/>
            <a:gdLst/>
            <a:ahLst/>
            <a:cxnLst/>
            <a:rect l="l" t="t" r="r" b="b"/>
            <a:pathLst>
              <a:path w="5380038" h="738188">
                <a:moveTo>
                  <a:pt x="12700" y="0"/>
                </a:moveTo>
                <a:lnTo>
                  <a:pt x="5316539" y="0"/>
                </a:lnTo>
                <a:cubicBezTo>
                  <a:pt x="5351608" y="0"/>
                  <a:pt x="5380038" y="28429"/>
                  <a:pt x="5380038" y="63499"/>
                </a:cubicBezTo>
                <a:lnTo>
                  <a:pt x="5380038" y="674689"/>
                </a:lnTo>
                <a:cubicBezTo>
                  <a:pt x="5380038" y="709758"/>
                  <a:pt x="5351608" y="738188"/>
                  <a:pt x="5316539" y="738188"/>
                </a:cubicBez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88950" y="2550317"/>
            <a:ext cx="12700" cy="738188"/>
          </a:xfrm>
          <a:custGeom>
            <a:avLst/>
            <a:gdLst/>
            <a:ahLst/>
            <a:cxnLst/>
            <a:rect l="l" t="t" r="r" b="b"/>
            <a:pathLst>
              <a:path w="12700" h="738188">
                <a:moveTo>
                  <a:pt x="12700" y="0"/>
                </a:moveTo>
                <a:lnTo>
                  <a:pt x="12700" y="0"/>
                </a:lnTo>
                <a:lnTo>
                  <a:pt x="12700" y="738188"/>
                </a:ln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4" name="Text 12"/>
          <p:cNvSpPr/>
          <p:nvPr/>
        </p:nvSpPr>
        <p:spPr>
          <a:xfrm>
            <a:off x="590550" y="2645567"/>
            <a:ext cx="5246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Inference Overhead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0550" y="2883692"/>
            <a:ext cx="523875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model and complete training graph must be loaded at inference regardless of query size. This creates significant memory and computational overhead.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8950" y="3379786"/>
            <a:ext cx="5380038" cy="738188"/>
          </a:xfrm>
          <a:custGeom>
            <a:avLst/>
            <a:gdLst/>
            <a:ahLst/>
            <a:cxnLst/>
            <a:rect l="l" t="t" r="r" b="b"/>
            <a:pathLst>
              <a:path w="5380038" h="738188">
                <a:moveTo>
                  <a:pt x="12700" y="0"/>
                </a:moveTo>
                <a:lnTo>
                  <a:pt x="5316539" y="0"/>
                </a:lnTo>
                <a:cubicBezTo>
                  <a:pt x="5351608" y="0"/>
                  <a:pt x="5380038" y="28429"/>
                  <a:pt x="5380038" y="63499"/>
                </a:cubicBezTo>
                <a:lnTo>
                  <a:pt x="5380038" y="674689"/>
                </a:lnTo>
                <a:cubicBezTo>
                  <a:pt x="5380038" y="709758"/>
                  <a:pt x="5351608" y="738188"/>
                  <a:pt x="5316539" y="738188"/>
                </a:cubicBez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88950" y="3379786"/>
            <a:ext cx="12700" cy="738188"/>
          </a:xfrm>
          <a:custGeom>
            <a:avLst/>
            <a:gdLst/>
            <a:ahLst/>
            <a:cxnLst/>
            <a:rect l="l" t="t" r="r" b="b"/>
            <a:pathLst>
              <a:path w="12700" h="738188">
                <a:moveTo>
                  <a:pt x="12700" y="0"/>
                </a:moveTo>
                <a:lnTo>
                  <a:pt x="12700" y="0"/>
                </a:lnTo>
                <a:lnTo>
                  <a:pt x="12700" y="738188"/>
                </a:ln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8" name="Text 16"/>
          <p:cNvSpPr/>
          <p:nvPr/>
        </p:nvSpPr>
        <p:spPr>
          <a:xfrm>
            <a:off x="590550" y="3475036"/>
            <a:ext cx="5246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Considerations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0550" y="3713161"/>
            <a:ext cx="523875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Despite selective invocation pipelines, LLM calls remain non-negligible. Cost scales with query complexity and retrieval depth.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62675" y="987425"/>
            <a:ext cx="5705475" cy="3292475"/>
          </a:xfrm>
          <a:custGeom>
            <a:avLst/>
            <a:gdLst/>
            <a:ahLst/>
            <a:cxnLst/>
            <a:rect l="l" t="t" r="r" b="b"/>
            <a:pathLst>
              <a:path w="5705475" h="3292475">
                <a:moveTo>
                  <a:pt x="95251" y="0"/>
                </a:moveTo>
                <a:lnTo>
                  <a:pt x="5610224" y="0"/>
                </a:lnTo>
                <a:cubicBezTo>
                  <a:pt x="5662830" y="0"/>
                  <a:pt x="5705475" y="42645"/>
                  <a:pt x="5705475" y="95251"/>
                </a:cubicBezTo>
                <a:lnTo>
                  <a:pt x="5705475" y="3197224"/>
                </a:lnTo>
                <a:cubicBezTo>
                  <a:pt x="5705475" y="3249830"/>
                  <a:pt x="5662830" y="3292475"/>
                  <a:pt x="5610224" y="3292475"/>
                </a:cubicBezTo>
                <a:lnTo>
                  <a:pt x="95251" y="3292475"/>
                </a:lnTo>
                <a:cubicBezTo>
                  <a:pt x="42645" y="3292475"/>
                  <a:pt x="0" y="3249830"/>
                  <a:pt x="0" y="3197224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solidFill>
            <a:srgbClr val="FFD166">
              <a:alpha val="10196"/>
            </a:srgbClr>
          </a:solidFill>
          <a:ln w="10160">
            <a:solidFill>
              <a:srgbClr val="FFD166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24600" y="1149348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FD166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451600" y="127634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44" y="0"/>
                </a:moveTo>
                <a:cubicBezTo>
                  <a:pt x="96478" y="0"/>
                  <a:pt x="107156" y="8000"/>
                  <a:pt x="107156" y="17859"/>
                </a:cubicBezTo>
                <a:cubicBezTo>
                  <a:pt x="107156" y="21729"/>
                  <a:pt x="105519" y="25301"/>
                  <a:pt x="102691" y="28240"/>
                </a:cubicBezTo>
                <a:cubicBezTo>
                  <a:pt x="100236" y="30807"/>
                  <a:pt x="98227" y="33933"/>
                  <a:pt x="98227" y="37505"/>
                </a:cubicBezTo>
                <a:cubicBezTo>
                  <a:pt x="98227" y="43086"/>
                  <a:pt x="102766" y="47625"/>
                  <a:pt x="108347" y="47625"/>
                </a:cubicBezTo>
                <a:lnTo>
                  <a:pt x="125016" y="47625"/>
                </a:lnTo>
                <a:cubicBezTo>
                  <a:pt x="134875" y="47625"/>
                  <a:pt x="142875" y="55625"/>
                  <a:pt x="142875" y="65484"/>
                </a:cubicBezTo>
                <a:lnTo>
                  <a:pt x="142875" y="82153"/>
                </a:lnTo>
                <a:cubicBezTo>
                  <a:pt x="142875" y="87734"/>
                  <a:pt x="147414" y="92273"/>
                  <a:pt x="152995" y="92273"/>
                </a:cubicBezTo>
                <a:cubicBezTo>
                  <a:pt x="156530" y="92273"/>
                  <a:pt x="159693" y="90264"/>
                  <a:pt x="162260" y="87809"/>
                </a:cubicBezTo>
                <a:cubicBezTo>
                  <a:pt x="165199" y="85018"/>
                  <a:pt x="168771" y="83344"/>
                  <a:pt x="172641" y="83344"/>
                </a:cubicBezTo>
                <a:cubicBezTo>
                  <a:pt x="182500" y="83344"/>
                  <a:pt x="190500" y="94022"/>
                  <a:pt x="190500" y="107156"/>
                </a:cubicBezTo>
                <a:cubicBezTo>
                  <a:pt x="190500" y="120290"/>
                  <a:pt x="182500" y="130969"/>
                  <a:pt x="172641" y="130969"/>
                </a:cubicBezTo>
                <a:cubicBezTo>
                  <a:pt x="168771" y="130969"/>
                  <a:pt x="165162" y="129332"/>
                  <a:pt x="162260" y="126504"/>
                </a:cubicBezTo>
                <a:cubicBezTo>
                  <a:pt x="159693" y="124048"/>
                  <a:pt x="156567" y="122039"/>
                  <a:pt x="152995" y="122039"/>
                </a:cubicBezTo>
                <a:cubicBezTo>
                  <a:pt x="147414" y="122039"/>
                  <a:pt x="142875" y="126578"/>
                  <a:pt x="142875" y="132159"/>
                </a:cubicBezTo>
                <a:lnTo>
                  <a:pt x="142875" y="172641"/>
                </a:lnTo>
                <a:cubicBezTo>
                  <a:pt x="142875" y="182500"/>
                  <a:pt x="134875" y="190500"/>
                  <a:pt x="125016" y="190500"/>
                </a:cubicBezTo>
                <a:lnTo>
                  <a:pt x="103882" y="190500"/>
                </a:lnTo>
                <a:cubicBezTo>
                  <a:pt x="99120" y="190500"/>
                  <a:pt x="95250" y="186630"/>
                  <a:pt x="95250" y="181868"/>
                </a:cubicBezTo>
                <a:cubicBezTo>
                  <a:pt x="95250" y="178445"/>
                  <a:pt x="97408" y="175431"/>
                  <a:pt x="100161" y="173385"/>
                </a:cubicBezTo>
                <a:cubicBezTo>
                  <a:pt x="104477" y="170148"/>
                  <a:pt x="107156" y="165683"/>
                  <a:pt x="107156" y="160734"/>
                </a:cubicBezTo>
                <a:cubicBezTo>
                  <a:pt x="107156" y="150875"/>
                  <a:pt x="96478" y="142875"/>
                  <a:pt x="83344" y="142875"/>
                </a:cubicBezTo>
                <a:cubicBezTo>
                  <a:pt x="70210" y="142875"/>
                  <a:pt x="59531" y="150875"/>
                  <a:pt x="59531" y="160734"/>
                </a:cubicBezTo>
                <a:cubicBezTo>
                  <a:pt x="59531" y="165683"/>
                  <a:pt x="62210" y="170148"/>
                  <a:pt x="66526" y="173385"/>
                </a:cubicBezTo>
                <a:cubicBezTo>
                  <a:pt x="69279" y="175431"/>
                  <a:pt x="71438" y="178408"/>
                  <a:pt x="71438" y="181868"/>
                </a:cubicBezTo>
                <a:cubicBezTo>
                  <a:pt x="71438" y="186630"/>
                  <a:pt x="67568" y="190500"/>
                  <a:pt x="62805" y="190500"/>
                </a:cubicBezTo>
                <a:lnTo>
                  <a:pt x="17859" y="190500"/>
                </a:lnTo>
                <a:cubicBezTo>
                  <a:pt x="8000" y="190500"/>
                  <a:pt x="0" y="182500"/>
                  <a:pt x="0" y="172641"/>
                </a:cubicBezTo>
                <a:lnTo>
                  <a:pt x="0" y="127695"/>
                </a:lnTo>
                <a:cubicBezTo>
                  <a:pt x="0" y="122932"/>
                  <a:pt x="3870" y="119063"/>
                  <a:pt x="8632" y="119063"/>
                </a:cubicBezTo>
                <a:cubicBezTo>
                  <a:pt x="12055" y="119063"/>
                  <a:pt x="15069" y="121221"/>
                  <a:pt x="17115" y="123974"/>
                </a:cubicBezTo>
                <a:cubicBezTo>
                  <a:pt x="20352" y="128290"/>
                  <a:pt x="24817" y="130969"/>
                  <a:pt x="29766" y="130969"/>
                </a:cubicBezTo>
                <a:cubicBezTo>
                  <a:pt x="39625" y="130969"/>
                  <a:pt x="47625" y="120290"/>
                  <a:pt x="47625" y="107156"/>
                </a:cubicBezTo>
                <a:cubicBezTo>
                  <a:pt x="47625" y="94022"/>
                  <a:pt x="39625" y="83344"/>
                  <a:pt x="29766" y="83344"/>
                </a:cubicBezTo>
                <a:cubicBezTo>
                  <a:pt x="24817" y="83344"/>
                  <a:pt x="20352" y="86023"/>
                  <a:pt x="17115" y="90339"/>
                </a:cubicBezTo>
                <a:cubicBezTo>
                  <a:pt x="15069" y="93092"/>
                  <a:pt x="12092" y="95250"/>
                  <a:pt x="8632" y="95250"/>
                </a:cubicBezTo>
                <a:cubicBezTo>
                  <a:pt x="3870" y="95250"/>
                  <a:pt x="0" y="91380"/>
                  <a:pt x="0" y="86618"/>
                </a:cubicBezTo>
                <a:lnTo>
                  <a:pt x="0" y="65484"/>
                </a:lnTo>
                <a:cubicBezTo>
                  <a:pt x="0" y="55625"/>
                  <a:pt x="8000" y="47625"/>
                  <a:pt x="17859" y="47625"/>
                </a:cubicBezTo>
                <a:lnTo>
                  <a:pt x="58341" y="47625"/>
                </a:lnTo>
                <a:cubicBezTo>
                  <a:pt x="63922" y="47625"/>
                  <a:pt x="68461" y="43086"/>
                  <a:pt x="68461" y="37505"/>
                </a:cubicBezTo>
                <a:cubicBezTo>
                  <a:pt x="68461" y="33970"/>
                  <a:pt x="66452" y="30807"/>
                  <a:pt x="63996" y="28240"/>
                </a:cubicBezTo>
                <a:cubicBezTo>
                  <a:pt x="61206" y="25301"/>
                  <a:pt x="59531" y="21729"/>
                  <a:pt x="59531" y="17859"/>
                </a:cubicBezTo>
                <a:cubicBezTo>
                  <a:pt x="59531" y="8000"/>
                  <a:pt x="70210" y="0"/>
                  <a:pt x="83344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23" name="Text 21"/>
          <p:cNvSpPr/>
          <p:nvPr/>
        </p:nvSpPr>
        <p:spPr>
          <a:xfrm>
            <a:off x="6864350" y="1260473"/>
            <a:ext cx="1674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Complexity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30950" y="1720848"/>
            <a:ext cx="5380038" cy="738188"/>
          </a:xfrm>
          <a:custGeom>
            <a:avLst/>
            <a:gdLst/>
            <a:ahLst/>
            <a:cxnLst/>
            <a:rect l="l" t="t" r="r" b="b"/>
            <a:pathLst>
              <a:path w="5380038" h="738188">
                <a:moveTo>
                  <a:pt x="12700" y="0"/>
                </a:moveTo>
                <a:lnTo>
                  <a:pt x="5316539" y="0"/>
                </a:lnTo>
                <a:cubicBezTo>
                  <a:pt x="5351608" y="0"/>
                  <a:pt x="5380038" y="28429"/>
                  <a:pt x="5380038" y="63499"/>
                </a:cubicBezTo>
                <a:lnTo>
                  <a:pt x="5380038" y="674689"/>
                </a:lnTo>
                <a:cubicBezTo>
                  <a:pt x="5380038" y="709758"/>
                  <a:pt x="5351608" y="738188"/>
                  <a:pt x="5316539" y="738188"/>
                </a:cubicBez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330950" y="1720848"/>
            <a:ext cx="12700" cy="738188"/>
          </a:xfrm>
          <a:custGeom>
            <a:avLst/>
            <a:gdLst/>
            <a:ahLst/>
            <a:cxnLst/>
            <a:rect l="l" t="t" r="r" b="b"/>
            <a:pathLst>
              <a:path w="12700" h="738188">
                <a:moveTo>
                  <a:pt x="12700" y="0"/>
                </a:moveTo>
                <a:lnTo>
                  <a:pt x="12700" y="0"/>
                </a:lnTo>
                <a:lnTo>
                  <a:pt x="12700" y="738188"/>
                </a:ln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26" name="Text 24"/>
          <p:cNvSpPr/>
          <p:nvPr/>
        </p:nvSpPr>
        <p:spPr>
          <a:xfrm>
            <a:off x="6432550" y="1816098"/>
            <a:ext cx="5246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Gradient Isolation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32550" y="2054223"/>
            <a:ext cx="523875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systems often disallow backpropagation through frozen LLMs due to scale/cost, limiting synergetic training signals and end-to-end optimization.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30950" y="2550317"/>
            <a:ext cx="5380038" cy="738188"/>
          </a:xfrm>
          <a:custGeom>
            <a:avLst/>
            <a:gdLst/>
            <a:ahLst/>
            <a:cxnLst/>
            <a:rect l="l" t="t" r="r" b="b"/>
            <a:pathLst>
              <a:path w="5380038" h="738188">
                <a:moveTo>
                  <a:pt x="12700" y="0"/>
                </a:moveTo>
                <a:lnTo>
                  <a:pt x="5316539" y="0"/>
                </a:lnTo>
                <a:cubicBezTo>
                  <a:pt x="5351608" y="0"/>
                  <a:pt x="5380038" y="28429"/>
                  <a:pt x="5380038" y="63499"/>
                </a:cubicBezTo>
                <a:lnTo>
                  <a:pt x="5380038" y="674689"/>
                </a:lnTo>
                <a:cubicBezTo>
                  <a:pt x="5380038" y="709758"/>
                  <a:pt x="5351608" y="738188"/>
                  <a:pt x="5316539" y="738188"/>
                </a:cubicBez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330950" y="2550317"/>
            <a:ext cx="12700" cy="738188"/>
          </a:xfrm>
          <a:custGeom>
            <a:avLst/>
            <a:gdLst/>
            <a:ahLst/>
            <a:cxnLst/>
            <a:rect l="l" t="t" r="r" b="b"/>
            <a:pathLst>
              <a:path w="12700" h="738188">
                <a:moveTo>
                  <a:pt x="12700" y="0"/>
                </a:moveTo>
                <a:lnTo>
                  <a:pt x="12700" y="0"/>
                </a:lnTo>
                <a:lnTo>
                  <a:pt x="12700" y="738188"/>
                </a:ln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30" name="Text 28"/>
          <p:cNvSpPr/>
          <p:nvPr/>
        </p:nvSpPr>
        <p:spPr>
          <a:xfrm>
            <a:off x="6432550" y="2645567"/>
            <a:ext cx="5246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Representation Bottlenecks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32550" y="2883692"/>
            <a:ext cx="523875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concatenation of embeddings risks bottlenecks when scaling to dynamic graphs or evolving knowledge bases. Information loss at modality boundaries.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30950" y="3379786"/>
            <a:ext cx="5380038" cy="738188"/>
          </a:xfrm>
          <a:custGeom>
            <a:avLst/>
            <a:gdLst/>
            <a:ahLst/>
            <a:cxnLst/>
            <a:rect l="l" t="t" r="r" b="b"/>
            <a:pathLst>
              <a:path w="5380038" h="738188">
                <a:moveTo>
                  <a:pt x="12700" y="0"/>
                </a:moveTo>
                <a:lnTo>
                  <a:pt x="5316539" y="0"/>
                </a:lnTo>
                <a:cubicBezTo>
                  <a:pt x="5351608" y="0"/>
                  <a:pt x="5380038" y="28429"/>
                  <a:pt x="5380038" y="63499"/>
                </a:cubicBezTo>
                <a:lnTo>
                  <a:pt x="5380038" y="674689"/>
                </a:lnTo>
                <a:cubicBezTo>
                  <a:pt x="5380038" y="709758"/>
                  <a:pt x="5351608" y="738188"/>
                  <a:pt x="5316539" y="738188"/>
                </a:cubicBez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330950" y="3379786"/>
            <a:ext cx="12700" cy="738188"/>
          </a:xfrm>
          <a:custGeom>
            <a:avLst/>
            <a:gdLst/>
            <a:ahLst/>
            <a:cxnLst/>
            <a:rect l="l" t="t" r="r" b="b"/>
            <a:pathLst>
              <a:path w="12700" h="738188">
                <a:moveTo>
                  <a:pt x="12700" y="0"/>
                </a:moveTo>
                <a:lnTo>
                  <a:pt x="12700" y="0"/>
                </a:lnTo>
                <a:lnTo>
                  <a:pt x="12700" y="738188"/>
                </a:ln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34" name="Text 32"/>
          <p:cNvSpPr/>
          <p:nvPr/>
        </p:nvSpPr>
        <p:spPr>
          <a:xfrm>
            <a:off x="6432550" y="3475036"/>
            <a:ext cx="5246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 Transfer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32550" y="3713161"/>
            <a:ext cx="523875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Efficacy depends critically on initial language-graph vocabulary alignment. Out-of-domain adaptation remains challenging without extensive re-alignment.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0675" y="4409286"/>
            <a:ext cx="5705475" cy="2459037"/>
          </a:xfrm>
          <a:custGeom>
            <a:avLst/>
            <a:gdLst/>
            <a:ahLst/>
            <a:cxnLst/>
            <a:rect l="l" t="t" r="r" b="b"/>
            <a:pathLst>
              <a:path w="5705475" h="2459037">
                <a:moveTo>
                  <a:pt x="95239" y="0"/>
                </a:moveTo>
                <a:lnTo>
                  <a:pt x="5610236" y="0"/>
                </a:lnTo>
                <a:cubicBezTo>
                  <a:pt x="5662835" y="0"/>
                  <a:pt x="5705475" y="42640"/>
                  <a:pt x="5705475" y="95239"/>
                </a:cubicBezTo>
                <a:lnTo>
                  <a:pt x="5705475" y="2363799"/>
                </a:lnTo>
                <a:cubicBezTo>
                  <a:pt x="5705475" y="2416398"/>
                  <a:pt x="5662835" y="2459037"/>
                  <a:pt x="5610236" y="2459037"/>
                </a:cubicBezTo>
                <a:lnTo>
                  <a:pt x="95239" y="2459037"/>
                </a:lnTo>
                <a:cubicBezTo>
                  <a:pt x="42640" y="2459037"/>
                  <a:pt x="0" y="2416398"/>
                  <a:pt x="0" y="2363799"/>
                </a:cubicBezTo>
                <a:lnTo>
                  <a:pt x="0" y="95239"/>
                </a:lnTo>
                <a:cubicBezTo>
                  <a:pt x="0" y="42675"/>
                  <a:pt x="42675" y="0"/>
                  <a:pt x="95239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016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2600" y="4571209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09600" y="469820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9" name="Text 37"/>
          <p:cNvSpPr/>
          <p:nvPr/>
        </p:nvSpPr>
        <p:spPr>
          <a:xfrm>
            <a:off x="1022350" y="4682334"/>
            <a:ext cx="1579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Structural Limitations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88950" y="5142709"/>
            <a:ext cx="5380038" cy="738188"/>
          </a:xfrm>
          <a:custGeom>
            <a:avLst/>
            <a:gdLst/>
            <a:ahLst/>
            <a:cxnLst/>
            <a:rect l="l" t="t" r="r" b="b"/>
            <a:pathLst>
              <a:path w="5380038" h="738188">
                <a:moveTo>
                  <a:pt x="12700" y="0"/>
                </a:moveTo>
                <a:lnTo>
                  <a:pt x="5316539" y="0"/>
                </a:lnTo>
                <a:cubicBezTo>
                  <a:pt x="5351608" y="0"/>
                  <a:pt x="5380038" y="28429"/>
                  <a:pt x="5380038" y="63499"/>
                </a:cubicBezTo>
                <a:lnTo>
                  <a:pt x="5380038" y="674689"/>
                </a:lnTo>
                <a:cubicBezTo>
                  <a:pt x="5380038" y="709758"/>
                  <a:pt x="5351608" y="738188"/>
                  <a:pt x="5316539" y="738188"/>
                </a:cubicBez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88950" y="5142709"/>
            <a:ext cx="12700" cy="738188"/>
          </a:xfrm>
          <a:custGeom>
            <a:avLst/>
            <a:gdLst/>
            <a:ahLst/>
            <a:cxnLst/>
            <a:rect l="l" t="t" r="r" b="b"/>
            <a:pathLst>
              <a:path w="12700" h="738188">
                <a:moveTo>
                  <a:pt x="12700" y="0"/>
                </a:moveTo>
                <a:lnTo>
                  <a:pt x="12700" y="0"/>
                </a:lnTo>
                <a:lnTo>
                  <a:pt x="12700" y="738188"/>
                </a:ln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2" name="Text 40"/>
          <p:cNvSpPr/>
          <p:nvPr/>
        </p:nvSpPr>
        <p:spPr>
          <a:xfrm>
            <a:off x="590550" y="5237959"/>
            <a:ext cx="5246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 Understanding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90550" y="5476084"/>
            <a:ext cx="523875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LLMs not fully conversant with arbitrary graph structure without explicit architectural modification. Permutation invariance not natively supported.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88950" y="5972178"/>
            <a:ext cx="5380038" cy="738188"/>
          </a:xfrm>
          <a:custGeom>
            <a:avLst/>
            <a:gdLst/>
            <a:ahLst/>
            <a:cxnLst/>
            <a:rect l="l" t="t" r="r" b="b"/>
            <a:pathLst>
              <a:path w="5380038" h="738188">
                <a:moveTo>
                  <a:pt x="12700" y="0"/>
                </a:moveTo>
                <a:lnTo>
                  <a:pt x="5316539" y="0"/>
                </a:lnTo>
                <a:cubicBezTo>
                  <a:pt x="5351608" y="0"/>
                  <a:pt x="5380038" y="28429"/>
                  <a:pt x="5380038" y="63499"/>
                </a:cubicBezTo>
                <a:lnTo>
                  <a:pt x="5380038" y="674689"/>
                </a:lnTo>
                <a:cubicBezTo>
                  <a:pt x="5380038" y="709758"/>
                  <a:pt x="5351608" y="738188"/>
                  <a:pt x="5316539" y="738188"/>
                </a:cubicBez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88950" y="5972178"/>
            <a:ext cx="12700" cy="738188"/>
          </a:xfrm>
          <a:custGeom>
            <a:avLst/>
            <a:gdLst/>
            <a:ahLst/>
            <a:cxnLst/>
            <a:rect l="l" t="t" r="r" b="b"/>
            <a:pathLst>
              <a:path w="12700" h="738188">
                <a:moveTo>
                  <a:pt x="12700" y="0"/>
                </a:moveTo>
                <a:lnTo>
                  <a:pt x="12700" y="0"/>
                </a:lnTo>
                <a:lnTo>
                  <a:pt x="12700" y="738188"/>
                </a:ln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6" name="Text 44"/>
          <p:cNvSpPr/>
          <p:nvPr/>
        </p:nvSpPr>
        <p:spPr>
          <a:xfrm>
            <a:off x="590550" y="6067428"/>
            <a:ext cx="5246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Shallow Retrieval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90550" y="6305553"/>
            <a:ext cx="523875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Many approaches confined to 2-3 hops. Performance degrades on problems requiring deep dependency mining beyond predefined path lengths.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62675" y="4409286"/>
            <a:ext cx="5705475" cy="2459037"/>
          </a:xfrm>
          <a:custGeom>
            <a:avLst/>
            <a:gdLst/>
            <a:ahLst/>
            <a:cxnLst/>
            <a:rect l="l" t="t" r="r" b="b"/>
            <a:pathLst>
              <a:path w="5705475" h="2459037">
                <a:moveTo>
                  <a:pt x="95239" y="0"/>
                </a:moveTo>
                <a:lnTo>
                  <a:pt x="5610236" y="0"/>
                </a:lnTo>
                <a:cubicBezTo>
                  <a:pt x="5662835" y="0"/>
                  <a:pt x="5705475" y="42640"/>
                  <a:pt x="5705475" y="95239"/>
                </a:cubicBezTo>
                <a:lnTo>
                  <a:pt x="5705475" y="2363799"/>
                </a:lnTo>
                <a:cubicBezTo>
                  <a:pt x="5705475" y="2416398"/>
                  <a:pt x="5662835" y="2459037"/>
                  <a:pt x="5610236" y="2459037"/>
                </a:cubicBezTo>
                <a:lnTo>
                  <a:pt x="95239" y="2459037"/>
                </a:lnTo>
                <a:cubicBezTo>
                  <a:pt x="42640" y="2459037"/>
                  <a:pt x="0" y="2416398"/>
                  <a:pt x="0" y="2363799"/>
                </a:cubicBezTo>
                <a:lnTo>
                  <a:pt x="0" y="95239"/>
                </a:lnTo>
                <a:cubicBezTo>
                  <a:pt x="0" y="42675"/>
                  <a:pt x="42675" y="0"/>
                  <a:pt x="95239" y="0"/>
                </a:cubicBezTo>
                <a:close/>
              </a:path>
            </a:pathLst>
          </a:custGeom>
          <a:solidFill>
            <a:srgbClr val="FFD166">
              <a:alpha val="10196"/>
            </a:srgbClr>
          </a:solidFill>
          <a:ln w="10160">
            <a:solidFill>
              <a:srgbClr val="FFD166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24600" y="4571209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FD166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451600" y="469820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51" name="Text 49"/>
          <p:cNvSpPr/>
          <p:nvPr/>
        </p:nvSpPr>
        <p:spPr>
          <a:xfrm>
            <a:off x="6864350" y="4682334"/>
            <a:ext cx="203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Hallucination &amp; Faithfulness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30950" y="5142709"/>
            <a:ext cx="5380038" cy="738188"/>
          </a:xfrm>
          <a:custGeom>
            <a:avLst/>
            <a:gdLst/>
            <a:ahLst/>
            <a:cxnLst/>
            <a:rect l="l" t="t" r="r" b="b"/>
            <a:pathLst>
              <a:path w="5380038" h="738188">
                <a:moveTo>
                  <a:pt x="12700" y="0"/>
                </a:moveTo>
                <a:lnTo>
                  <a:pt x="5316539" y="0"/>
                </a:lnTo>
                <a:cubicBezTo>
                  <a:pt x="5351608" y="0"/>
                  <a:pt x="5380038" y="28429"/>
                  <a:pt x="5380038" y="63499"/>
                </a:cubicBezTo>
                <a:lnTo>
                  <a:pt x="5380038" y="674689"/>
                </a:lnTo>
                <a:cubicBezTo>
                  <a:pt x="5380038" y="709758"/>
                  <a:pt x="5351608" y="738188"/>
                  <a:pt x="5316539" y="738188"/>
                </a:cubicBez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330950" y="5142709"/>
            <a:ext cx="12700" cy="738188"/>
          </a:xfrm>
          <a:custGeom>
            <a:avLst/>
            <a:gdLst/>
            <a:ahLst/>
            <a:cxnLst/>
            <a:rect l="l" t="t" r="r" b="b"/>
            <a:pathLst>
              <a:path w="12700" h="738188">
                <a:moveTo>
                  <a:pt x="12700" y="0"/>
                </a:moveTo>
                <a:lnTo>
                  <a:pt x="12700" y="0"/>
                </a:lnTo>
                <a:lnTo>
                  <a:pt x="12700" y="738188"/>
                </a:ln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54" name="Text 52"/>
          <p:cNvSpPr/>
          <p:nvPr/>
        </p:nvSpPr>
        <p:spPr>
          <a:xfrm>
            <a:off x="6432550" y="5237959"/>
            <a:ext cx="5246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Persistent Hallucination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432550" y="5476084"/>
            <a:ext cx="523875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LLMs remain prone to fabricating content even with RAG augmentation. Retrieved context doesn't guarantee faithful generation.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30950" y="5972178"/>
            <a:ext cx="5380038" cy="738188"/>
          </a:xfrm>
          <a:custGeom>
            <a:avLst/>
            <a:gdLst/>
            <a:ahLst/>
            <a:cxnLst/>
            <a:rect l="l" t="t" r="r" b="b"/>
            <a:pathLst>
              <a:path w="5380038" h="738188">
                <a:moveTo>
                  <a:pt x="12700" y="0"/>
                </a:moveTo>
                <a:lnTo>
                  <a:pt x="5316539" y="0"/>
                </a:lnTo>
                <a:cubicBezTo>
                  <a:pt x="5351608" y="0"/>
                  <a:pt x="5380038" y="28429"/>
                  <a:pt x="5380038" y="63499"/>
                </a:cubicBezTo>
                <a:lnTo>
                  <a:pt x="5380038" y="674689"/>
                </a:lnTo>
                <a:cubicBezTo>
                  <a:pt x="5380038" y="709758"/>
                  <a:pt x="5351608" y="738188"/>
                  <a:pt x="5316539" y="738188"/>
                </a:cubicBez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330950" y="5972178"/>
            <a:ext cx="12700" cy="738188"/>
          </a:xfrm>
          <a:custGeom>
            <a:avLst/>
            <a:gdLst/>
            <a:ahLst/>
            <a:cxnLst/>
            <a:rect l="l" t="t" r="r" b="b"/>
            <a:pathLst>
              <a:path w="12700" h="738188">
                <a:moveTo>
                  <a:pt x="12700" y="0"/>
                </a:moveTo>
                <a:lnTo>
                  <a:pt x="12700" y="0"/>
                </a:lnTo>
                <a:lnTo>
                  <a:pt x="12700" y="738188"/>
                </a:lnTo>
                <a:lnTo>
                  <a:pt x="12700" y="738188"/>
                </a:lnTo>
                <a:cubicBezTo>
                  <a:pt x="5691" y="738188"/>
                  <a:pt x="0" y="732497"/>
                  <a:pt x="0" y="725488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58" name="Text 56"/>
          <p:cNvSpPr/>
          <p:nvPr/>
        </p:nvSpPr>
        <p:spPr>
          <a:xfrm>
            <a:off x="6432550" y="6067428"/>
            <a:ext cx="5246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Retrieval Noise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432550" y="6305553"/>
            <a:ext cx="523875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Suboptimal triplet selection introduces noise that can mislead LLM reasoning. Balancing retrieval breadth with precision remains challenging.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3.ftcdn.net/f6491157f9dda761b64f97c6ec5dbccf772bb98f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233" r="233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8620" y="1563051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152398" y="0"/>
                </a:moveTo>
                <a:lnTo>
                  <a:pt x="596267" y="0"/>
                </a:lnTo>
                <a:cubicBezTo>
                  <a:pt x="680378" y="0"/>
                  <a:pt x="748665" y="68287"/>
                  <a:pt x="748665" y="152398"/>
                </a:cubicBezTo>
                <a:lnTo>
                  <a:pt x="748665" y="596267"/>
                </a:lnTo>
                <a:cubicBezTo>
                  <a:pt x="748665" y="680378"/>
                  <a:pt x="680378" y="748665"/>
                  <a:pt x="596267" y="748665"/>
                </a:cubicBezTo>
                <a:lnTo>
                  <a:pt x="152398" y="748665"/>
                </a:lnTo>
                <a:cubicBezTo>
                  <a:pt x="68287" y="748665"/>
                  <a:pt x="0" y="680378"/>
                  <a:pt x="0" y="59626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20320">
            <a:solidFill>
              <a:srgbClr val="4ECDC4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4832" y="1745931"/>
            <a:ext cx="561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931668"/>
            <a:ext cx="6705600" cy="9525"/>
          </a:xfrm>
          <a:custGeom>
            <a:avLst/>
            <a:gdLst/>
            <a:ahLst/>
            <a:cxnLst/>
            <a:rect l="l" t="t" r="r" b="b"/>
            <a:pathLst>
              <a:path w="6705600" h="9525">
                <a:moveTo>
                  <a:pt x="0" y="0"/>
                </a:moveTo>
                <a:lnTo>
                  <a:pt x="6705600" y="0"/>
                </a:lnTo>
                <a:lnTo>
                  <a:pt x="6705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381000" y="2622231"/>
            <a:ext cx="7962900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Road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Ahead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359594"/>
            <a:ext cx="5600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Emerging trends and future directions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16921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0" name="Text 7"/>
          <p:cNvSpPr/>
          <p:nvPr/>
        </p:nvSpPr>
        <p:spPr>
          <a:xfrm>
            <a:off x="552450" y="5112069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Tighter Integration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834515" y="516921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12" name="Text 9"/>
          <p:cNvSpPr/>
          <p:nvPr/>
        </p:nvSpPr>
        <p:spPr>
          <a:xfrm>
            <a:off x="2005965" y="5112069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Retrieval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354705" y="516921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4" name="Text 11"/>
          <p:cNvSpPr/>
          <p:nvPr/>
        </p:nvSpPr>
        <p:spPr>
          <a:xfrm>
            <a:off x="3526155" y="5112069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Multimodal Expansion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219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Road Ahead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Horizons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675" y="987425"/>
            <a:ext cx="3760787" cy="3205162"/>
          </a:xfrm>
          <a:custGeom>
            <a:avLst/>
            <a:gdLst/>
            <a:ahLst/>
            <a:cxnLst/>
            <a:rect l="l" t="t" r="r" b="b"/>
            <a:pathLst>
              <a:path w="3760787" h="3205162">
                <a:moveTo>
                  <a:pt x="95257" y="0"/>
                </a:moveTo>
                <a:lnTo>
                  <a:pt x="3665530" y="0"/>
                </a:lnTo>
                <a:cubicBezTo>
                  <a:pt x="3718139" y="0"/>
                  <a:pt x="3760787" y="42648"/>
                  <a:pt x="3760787" y="95257"/>
                </a:cubicBezTo>
                <a:lnTo>
                  <a:pt x="3760787" y="3109905"/>
                </a:lnTo>
                <a:cubicBezTo>
                  <a:pt x="3760787" y="3162514"/>
                  <a:pt x="3718139" y="3205162"/>
                  <a:pt x="3665530" y="3205162"/>
                </a:cubicBezTo>
                <a:lnTo>
                  <a:pt x="95257" y="3205162"/>
                </a:lnTo>
                <a:cubicBezTo>
                  <a:pt x="42648" y="3205162"/>
                  <a:pt x="0" y="3162514"/>
                  <a:pt x="0" y="3109905"/>
                </a:cubicBezTo>
                <a:lnTo>
                  <a:pt x="0" y="95257"/>
                </a:lnTo>
                <a:cubicBezTo>
                  <a:pt x="0" y="42648"/>
                  <a:pt x="42648" y="0"/>
                  <a:pt x="95257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016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2600" y="114934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83803" y="126047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30070" y="29766"/>
                </a:moveTo>
                <a:cubicBezTo>
                  <a:pt x="124923" y="29766"/>
                  <a:pt x="119931" y="31161"/>
                  <a:pt x="115559" y="33703"/>
                </a:cubicBezTo>
                <a:cubicBezTo>
                  <a:pt x="110660" y="28742"/>
                  <a:pt x="104955" y="24588"/>
                  <a:pt x="98661" y="21456"/>
                </a:cubicBezTo>
                <a:cubicBezTo>
                  <a:pt x="107404" y="14015"/>
                  <a:pt x="118535" y="9922"/>
                  <a:pt x="130070" y="9922"/>
                </a:cubicBezTo>
                <a:cubicBezTo>
                  <a:pt x="156859" y="9922"/>
                  <a:pt x="178594" y="31626"/>
                  <a:pt x="178594" y="58446"/>
                </a:cubicBezTo>
                <a:cubicBezTo>
                  <a:pt x="178594" y="71313"/>
                  <a:pt x="173478" y="83654"/>
                  <a:pt x="164393" y="92739"/>
                </a:cubicBezTo>
                <a:lnTo>
                  <a:pt x="142348" y="114784"/>
                </a:lnTo>
                <a:cubicBezTo>
                  <a:pt x="133263" y="123868"/>
                  <a:pt x="120923" y="128984"/>
                  <a:pt x="108055" y="128984"/>
                </a:cubicBezTo>
                <a:cubicBezTo>
                  <a:pt x="81266" y="128984"/>
                  <a:pt x="59531" y="107280"/>
                  <a:pt x="59531" y="80460"/>
                </a:cubicBezTo>
                <a:cubicBezTo>
                  <a:pt x="59531" y="79995"/>
                  <a:pt x="59531" y="79530"/>
                  <a:pt x="59562" y="79065"/>
                </a:cubicBezTo>
                <a:cubicBezTo>
                  <a:pt x="59717" y="73577"/>
                  <a:pt x="64275" y="69267"/>
                  <a:pt x="69763" y="69422"/>
                </a:cubicBezTo>
                <a:cubicBezTo>
                  <a:pt x="75251" y="69577"/>
                  <a:pt x="79561" y="74135"/>
                  <a:pt x="79406" y="79623"/>
                </a:cubicBezTo>
                <a:cubicBezTo>
                  <a:pt x="79406" y="79902"/>
                  <a:pt x="79406" y="80181"/>
                  <a:pt x="79406" y="80429"/>
                </a:cubicBezTo>
                <a:cubicBezTo>
                  <a:pt x="79406" y="96273"/>
                  <a:pt x="92242" y="109110"/>
                  <a:pt x="108086" y="109110"/>
                </a:cubicBezTo>
                <a:cubicBezTo>
                  <a:pt x="115683" y="109110"/>
                  <a:pt x="122969" y="106102"/>
                  <a:pt x="128364" y="100707"/>
                </a:cubicBezTo>
                <a:lnTo>
                  <a:pt x="150409" y="78662"/>
                </a:lnTo>
                <a:cubicBezTo>
                  <a:pt x="155773" y="73298"/>
                  <a:pt x="158812" y="65980"/>
                  <a:pt x="158812" y="58384"/>
                </a:cubicBezTo>
                <a:cubicBezTo>
                  <a:pt x="158812" y="42540"/>
                  <a:pt x="145976" y="29704"/>
                  <a:pt x="130132" y="29704"/>
                </a:cubicBezTo>
                <a:close/>
                <a:moveTo>
                  <a:pt x="85328" y="53733"/>
                </a:moveTo>
                <a:cubicBezTo>
                  <a:pt x="84739" y="53485"/>
                  <a:pt x="84150" y="53144"/>
                  <a:pt x="83623" y="52772"/>
                </a:cubicBezTo>
                <a:cubicBezTo>
                  <a:pt x="79716" y="50757"/>
                  <a:pt x="75251" y="49609"/>
                  <a:pt x="70569" y="49609"/>
                </a:cubicBezTo>
                <a:cubicBezTo>
                  <a:pt x="62973" y="49609"/>
                  <a:pt x="55687" y="52617"/>
                  <a:pt x="50292" y="58012"/>
                </a:cubicBezTo>
                <a:lnTo>
                  <a:pt x="28246" y="80057"/>
                </a:lnTo>
                <a:cubicBezTo>
                  <a:pt x="22882" y="85421"/>
                  <a:pt x="19844" y="92739"/>
                  <a:pt x="19844" y="100335"/>
                </a:cubicBezTo>
                <a:cubicBezTo>
                  <a:pt x="19844" y="116179"/>
                  <a:pt x="32680" y="129015"/>
                  <a:pt x="48524" y="129015"/>
                </a:cubicBezTo>
                <a:cubicBezTo>
                  <a:pt x="53640" y="129015"/>
                  <a:pt x="58632" y="127651"/>
                  <a:pt x="63004" y="125109"/>
                </a:cubicBezTo>
                <a:cubicBezTo>
                  <a:pt x="67903" y="130070"/>
                  <a:pt x="73608" y="134224"/>
                  <a:pt x="79933" y="137356"/>
                </a:cubicBezTo>
                <a:cubicBezTo>
                  <a:pt x="71189" y="144766"/>
                  <a:pt x="60089" y="148890"/>
                  <a:pt x="48524" y="148890"/>
                </a:cubicBezTo>
                <a:cubicBezTo>
                  <a:pt x="21735" y="148890"/>
                  <a:pt x="0" y="127186"/>
                  <a:pt x="0" y="100366"/>
                </a:cubicBezTo>
                <a:cubicBezTo>
                  <a:pt x="0" y="87499"/>
                  <a:pt x="5116" y="75158"/>
                  <a:pt x="14201" y="66073"/>
                </a:cubicBezTo>
                <a:lnTo>
                  <a:pt x="36246" y="44028"/>
                </a:lnTo>
                <a:cubicBezTo>
                  <a:pt x="45331" y="34944"/>
                  <a:pt x="57671" y="29828"/>
                  <a:pt x="70538" y="29828"/>
                </a:cubicBezTo>
                <a:cubicBezTo>
                  <a:pt x="97389" y="29828"/>
                  <a:pt x="119062" y="51718"/>
                  <a:pt x="119062" y="78476"/>
                </a:cubicBezTo>
                <a:cubicBezTo>
                  <a:pt x="119062" y="78879"/>
                  <a:pt x="119062" y="79282"/>
                  <a:pt x="119062" y="79685"/>
                </a:cubicBezTo>
                <a:cubicBezTo>
                  <a:pt x="118938" y="85173"/>
                  <a:pt x="114381" y="89483"/>
                  <a:pt x="108893" y="89359"/>
                </a:cubicBezTo>
                <a:cubicBezTo>
                  <a:pt x="103405" y="89235"/>
                  <a:pt x="99095" y="84677"/>
                  <a:pt x="99219" y="79189"/>
                </a:cubicBezTo>
                <a:cubicBezTo>
                  <a:pt x="99219" y="78941"/>
                  <a:pt x="99219" y="78724"/>
                  <a:pt x="99219" y="78476"/>
                </a:cubicBezTo>
                <a:cubicBezTo>
                  <a:pt x="99219" y="68027"/>
                  <a:pt x="93638" y="58849"/>
                  <a:pt x="85328" y="53795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" name="Text 5"/>
          <p:cNvSpPr/>
          <p:nvPr/>
        </p:nvSpPr>
        <p:spPr>
          <a:xfrm>
            <a:off x="958850" y="1228723"/>
            <a:ext cx="2087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Tighter Architectural Integration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8950" y="1657348"/>
            <a:ext cx="3427413" cy="690563"/>
          </a:xfrm>
          <a:custGeom>
            <a:avLst/>
            <a:gdLst/>
            <a:ahLst/>
            <a:cxnLst/>
            <a:rect l="l" t="t" r="r" b="b"/>
            <a:pathLst>
              <a:path w="3427413" h="690563">
                <a:moveTo>
                  <a:pt x="12700" y="0"/>
                </a:moveTo>
                <a:lnTo>
                  <a:pt x="3363915" y="0"/>
                </a:lnTo>
                <a:cubicBezTo>
                  <a:pt x="3398984" y="0"/>
                  <a:pt x="3427413" y="28429"/>
                  <a:pt x="3427413" y="63497"/>
                </a:cubicBezTo>
                <a:lnTo>
                  <a:pt x="3427413" y="627065"/>
                </a:lnTo>
                <a:cubicBezTo>
                  <a:pt x="3427413" y="662134"/>
                  <a:pt x="3398984" y="690563"/>
                  <a:pt x="3363915" y="690563"/>
                </a:cubicBezTo>
                <a:lnTo>
                  <a:pt x="12700" y="690563"/>
                </a:lnTo>
                <a:cubicBezTo>
                  <a:pt x="5691" y="690563"/>
                  <a:pt x="0" y="684872"/>
                  <a:pt x="0" y="677863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88950" y="1657348"/>
            <a:ext cx="12700" cy="690563"/>
          </a:xfrm>
          <a:custGeom>
            <a:avLst/>
            <a:gdLst/>
            <a:ahLst/>
            <a:cxnLst/>
            <a:rect l="l" t="t" r="r" b="b"/>
            <a:pathLst>
              <a:path w="12700" h="690563">
                <a:moveTo>
                  <a:pt x="12700" y="0"/>
                </a:moveTo>
                <a:lnTo>
                  <a:pt x="12700" y="0"/>
                </a:lnTo>
                <a:lnTo>
                  <a:pt x="12700" y="690563"/>
                </a:lnTo>
                <a:lnTo>
                  <a:pt x="12700" y="690563"/>
                </a:lnTo>
                <a:cubicBezTo>
                  <a:pt x="5691" y="690563"/>
                  <a:pt x="0" y="684872"/>
                  <a:pt x="0" y="677863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0" name="Text 8"/>
          <p:cNvSpPr/>
          <p:nvPr/>
        </p:nvSpPr>
        <p:spPr>
          <a:xfrm>
            <a:off x="590550" y="1752598"/>
            <a:ext cx="328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Parameter-Efficient Coupling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0550" y="1943098"/>
            <a:ext cx="328612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Novel adapter architectures and fusion mechanisms reducing computational overhead while maintaining expressiveness.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8950" y="2423317"/>
            <a:ext cx="3427413" cy="690563"/>
          </a:xfrm>
          <a:custGeom>
            <a:avLst/>
            <a:gdLst/>
            <a:ahLst/>
            <a:cxnLst/>
            <a:rect l="l" t="t" r="r" b="b"/>
            <a:pathLst>
              <a:path w="3427413" h="690563">
                <a:moveTo>
                  <a:pt x="12700" y="0"/>
                </a:moveTo>
                <a:lnTo>
                  <a:pt x="3363915" y="0"/>
                </a:lnTo>
                <a:cubicBezTo>
                  <a:pt x="3398984" y="0"/>
                  <a:pt x="3427413" y="28429"/>
                  <a:pt x="3427413" y="63497"/>
                </a:cubicBezTo>
                <a:lnTo>
                  <a:pt x="3427413" y="627065"/>
                </a:lnTo>
                <a:cubicBezTo>
                  <a:pt x="3427413" y="662134"/>
                  <a:pt x="3398984" y="690563"/>
                  <a:pt x="3363915" y="690563"/>
                </a:cubicBezTo>
                <a:lnTo>
                  <a:pt x="12700" y="690563"/>
                </a:lnTo>
                <a:cubicBezTo>
                  <a:pt x="5691" y="690563"/>
                  <a:pt x="0" y="684872"/>
                  <a:pt x="0" y="677863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88950" y="2423317"/>
            <a:ext cx="12700" cy="690563"/>
          </a:xfrm>
          <a:custGeom>
            <a:avLst/>
            <a:gdLst/>
            <a:ahLst/>
            <a:cxnLst/>
            <a:rect l="l" t="t" r="r" b="b"/>
            <a:pathLst>
              <a:path w="12700" h="690563">
                <a:moveTo>
                  <a:pt x="12700" y="0"/>
                </a:moveTo>
                <a:lnTo>
                  <a:pt x="12700" y="0"/>
                </a:lnTo>
                <a:lnTo>
                  <a:pt x="12700" y="690563"/>
                </a:lnTo>
                <a:lnTo>
                  <a:pt x="12700" y="690563"/>
                </a:lnTo>
                <a:cubicBezTo>
                  <a:pt x="5691" y="690563"/>
                  <a:pt x="0" y="684872"/>
                  <a:pt x="0" y="677863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4" name="Text 12"/>
          <p:cNvSpPr/>
          <p:nvPr/>
        </p:nvSpPr>
        <p:spPr>
          <a:xfrm>
            <a:off x="590550" y="2518567"/>
            <a:ext cx="328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Memory-Efficient Hybrids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0550" y="2709067"/>
            <a:ext cx="328612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Architectures enabling end-to-end trainability without requiring full LLM fine-tuning, reducing memory by 90%+.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8950" y="3189286"/>
            <a:ext cx="3427413" cy="690563"/>
          </a:xfrm>
          <a:custGeom>
            <a:avLst/>
            <a:gdLst/>
            <a:ahLst/>
            <a:cxnLst/>
            <a:rect l="l" t="t" r="r" b="b"/>
            <a:pathLst>
              <a:path w="3427413" h="690563">
                <a:moveTo>
                  <a:pt x="12700" y="0"/>
                </a:moveTo>
                <a:lnTo>
                  <a:pt x="3363915" y="0"/>
                </a:lnTo>
                <a:cubicBezTo>
                  <a:pt x="3398984" y="0"/>
                  <a:pt x="3427413" y="28429"/>
                  <a:pt x="3427413" y="63497"/>
                </a:cubicBezTo>
                <a:lnTo>
                  <a:pt x="3427413" y="627065"/>
                </a:lnTo>
                <a:cubicBezTo>
                  <a:pt x="3427413" y="662134"/>
                  <a:pt x="3398984" y="690563"/>
                  <a:pt x="3363915" y="690563"/>
                </a:cubicBezTo>
                <a:lnTo>
                  <a:pt x="12700" y="690563"/>
                </a:lnTo>
                <a:cubicBezTo>
                  <a:pt x="5691" y="690563"/>
                  <a:pt x="0" y="684872"/>
                  <a:pt x="0" y="677863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88950" y="3189286"/>
            <a:ext cx="12700" cy="690563"/>
          </a:xfrm>
          <a:custGeom>
            <a:avLst/>
            <a:gdLst/>
            <a:ahLst/>
            <a:cxnLst/>
            <a:rect l="l" t="t" r="r" b="b"/>
            <a:pathLst>
              <a:path w="12700" h="690563">
                <a:moveTo>
                  <a:pt x="12700" y="0"/>
                </a:moveTo>
                <a:lnTo>
                  <a:pt x="12700" y="0"/>
                </a:lnTo>
                <a:lnTo>
                  <a:pt x="12700" y="690563"/>
                </a:lnTo>
                <a:lnTo>
                  <a:pt x="12700" y="690563"/>
                </a:lnTo>
                <a:cubicBezTo>
                  <a:pt x="5691" y="690563"/>
                  <a:pt x="0" y="684872"/>
                  <a:pt x="0" y="677863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8" name="Text 16"/>
          <p:cNvSpPr/>
          <p:nvPr/>
        </p:nvSpPr>
        <p:spPr>
          <a:xfrm>
            <a:off x="590550" y="3284536"/>
            <a:ext cx="328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Theoretical Guarantees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0550" y="3475036"/>
            <a:ext cx="328612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Formal analysis of compositional generalization, establishing when and why hybrid architectures succeed.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15309" y="987425"/>
            <a:ext cx="3760787" cy="3205162"/>
          </a:xfrm>
          <a:custGeom>
            <a:avLst/>
            <a:gdLst/>
            <a:ahLst/>
            <a:cxnLst/>
            <a:rect l="l" t="t" r="r" b="b"/>
            <a:pathLst>
              <a:path w="3760787" h="3205162">
                <a:moveTo>
                  <a:pt x="95257" y="0"/>
                </a:moveTo>
                <a:lnTo>
                  <a:pt x="3665530" y="0"/>
                </a:lnTo>
                <a:cubicBezTo>
                  <a:pt x="3718139" y="0"/>
                  <a:pt x="3760787" y="42648"/>
                  <a:pt x="3760787" y="95257"/>
                </a:cubicBezTo>
                <a:lnTo>
                  <a:pt x="3760787" y="3109905"/>
                </a:lnTo>
                <a:cubicBezTo>
                  <a:pt x="3760787" y="3162514"/>
                  <a:pt x="3718139" y="3205162"/>
                  <a:pt x="3665530" y="3205162"/>
                </a:cubicBezTo>
                <a:lnTo>
                  <a:pt x="95257" y="3205162"/>
                </a:lnTo>
                <a:cubicBezTo>
                  <a:pt x="42648" y="3205162"/>
                  <a:pt x="0" y="3162514"/>
                  <a:pt x="0" y="3109905"/>
                </a:cubicBezTo>
                <a:lnTo>
                  <a:pt x="0" y="95257"/>
                </a:lnTo>
                <a:cubicBezTo>
                  <a:pt x="0" y="42648"/>
                  <a:pt x="42648" y="0"/>
                  <a:pt x="95257" y="0"/>
                </a:cubicBezTo>
                <a:close/>
              </a:path>
            </a:pathLst>
          </a:custGeom>
          <a:solidFill>
            <a:srgbClr val="FFD166">
              <a:alpha val="10196"/>
            </a:srgbClr>
          </a:solidFill>
          <a:ln w="10160">
            <a:solidFill>
              <a:srgbClr val="FFD166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77234" y="114934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D166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488359" y="126047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28984" y="64492"/>
                </a:moveTo>
                <a:cubicBezTo>
                  <a:pt x="128984" y="78724"/>
                  <a:pt x="124365" y="91870"/>
                  <a:pt x="116582" y="102536"/>
                </a:cubicBezTo>
                <a:lnTo>
                  <a:pt x="155835" y="141821"/>
                </a:lnTo>
                <a:cubicBezTo>
                  <a:pt x="159711" y="145697"/>
                  <a:pt x="159711" y="151991"/>
                  <a:pt x="155835" y="155866"/>
                </a:cubicBezTo>
                <a:cubicBezTo>
                  <a:pt x="151960" y="159742"/>
                  <a:pt x="145666" y="159742"/>
                  <a:pt x="141790" y="155866"/>
                </a:cubicBezTo>
                <a:lnTo>
                  <a:pt x="102536" y="116582"/>
                </a:lnTo>
                <a:cubicBezTo>
                  <a:pt x="91870" y="124365"/>
                  <a:pt x="78724" y="128984"/>
                  <a:pt x="64492" y="128984"/>
                </a:cubicBezTo>
                <a:cubicBezTo>
                  <a:pt x="28866" y="128984"/>
                  <a:pt x="0" y="100118"/>
                  <a:pt x="0" y="64492"/>
                </a:cubicBezTo>
                <a:cubicBezTo>
                  <a:pt x="0" y="28866"/>
                  <a:pt x="28866" y="0"/>
                  <a:pt x="64492" y="0"/>
                </a:cubicBezTo>
                <a:cubicBezTo>
                  <a:pt x="100118" y="0"/>
                  <a:pt x="128984" y="28866"/>
                  <a:pt x="128984" y="64492"/>
                </a:cubicBezTo>
                <a:close/>
                <a:moveTo>
                  <a:pt x="64492" y="34727"/>
                </a:moveTo>
                <a:cubicBezTo>
                  <a:pt x="60368" y="34727"/>
                  <a:pt x="57051" y="38044"/>
                  <a:pt x="57051" y="42168"/>
                </a:cubicBezTo>
                <a:lnTo>
                  <a:pt x="57051" y="57051"/>
                </a:lnTo>
                <a:lnTo>
                  <a:pt x="42168" y="57051"/>
                </a:lnTo>
                <a:cubicBezTo>
                  <a:pt x="38044" y="57051"/>
                  <a:pt x="34727" y="60368"/>
                  <a:pt x="34727" y="64492"/>
                </a:cubicBezTo>
                <a:cubicBezTo>
                  <a:pt x="34727" y="68616"/>
                  <a:pt x="38044" y="71934"/>
                  <a:pt x="42168" y="71934"/>
                </a:cubicBezTo>
                <a:lnTo>
                  <a:pt x="57051" y="71934"/>
                </a:lnTo>
                <a:lnTo>
                  <a:pt x="57051" y="86816"/>
                </a:lnTo>
                <a:cubicBezTo>
                  <a:pt x="57051" y="90940"/>
                  <a:pt x="60368" y="94258"/>
                  <a:pt x="64492" y="94258"/>
                </a:cubicBezTo>
                <a:cubicBezTo>
                  <a:pt x="68616" y="94258"/>
                  <a:pt x="71934" y="90940"/>
                  <a:pt x="71934" y="86816"/>
                </a:cubicBezTo>
                <a:lnTo>
                  <a:pt x="71934" y="71934"/>
                </a:lnTo>
                <a:lnTo>
                  <a:pt x="86816" y="71934"/>
                </a:lnTo>
                <a:cubicBezTo>
                  <a:pt x="90940" y="71934"/>
                  <a:pt x="94258" y="68616"/>
                  <a:pt x="94258" y="64492"/>
                </a:cubicBezTo>
                <a:cubicBezTo>
                  <a:pt x="94258" y="60368"/>
                  <a:pt x="90940" y="57051"/>
                  <a:pt x="86816" y="57051"/>
                </a:cubicBezTo>
                <a:lnTo>
                  <a:pt x="71934" y="57051"/>
                </a:lnTo>
                <a:lnTo>
                  <a:pt x="71934" y="42168"/>
                </a:lnTo>
                <a:cubicBezTo>
                  <a:pt x="71934" y="38044"/>
                  <a:pt x="68616" y="34727"/>
                  <a:pt x="64492" y="34727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23" name="Text 21"/>
          <p:cNvSpPr/>
          <p:nvPr/>
        </p:nvSpPr>
        <p:spPr>
          <a:xfrm>
            <a:off x="4853484" y="1228723"/>
            <a:ext cx="2119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Retrieval Mechanisms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383584" y="1657348"/>
            <a:ext cx="3427413" cy="690563"/>
          </a:xfrm>
          <a:custGeom>
            <a:avLst/>
            <a:gdLst/>
            <a:ahLst/>
            <a:cxnLst/>
            <a:rect l="l" t="t" r="r" b="b"/>
            <a:pathLst>
              <a:path w="3427413" h="690563">
                <a:moveTo>
                  <a:pt x="12700" y="0"/>
                </a:moveTo>
                <a:lnTo>
                  <a:pt x="3363915" y="0"/>
                </a:lnTo>
                <a:cubicBezTo>
                  <a:pt x="3398984" y="0"/>
                  <a:pt x="3427413" y="28429"/>
                  <a:pt x="3427413" y="63497"/>
                </a:cubicBezTo>
                <a:lnTo>
                  <a:pt x="3427413" y="627065"/>
                </a:lnTo>
                <a:cubicBezTo>
                  <a:pt x="3427413" y="662134"/>
                  <a:pt x="3398984" y="690563"/>
                  <a:pt x="3363915" y="690563"/>
                </a:cubicBezTo>
                <a:lnTo>
                  <a:pt x="12700" y="690563"/>
                </a:lnTo>
                <a:cubicBezTo>
                  <a:pt x="5691" y="690563"/>
                  <a:pt x="0" y="684872"/>
                  <a:pt x="0" y="677863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383584" y="1657348"/>
            <a:ext cx="12700" cy="690563"/>
          </a:xfrm>
          <a:custGeom>
            <a:avLst/>
            <a:gdLst/>
            <a:ahLst/>
            <a:cxnLst/>
            <a:rect l="l" t="t" r="r" b="b"/>
            <a:pathLst>
              <a:path w="12700" h="690563">
                <a:moveTo>
                  <a:pt x="12700" y="0"/>
                </a:moveTo>
                <a:lnTo>
                  <a:pt x="12700" y="0"/>
                </a:lnTo>
                <a:lnTo>
                  <a:pt x="12700" y="690563"/>
                </a:lnTo>
                <a:lnTo>
                  <a:pt x="12700" y="690563"/>
                </a:lnTo>
                <a:cubicBezTo>
                  <a:pt x="5691" y="690563"/>
                  <a:pt x="0" y="684872"/>
                  <a:pt x="0" y="677863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26" name="Text 24"/>
          <p:cNvSpPr/>
          <p:nvPr/>
        </p:nvSpPr>
        <p:spPr>
          <a:xfrm>
            <a:off x="4485184" y="1752598"/>
            <a:ext cx="328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RL-Based Retrieval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85184" y="1943098"/>
            <a:ext cx="328612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Reinforcement learning agents optimizing information gain with custom reward schedules balancing accuracy and efficiency.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83584" y="2423317"/>
            <a:ext cx="3427413" cy="690563"/>
          </a:xfrm>
          <a:custGeom>
            <a:avLst/>
            <a:gdLst/>
            <a:ahLst/>
            <a:cxnLst/>
            <a:rect l="l" t="t" r="r" b="b"/>
            <a:pathLst>
              <a:path w="3427413" h="690563">
                <a:moveTo>
                  <a:pt x="12700" y="0"/>
                </a:moveTo>
                <a:lnTo>
                  <a:pt x="3363915" y="0"/>
                </a:lnTo>
                <a:cubicBezTo>
                  <a:pt x="3398984" y="0"/>
                  <a:pt x="3427413" y="28429"/>
                  <a:pt x="3427413" y="63497"/>
                </a:cubicBezTo>
                <a:lnTo>
                  <a:pt x="3427413" y="627065"/>
                </a:lnTo>
                <a:cubicBezTo>
                  <a:pt x="3427413" y="662134"/>
                  <a:pt x="3398984" y="690563"/>
                  <a:pt x="3363915" y="690563"/>
                </a:cubicBezTo>
                <a:lnTo>
                  <a:pt x="12700" y="690563"/>
                </a:lnTo>
                <a:cubicBezTo>
                  <a:pt x="5691" y="690563"/>
                  <a:pt x="0" y="684872"/>
                  <a:pt x="0" y="677863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83584" y="2423317"/>
            <a:ext cx="12700" cy="690563"/>
          </a:xfrm>
          <a:custGeom>
            <a:avLst/>
            <a:gdLst/>
            <a:ahLst/>
            <a:cxnLst/>
            <a:rect l="l" t="t" r="r" b="b"/>
            <a:pathLst>
              <a:path w="12700" h="690563">
                <a:moveTo>
                  <a:pt x="12700" y="0"/>
                </a:moveTo>
                <a:lnTo>
                  <a:pt x="12700" y="0"/>
                </a:lnTo>
                <a:lnTo>
                  <a:pt x="12700" y="690563"/>
                </a:lnTo>
                <a:lnTo>
                  <a:pt x="12700" y="690563"/>
                </a:lnTo>
                <a:cubicBezTo>
                  <a:pt x="5691" y="690563"/>
                  <a:pt x="0" y="684872"/>
                  <a:pt x="0" y="677863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30" name="Text 28"/>
          <p:cNvSpPr/>
          <p:nvPr/>
        </p:nvSpPr>
        <p:spPr>
          <a:xfrm>
            <a:off x="4485184" y="2518567"/>
            <a:ext cx="328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Adaptive Scoring Routes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85184" y="2709067"/>
            <a:ext cx="328612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selection between dense, graph-based, or hybrid retrieval based on query complexity and domain characteristics.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83584" y="3189286"/>
            <a:ext cx="3427413" cy="690563"/>
          </a:xfrm>
          <a:custGeom>
            <a:avLst/>
            <a:gdLst/>
            <a:ahLst/>
            <a:cxnLst/>
            <a:rect l="l" t="t" r="r" b="b"/>
            <a:pathLst>
              <a:path w="3427413" h="690563">
                <a:moveTo>
                  <a:pt x="12700" y="0"/>
                </a:moveTo>
                <a:lnTo>
                  <a:pt x="3363915" y="0"/>
                </a:lnTo>
                <a:cubicBezTo>
                  <a:pt x="3398984" y="0"/>
                  <a:pt x="3427413" y="28429"/>
                  <a:pt x="3427413" y="63497"/>
                </a:cubicBezTo>
                <a:lnTo>
                  <a:pt x="3427413" y="627065"/>
                </a:lnTo>
                <a:cubicBezTo>
                  <a:pt x="3427413" y="662134"/>
                  <a:pt x="3398984" y="690563"/>
                  <a:pt x="3363915" y="690563"/>
                </a:cubicBezTo>
                <a:lnTo>
                  <a:pt x="12700" y="690563"/>
                </a:lnTo>
                <a:cubicBezTo>
                  <a:pt x="5691" y="690563"/>
                  <a:pt x="0" y="684872"/>
                  <a:pt x="0" y="677863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83584" y="3189286"/>
            <a:ext cx="12700" cy="690563"/>
          </a:xfrm>
          <a:custGeom>
            <a:avLst/>
            <a:gdLst/>
            <a:ahLst/>
            <a:cxnLst/>
            <a:rect l="l" t="t" r="r" b="b"/>
            <a:pathLst>
              <a:path w="12700" h="690563">
                <a:moveTo>
                  <a:pt x="12700" y="0"/>
                </a:moveTo>
                <a:lnTo>
                  <a:pt x="12700" y="0"/>
                </a:lnTo>
                <a:lnTo>
                  <a:pt x="12700" y="690563"/>
                </a:lnTo>
                <a:lnTo>
                  <a:pt x="12700" y="690563"/>
                </a:lnTo>
                <a:cubicBezTo>
                  <a:pt x="5691" y="690563"/>
                  <a:pt x="0" y="684872"/>
                  <a:pt x="0" y="677863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34" name="Text 32"/>
          <p:cNvSpPr/>
          <p:nvPr/>
        </p:nvSpPr>
        <p:spPr>
          <a:xfrm>
            <a:off x="4485184" y="3284536"/>
            <a:ext cx="328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Multi-Hop Reasoning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85184" y="3475036"/>
            <a:ext cx="328612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Breaking through 2-3 hop limitations to support 5-10+ hop reasoning chains for complex knowledge graph traversal.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09942" y="987425"/>
            <a:ext cx="3760787" cy="3205162"/>
          </a:xfrm>
          <a:custGeom>
            <a:avLst/>
            <a:gdLst/>
            <a:ahLst/>
            <a:cxnLst/>
            <a:rect l="l" t="t" r="r" b="b"/>
            <a:pathLst>
              <a:path w="3760787" h="3205162">
                <a:moveTo>
                  <a:pt x="95257" y="0"/>
                </a:moveTo>
                <a:lnTo>
                  <a:pt x="3665530" y="0"/>
                </a:lnTo>
                <a:cubicBezTo>
                  <a:pt x="3718139" y="0"/>
                  <a:pt x="3760787" y="42648"/>
                  <a:pt x="3760787" y="95257"/>
                </a:cubicBezTo>
                <a:lnTo>
                  <a:pt x="3760787" y="3109905"/>
                </a:lnTo>
                <a:cubicBezTo>
                  <a:pt x="3760787" y="3162514"/>
                  <a:pt x="3718139" y="3205162"/>
                  <a:pt x="3665530" y="3205162"/>
                </a:cubicBezTo>
                <a:lnTo>
                  <a:pt x="95257" y="3205162"/>
                </a:lnTo>
                <a:cubicBezTo>
                  <a:pt x="42648" y="3205162"/>
                  <a:pt x="0" y="3162514"/>
                  <a:pt x="0" y="3109905"/>
                </a:cubicBezTo>
                <a:lnTo>
                  <a:pt x="0" y="95257"/>
                </a:lnTo>
                <a:cubicBezTo>
                  <a:pt x="0" y="42648"/>
                  <a:pt x="42648" y="0"/>
                  <a:pt x="95257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016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71867" y="114934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373070" y="126047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29766" y="29766"/>
                </a:moveTo>
                <a:cubicBezTo>
                  <a:pt x="29766" y="18821"/>
                  <a:pt x="38664" y="9922"/>
                  <a:pt x="49609" y="9922"/>
                </a:cubicBezTo>
                <a:lnTo>
                  <a:pt x="148828" y="9922"/>
                </a:lnTo>
                <a:cubicBezTo>
                  <a:pt x="159773" y="9922"/>
                  <a:pt x="168672" y="18821"/>
                  <a:pt x="168672" y="29766"/>
                </a:cubicBezTo>
                <a:lnTo>
                  <a:pt x="168672" y="109141"/>
                </a:lnTo>
                <a:cubicBezTo>
                  <a:pt x="168672" y="120086"/>
                  <a:pt x="159773" y="128984"/>
                  <a:pt x="148828" y="128984"/>
                </a:cubicBezTo>
                <a:lnTo>
                  <a:pt x="49609" y="128984"/>
                </a:lnTo>
                <a:cubicBezTo>
                  <a:pt x="38664" y="128984"/>
                  <a:pt x="29766" y="120086"/>
                  <a:pt x="29766" y="109141"/>
                </a:cubicBezTo>
                <a:lnTo>
                  <a:pt x="29766" y="29766"/>
                </a:lnTo>
                <a:close/>
                <a:moveTo>
                  <a:pt x="7441" y="39688"/>
                </a:moveTo>
                <a:cubicBezTo>
                  <a:pt x="11565" y="39688"/>
                  <a:pt x="14883" y="43005"/>
                  <a:pt x="14883" y="47129"/>
                </a:cubicBezTo>
                <a:lnTo>
                  <a:pt x="14883" y="138906"/>
                </a:lnTo>
                <a:cubicBezTo>
                  <a:pt x="14883" y="141635"/>
                  <a:pt x="17115" y="143867"/>
                  <a:pt x="19844" y="143867"/>
                </a:cubicBezTo>
                <a:lnTo>
                  <a:pt x="131465" y="143867"/>
                </a:lnTo>
                <a:cubicBezTo>
                  <a:pt x="135589" y="143867"/>
                  <a:pt x="138906" y="147185"/>
                  <a:pt x="138906" y="151309"/>
                </a:cubicBezTo>
                <a:cubicBezTo>
                  <a:pt x="138906" y="155432"/>
                  <a:pt x="135589" y="158750"/>
                  <a:pt x="131465" y="158750"/>
                </a:cubicBezTo>
                <a:lnTo>
                  <a:pt x="19844" y="158750"/>
                </a:lnTo>
                <a:cubicBezTo>
                  <a:pt x="8899" y="158750"/>
                  <a:pt x="0" y="149851"/>
                  <a:pt x="0" y="138906"/>
                </a:cubicBezTo>
                <a:lnTo>
                  <a:pt x="0" y="47129"/>
                </a:lnTo>
                <a:cubicBezTo>
                  <a:pt x="0" y="43005"/>
                  <a:pt x="3318" y="39688"/>
                  <a:pt x="7441" y="39688"/>
                </a:cubicBezTo>
                <a:close/>
                <a:moveTo>
                  <a:pt x="59531" y="49609"/>
                </a:moveTo>
                <a:cubicBezTo>
                  <a:pt x="65007" y="49609"/>
                  <a:pt x="69453" y="45164"/>
                  <a:pt x="69453" y="39688"/>
                </a:cubicBezTo>
                <a:cubicBezTo>
                  <a:pt x="69453" y="34211"/>
                  <a:pt x="65007" y="29766"/>
                  <a:pt x="59531" y="29766"/>
                </a:cubicBezTo>
                <a:cubicBezTo>
                  <a:pt x="54055" y="29766"/>
                  <a:pt x="49609" y="34211"/>
                  <a:pt x="49609" y="39688"/>
                </a:cubicBezTo>
                <a:cubicBezTo>
                  <a:pt x="49609" y="45164"/>
                  <a:pt x="54055" y="49609"/>
                  <a:pt x="59531" y="49609"/>
                </a:cubicBezTo>
                <a:close/>
                <a:moveTo>
                  <a:pt x="120458" y="53175"/>
                </a:moveTo>
                <a:cubicBezTo>
                  <a:pt x="119094" y="50974"/>
                  <a:pt x="116706" y="49609"/>
                  <a:pt x="114102" y="49609"/>
                </a:cubicBezTo>
                <a:cubicBezTo>
                  <a:pt x="111497" y="49609"/>
                  <a:pt x="109110" y="50974"/>
                  <a:pt x="107745" y="53175"/>
                </a:cubicBezTo>
                <a:lnTo>
                  <a:pt x="90289" y="81731"/>
                </a:lnTo>
                <a:lnTo>
                  <a:pt x="82693" y="72244"/>
                </a:lnTo>
                <a:cubicBezTo>
                  <a:pt x="81266" y="70476"/>
                  <a:pt x="79158" y="69453"/>
                  <a:pt x="76895" y="69453"/>
                </a:cubicBezTo>
                <a:cubicBezTo>
                  <a:pt x="74631" y="69453"/>
                  <a:pt x="72492" y="70476"/>
                  <a:pt x="71096" y="72244"/>
                </a:cubicBezTo>
                <a:lnTo>
                  <a:pt x="51253" y="97048"/>
                </a:lnTo>
                <a:cubicBezTo>
                  <a:pt x="49454" y="99281"/>
                  <a:pt x="49113" y="102350"/>
                  <a:pt x="50354" y="104924"/>
                </a:cubicBezTo>
                <a:cubicBezTo>
                  <a:pt x="51594" y="107497"/>
                  <a:pt x="54198" y="109141"/>
                  <a:pt x="57051" y="109141"/>
                </a:cubicBezTo>
                <a:lnTo>
                  <a:pt x="141387" y="109141"/>
                </a:lnTo>
                <a:cubicBezTo>
                  <a:pt x="144084" y="109141"/>
                  <a:pt x="146565" y="107683"/>
                  <a:pt x="147867" y="105327"/>
                </a:cubicBezTo>
                <a:cubicBezTo>
                  <a:pt x="149169" y="102970"/>
                  <a:pt x="149138" y="100118"/>
                  <a:pt x="147712" y="97792"/>
                </a:cubicBezTo>
                <a:lnTo>
                  <a:pt x="120427" y="53144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9" name="Text 37"/>
          <p:cNvSpPr/>
          <p:nvPr/>
        </p:nvSpPr>
        <p:spPr>
          <a:xfrm>
            <a:off x="8748117" y="1228723"/>
            <a:ext cx="1460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Multimodal Expansion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78217" y="1657348"/>
            <a:ext cx="3427413" cy="841375"/>
          </a:xfrm>
          <a:custGeom>
            <a:avLst/>
            <a:gdLst/>
            <a:ahLst/>
            <a:cxnLst/>
            <a:rect l="l" t="t" r="r" b="b"/>
            <a:pathLst>
              <a:path w="3427413" h="841375">
                <a:moveTo>
                  <a:pt x="12700" y="0"/>
                </a:moveTo>
                <a:lnTo>
                  <a:pt x="3363914" y="0"/>
                </a:lnTo>
                <a:cubicBezTo>
                  <a:pt x="3398983" y="0"/>
                  <a:pt x="3427413" y="28429"/>
                  <a:pt x="3427413" y="63499"/>
                </a:cubicBezTo>
                <a:lnTo>
                  <a:pt x="3427413" y="777876"/>
                </a:lnTo>
                <a:cubicBezTo>
                  <a:pt x="3427413" y="812946"/>
                  <a:pt x="3398983" y="841375"/>
                  <a:pt x="3363914" y="841375"/>
                </a:cubicBezTo>
                <a:lnTo>
                  <a:pt x="12700" y="841375"/>
                </a:lnTo>
                <a:cubicBezTo>
                  <a:pt x="5691" y="841375"/>
                  <a:pt x="0" y="835684"/>
                  <a:pt x="0" y="828675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278217" y="1657348"/>
            <a:ext cx="12700" cy="841375"/>
          </a:xfrm>
          <a:custGeom>
            <a:avLst/>
            <a:gdLst/>
            <a:ahLst/>
            <a:cxnLst/>
            <a:rect l="l" t="t" r="r" b="b"/>
            <a:pathLst>
              <a:path w="12700" h="841375">
                <a:moveTo>
                  <a:pt x="12700" y="0"/>
                </a:moveTo>
                <a:lnTo>
                  <a:pt x="12700" y="0"/>
                </a:lnTo>
                <a:lnTo>
                  <a:pt x="12700" y="841375"/>
                </a:lnTo>
                <a:lnTo>
                  <a:pt x="12700" y="841375"/>
                </a:lnTo>
                <a:cubicBezTo>
                  <a:pt x="5691" y="841375"/>
                  <a:pt x="0" y="835684"/>
                  <a:pt x="0" y="828675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2" name="Text 40"/>
          <p:cNvSpPr/>
          <p:nvPr/>
        </p:nvSpPr>
        <p:spPr>
          <a:xfrm>
            <a:off x="8379817" y="1752598"/>
            <a:ext cx="328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Cross-Modal Integration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79817" y="1943098"/>
            <a:ext cx="3286125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processing of text, image, audio, video with graph structures. MR-MKG demonstrates 2.25% parameter training achieving SOTA.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78217" y="2576114"/>
            <a:ext cx="3427413" cy="690563"/>
          </a:xfrm>
          <a:custGeom>
            <a:avLst/>
            <a:gdLst/>
            <a:ahLst/>
            <a:cxnLst/>
            <a:rect l="l" t="t" r="r" b="b"/>
            <a:pathLst>
              <a:path w="3427413" h="690563">
                <a:moveTo>
                  <a:pt x="12700" y="0"/>
                </a:moveTo>
                <a:lnTo>
                  <a:pt x="3363915" y="0"/>
                </a:lnTo>
                <a:cubicBezTo>
                  <a:pt x="3398984" y="0"/>
                  <a:pt x="3427413" y="28429"/>
                  <a:pt x="3427413" y="63497"/>
                </a:cubicBezTo>
                <a:lnTo>
                  <a:pt x="3427413" y="627065"/>
                </a:lnTo>
                <a:cubicBezTo>
                  <a:pt x="3427413" y="662134"/>
                  <a:pt x="3398984" y="690563"/>
                  <a:pt x="3363915" y="690563"/>
                </a:cubicBezTo>
                <a:lnTo>
                  <a:pt x="12700" y="690563"/>
                </a:lnTo>
                <a:cubicBezTo>
                  <a:pt x="5691" y="690563"/>
                  <a:pt x="0" y="684872"/>
                  <a:pt x="0" y="677863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278217" y="2576114"/>
            <a:ext cx="12700" cy="690563"/>
          </a:xfrm>
          <a:custGeom>
            <a:avLst/>
            <a:gdLst/>
            <a:ahLst/>
            <a:cxnLst/>
            <a:rect l="l" t="t" r="r" b="b"/>
            <a:pathLst>
              <a:path w="12700" h="690563">
                <a:moveTo>
                  <a:pt x="12700" y="0"/>
                </a:moveTo>
                <a:lnTo>
                  <a:pt x="12700" y="0"/>
                </a:lnTo>
                <a:lnTo>
                  <a:pt x="12700" y="690563"/>
                </a:lnTo>
                <a:lnTo>
                  <a:pt x="12700" y="690563"/>
                </a:lnTo>
                <a:cubicBezTo>
                  <a:pt x="5691" y="690563"/>
                  <a:pt x="0" y="684872"/>
                  <a:pt x="0" y="677863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6" name="Text 44"/>
          <p:cNvSpPr/>
          <p:nvPr/>
        </p:nvSpPr>
        <p:spPr>
          <a:xfrm>
            <a:off x="8379817" y="2671364"/>
            <a:ext cx="328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Cross-Modal Reasoning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79817" y="2861864"/>
            <a:ext cx="328612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Connecting visual and textual evidence through shared graph representations for comprehensive multimodal understanding.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78217" y="3342083"/>
            <a:ext cx="3427413" cy="690563"/>
          </a:xfrm>
          <a:custGeom>
            <a:avLst/>
            <a:gdLst/>
            <a:ahLst/>
            <a:cxnLst/>
            <a:rect l="l" t="t" r="r" b="b"/>
            <a:pathLst>
              <a:path w="3427413" h="690563">
                <a:moveTo>
                  <a:pt x="12700" y="0"/>
                </a:moveTo>
                <a:lnTo>
                  <a:pt x="3363915" y="0"/>
                </a:lnTo>
                <a:cubicBezTo>
                  <a:pt x="3398984" y="0"/>
                  <a:pt x="3427413" y="28429"/>
                  <a:pt x="3427413" y="63497"/>
                </a:cubicBezTo>
                <a:lnTo>
                  <a:pt x="3427413" y="627065"/>
                </a:lnTo>
                <a:cubicBezTo>
                  <a:pt x="3427413" y="662134"/>
                  <a:pt x="3398984" y="690563"/>
                  <a:pt x="3363915" y="690563"/>
                </a:cubicBezTo>
                <a:lnTo>
                  <a:pt x="12700" y="690563"/>
                </a:lnTo>
                <a:cubicBezTo>
                  <a:pt x="5691" y="690563"/>
                  <a:pt x="0" y="684872"/>
                  <a:pt x="0" y="677863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278217" y="3342083"/>
            <a:ext cx="12700" cy="690563"/>
          </a:xfrm>
          <a:custGeom>
            <a:avLst/>
            <a:gdLst/>
            <a:ahLst/>
            <a:cxnLst/>
            <a:rect l="l" t="t" r="r" b="b"/>
            <a:pathLst>
              <a:path w="12700" h="690563">
                <a:moveTo>
                  <a:pt x="12700" y="0"/>
                </a:moveTo>
                <a:lnTo>
                  <a:pt x="12700" y="0"/>
                </a:lnTo>
                <a:lnTo>
                  <a:pt x="12700" y="690563"/>
                </a:lnTo>
                <a:lnTo>
                  <a:pt x="12700" y="690563"/>
                </a:lnTo>
                <a:cubicBezTo>
                  <a:pt x="5691" y="690563"/>
                  <a:pt x="0" y="684872"/>
                  <a:pt x="0" y="677863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0" name="Text 48"/>
          <p:cNvSpPr/>
          <p:nvPr/>
        </p:nvSpPr>
        <p:spPr>
          <a:xfrm>
            <a:off x="8379817" y="3437333"/>
            <a:ext cx="328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Representations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379817" y="3627833"/>
            <a:ext cx="328612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Shared embedding spaces enabling seamless reasoning across modalities without explicit conversion or alignment.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20675" y="4323958"/>
            <a:ext cx="3760787" cy="3355975"/>
          </a:xfrm>
          <a:custGeom>
            <a:avLst/>
            <a:gdLst/>
            <a:ahLst/>
            <a:cxnLst/>
            <a:rect l="l" t="t" r="r" b="b"/>
            <a:pathLst>
              <a:path w="3760787" h="3355975">
                <a:moveTo>
                  <a:pt x="95243" y="0"/>
                </a:moveTo>
                <a:lnTo>
                  <a:pt x="3665545" y="0"/>
                </a:lnTo>
                <a:cubicBezTo>
                  <a:pt x="3718146" y="0"/>
                  <a:pt x="3760787" y="42642"/>
                  <a:pt x="3760787" y="95243"/>
                </a:cubicBezTo>
                <a:lnTo>
                  <a:pt x="3760787" y="3260732"/>
                </a:lnTo>
                <a:cubicBezTo>
                  <a:pt x="3760787" y="3313333"/>
                  <a:pt x="3718146" y="3355975"/>
                  <a:pt x="3665545" y="3355975"/>
                </a:cubicBezTo>
                <a:lnTo>
                  <a:pt x="95243" y="3355975"/>
                </a:lnTo>
                <a:cubicBezTo>
                  <a:pt x="42642" y="3355975"/>
                  <a:pt x="0" y="3313333"/>
                  <a:pt x="0" y="3260732"/>
                </a:cubicBezTo>
                <a:lnTo>
                  <a:pt x="0" y="95243"/>
                </a:lnTo>
                <a:cubicBezTo>
                  <a:pt x="0" y="42642"/>
                  <a:pt x="42642" y="0"/>
                  <a:pt x="95243" y="0"/>
                </a:cubicBezTo>
                <a:close/>
              </a:path>
            </a:pathLst>
          </a:custGeom>
          <a:solidFill>
            <a:srgbClr val="FFD166">
              <a:alpha val="10196"/>
            </a:srgbClr>
          </a:solidFill>
          <a:ln w="10160">
            <a:solidFill>
              <a:srgbClr val="FFD166">
                <a:alpha val="30196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2600" y="448588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D166">
              <a:alpha val="2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3725" y="4597006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22" y="9922"/>
                </a:moveTo>
                <a:cubicBezTo>
                  <a:pt x="4434" y="9922"/>
                  <a:pt x="0" y="14356"/>
                  <a:pt x="0" y="19844"/>
                </a:cubicBezTo>
                <a:lnTo>
                  <a:pt x="0" y="133945"/>
                </a:lnTo>
                <a:cubicBezTo>
                  <a:pt x="0" y="142162"/>
                  <a:pt x="6666" y="148828"/>
                  <a:pt x="14883" y="148828"/>
                </a:cubicBezTo>
                <a:lnTo>
                  <a:pt x="143867" y="148828"/>
                </a:lnTo>
                <a:cubicBezTo>
                  <a:pt x="152084" y="148828"/>
                  <a:pt x="158750" y="142162"/>
                  <a:pt x="158750" y="133945"/>
                </a:cubicBezTo>
                <a:lnTo>
                  <a:pt x="158750" y="47191"/>
                </a:lnTo>
                <a:cubicBezTo>
                  <a:pt x="158750" y="41548"/>
                  <a:pt x="152735" y="37982"/>
                  <a:pt x="147774" y="40649"/>
                </a:cubicBezTo>
                <a:lnTo>
                  <a:pt x="99219" y="66787"/>
                </a:lnTo>
                <a:lnTo>
                  <a:pt x="99219" y="47191"/>
                </a:lnTo>
                <a:cubicBezTo>
                  <a:pt x="99219" y="41548"/>
                  <a:pt x="93204" y="37982"/>
                  <a:pt x="88243" y="40649"/>
                </a:cubicBezTo>
                <a:lnTo>
                  <a:pt x="39688" y="66787"/>
                </a:lnTo>
                <a:lnTo>
                  <a:pt x="39688" y="19844"/>
                </a:lnTo>
                <a:cubicBezTo>
                  <a:pt x="39688" y="14356"/>
                  <a:pt x="35254" y="9922"/>
                  <a:pt x="29766" y="9922"/>
                </a:cubicBezTo>
                <a:lnTo>
                  <a:pt x="9922" y="9922"/>
                </a:ln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55" name="Text 53"/>
          <p:cNvSpPr/>
          <p:nvPr/>
        </p:nvSpPr>
        <p:spPr>
          <a:xfrm>
            <a:off x="958850" y="4565256"/>
            <a:ext cx="1460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Domain Specialization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88950" y="4993881"/>
            <a:ext cx="3427413" cy="690563"/>
          </a:xfrm>
          <a:custGeom>
            <a:avLst/>
            <a:gdLst/>
            <a:ahLst/>
            <a:cxnLst/>
            <a:rect l="l" t="t" r="r" b="b"/>
            <a:pathLst>
              <a:path w="3427413" h="690563">
                <a:moveTo>
                  <a:pt x="12700" y="0"/>
                </a:moveTo>
                <a:lnTo>
                  <a:pt x="3363915" y="0"/>
                </a:lnTo>
                <a:cubicBezTo>
                  <a:pt x="3398984" y="0"/>
                  <a:pt x="3427413" y="28429"/>
                  <a:pt x="3427413" y="63497"/>
                </a:cubicBezTo>
                <a:lnTo>
                  <a:pt x="3427413" y="627065"/>
                </a:lnTo>
                <a:cubicBezTo>
                  <a:pt x="3427413" y="662134"/>
                  <a:pt x="3398984" y="690563"/>
                  <a:pt x="3363915" y="690563"/>
                </a:cubicBezTo>
                <a:lnTo>
                  <a:pt x="12700" y="690563"/>
                </a:lnTo>
                <a:cubicBezTo>
                  <a:pt x="5691" y="690563"/>
                  <a:pt x="0" y="684872"/>
                  <a:pt x="0" y="677863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88950" y="4993881"/>
            <a:ext cx="12700" cy="690563"/>
          </a:xfrm>
          <a:custGeom>
            <a:avLst/>
            <a:gdLst/>
            <a:ahLst/>
            <a:cxnLst/>
            <a:rect l="l" t="t" r="r" b="b"/>
            <a:pathLst>
              <a:path w="12700" h="690563">
                <a:moveTo>
                  <a:pt x="12700" y="0"/>
                </a:moveTo>
                <a:lnTo>
                  <a:pt x="12700" y="0"/>
                </a:lnTo>
                <a:lnTo>
                  <a:pt x="12700" y="690563"/>
                </a:lnTo>
                <a:lnTo>
                  <a:pt x="12700" y="690563"/>
                </a:lnTo>
                <a:cubicBezTo>
                  <a:pt x="5691" y="690563"/>
                  <a:pt x="0" y="684872"/>
                  <a:pt x="0" y="677863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58" name="Text 56"/>
          <p:cNvSpPr/>
          <p:nvPr/>
        </p:nvSpPr>
        <p:spPr>
          <a:xfrm>
            <a:off x="590550" y="5089131"/>
            <a:ext cx="328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Industry-Specific Models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90550" y="5279631"/>
            <a:ext cx="328612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Fine-tuned models for healthcare (Med-PaLM 2: 85%+ USMLE), finance (BloombergGPT), legal (ChatLAW), and scientific domains.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88950" y="5759850"/>
            <a:ext cx="3427413" cy="690563"/>
          </a:xfrm>
          <a:custGeom>
            <a:avLst/>
            <a:gdLst/>
            <a:ahLst/>
            <a:cxnLst/>
            <a:rect l="l" t="t" r="r" b="b"/>
            <a:pathLst>
              <a:path w="3427413" h="690563">
                <a:moveTo>
                  <a:pt x="12700" y="0"/>
                </a:moveTo>
                <a:lnTo>
                  <a:pt x="3363915" y="0"/>
                </a:lnTo>
                <a:cubicBezTo>
                  <a:pt x="3398984" y="0"/>
                  <a:pt x="3427413" y="28429"/>
                  <a:pt x="3427413" y="63497"/>
                </a:cubicBezTo>
                <a:lnTo>
                  <a:pt x="3427413" y="627065"/>
                </a:lnTo>
                <a:cubicBezTo>
                  <a:pt x="3427413" y="662134"/>
                  <a:pt x="3398984" y="690563"/>
                  <a:pt x="3363915" y="690563"/>
                </a:cubicBezTo>
                <a:lnTo>
                  <a:pt x="12700" y="690563"/>
                </a:lnTo>
                <a:cubicBezTo>
                  <a:pt x="5691" y="690563"/>
                  <a:pt x="0" y="684872"/>
                  <a:pt x="0" y="677863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488950" y="5759850"/>
            <a:ext cx="12700" cy="690563"/>
          </a:xfrm>
          <a:custGeom>
            <a:avLst/>
            <a:gdLst/>
            <a:ahLst/>
            <a:cxnLst/>
            <a:rect l="l" t="t" r="r" b="b"/>
            <a:pathLst>
              <a:path w="12700" h="690563">
                <a:moveTo>
                  <a:pt x="12700" y="0"/>
                </a:moveTo>
                <a:lnTo>
                  <a:pt x="12700" y="0"/>
                </a:lnTo>
                <a:lnTo>
                  <a:pt x="12700" y="690563"/>
                </a:lnTo>
                <a:lnTo>
                  <a:pt x="12700" y="690563"/>
                </a:lnTo>
                <a:cubicBezTo>
                  <a:pt x="5691" y="690563"/>
                  <a:pt x="0" y="684872"/>
                  <a:pt x="0" y="677863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62" name="Text 60"/>
          <p:cNvSpPr/>
          <p:nvPr/>
        </p:nvSpPr>
        <p:spPr>
          <a:xfrm>
            <a:off x="590550" y="5855100"/>
            <a:ext cx="328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Integration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90550" y="6045600"/>
            <a:ext cx="328612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embedding into business processes via Salesforce Agentforce, Microsoft 365 Copilot, and custom enterprise pipelines.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88950" y="6525819"/>
            <a:ext cx="3427413" cy="690563"/>
          </a:xfrm>
          <a:custGeom>
            <a:avLst/>
            <a:gdLst/>
            <a:ahLst/>
            <a:cxnLst/>
            <a:rect l="l" t="t" r="r" b="b"/>
            <a:pathLst>
              <a:path w="3427413" h="690563">
                <a:moveTo>
                  <a:pt x="12700" y="0"/>
                </a:moveTo>
                <a:lnTo>
                  <a:pt x="3363915" y="0"/>
                </a:lnTo>
                <a:cubicBezTo>
                  <a:pt x="3398984" y="0"/>
                  <a:pt x="3427413" y="28429"/>
                  <a:pt x="3427413" y="63497"/>
                </a:cubicBezTo>
                <a:lnTo>
                  <a:pt x="3427413" y="627065"/>
                </a:lnTo>
                <a:cubicBezTo>
                  <a:pt x="3427413" y="662134"/>
                  <a:pt x="3398984" y="690563"/>
                  <a:pt x="3363915" y="690563"/>
                </a:cubicBezTo>
                <a:lnTo>
                  <a:pt x="12700" y="690563"/>
                </a:lnTo>
                <a:cubicBezTo>
                  <a:pt x="5691" y="690563"/>
                  <a:pt x="0" y="684872"/>
                  <a:pt x="0" y="677863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488950" y="6525819"/>
            <a:ext cx="12700" cy="690563"/>
          </a:xfrm>
          <a:custGeom>
            <a:avLst/>
            <a:gdLst/>
            <a:ahLst/>
            <a:cxnLst/>
            <a:rect l="l" t="t" r="r" b="b"/>
            <a:pathLst>
              <a:path w="12700" h="690563">
                <a:moveTo>
                  <a:pt x="12700" y="0"/>
                </a:moveTo>
                <a:lnTo>
                  <a:pt x="12700" y="0"/>
                </a:lnTo>
                <a:lnTo>
                  <a:pt x="12700" y="690563"/>
                </a:lnTo>
                <a:lnTo>
                  <a:pt x="12700" y="690563"/>
                </a:lnTo>
                <a:cubicBezTo>
                  <a:pt x="5691" y="690563"/>
                  <a:pt x="0" y="684872"/>
                  <a:pt x="0" y="677863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66" name="Text 64"/>
          <p:cNvSpPr/>
          <p:nvPr/>
        </p:nvSpPr>
        <p:spPr>
          <a:xfrm>
            <a:off x="590550" y="6621069"/>
            <a:ext cx="328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Agentic Frameworks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590550" y="6811569"/>
            <a:ext cx="328612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Autonomous agents planning, executing, and adapting tasks with tool use during reasoning and parallel coordination.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4215309" y="4323958"/>
            <a:ext cx="3760787" cy="3355975"/>
          </a:xfrm>
          <a:custGeom>
            <a:avLst/>
            <a:gdLst/>
            <a:ahLst/>
            <a:cxnLst/>
            <a:rect l="l" t="t" r="r" b="b"/>
            <a:pathLst>
              <a:path w="3760787" h="3355975">
                <a:moveTo>
                  <a:pt x="95243" y="0"/>
                </a:moveTo>
                <a:lnTo>
                  <a:pt x="3665545" y="0"/>
                </a:lnTo>
                <a:cubicBezTo>
                  <a:pt x="3718146" y="0"/>
                  <a:pt x="3760787" y="42642"/>
                  <a:pt x="3760787" y="95243"/>
                </a:cubicBezTo>
                <a:lnTo>
                  <a:pt x="3760787" y="3260732"/>
                </a:lnTo>
                <a:cubicBezTo>
                  <a:pt x="3760787" y="3313333"/>
                  <a:pt x="3718146" y="3355975"/>
                  <a:pt x="3665545" y="3355975"/>
                </a:cubicBezTo>
                <a:lnTo>
                  <a:pt x="95243" y="3355975"/>
                </a:lnTo>
                <a:cubicBezTo>
                  <a:pt x="42642" y="3355975"/>
                  <a:pt x="0" y="3313333"/>
                  <a:pt x="0" y="3260732"/>
                </a:cubicBezTo>
                <a:lnTo>
                  <a:pt x="0" y="95243"/>
                </a:lnTo>
                <a:cubicBezTo>
                  <a:pt x="0" y="42642"/>
                  <a:pt x="42642" y="0"/>
                  <a:pt x="95243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016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377234" y="448588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4488359" y="4597006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79375"/>
                </a:moveTo>
                <a:cubicBezTo>
                  <a:pt x="0" y="35567"/>
                  <a:pt x="35567" y="0"/>
                  <a:pt x="79375" y="0"/>
                </a:cubicBez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lose/>
                <a:moveTo>
                  <a:pt x="89297" y="29766"/>
                </a:moveTo>
                <a:cubicBezTo>
                  <a:pt x="89297" y="24290"/>
                  <a:pt x="84851" y="19844"/>
                  <a:pt x="79375" y="19844"/>
                </a:cubicBezTo>
                <a:cubicBezTo>
                  <a:pt x="73899" y="19844"/>
                  <a:pt x="69453" y="24290"/>
                  <a:pt x="69453" y="29766"/>
                </a:cubicBezTo>
                <a:cubicBezTo>
                  <a:pt x="69453" y="35242"/>
                  <a:pt x="73899" y="39688"/>
                  <a:pt x="79375" y="39688"/>
                </a:cubicBezTo>
                <a:cubicBezTo>
                  <a:pt x="84851" y="39688"/>
                  <a:pt x="89297" y="35242"/>
                  <a:pt x="89297" y="29766"/>
                </a:cubicBezTo>
                <a:close/>
                <a:moveTo>
                  <a:pt x="79375" y="128984"/>
                </a:moveTo>
                <a:cubicBezTo>
                  <a:pt x="90320" y="128984"/>
                  <a:pt x="99219" y="120086"/>
                  <a:pt x="99219" y="109141"/>
                </a:cubicBezTo>
                <a:cubicBezTo>
                  <a:pt x="99219" y="104118"/>
                  <a:pt x="97358" y="99498"/>
                  <a:pt x="94258" y="96025"/>
                </a:cubicBezTo>
                <a:lnTo>
                  <a:pt x="115807" y="52958"/>
                </a:lnTo>
                <a:cubicBezTo>
                  <a:pt x="117636" y="49268"/>
                  <a:pt x="116148" y="44803"/>
                  <a:pt x="112489" y="42974"/>
                </a:cubicBezTo>
                <a:cubicBezTo>
                  <a:pt x="108831" y="41145"/>
                  <a:pt x="104335" y="42633"/>
                  <a:pt x="102505" y="46292"/>
                </a:cubicBezTo>
                <a:lnTo>
                  <a:pt x="80956" y="89359"/>
                </a:lnTo>
                <a:cubicBezTo>
                  <a:pt x="80429" y="89328"/>
                  <a:pt x="79902" y="89297"/>
                  <a:pt x="79375" y="89297"/>
                </a:cubicBezTo>
                <a:cubicBezTo>
                  <a:pt x="68430" y="89297"/>
                  <a:pt x="59531" y="98196"/>
                  <a:pt x="59531" y="109141"/>
                </a:cubicBezTo>
                <a:cubicBezTo>
                  <a:pt x="59531" y="120086"/>
                  <a:pt x="68430" y="128984"/>
                  <a:pt x="79375" y="128984"/>
                </a:cubicBezTo>
                <a:close/>
                <a:moveTo>
                  <a:pt x="54570" y="44648"/>
                </a:moveTo>
                <a:cubicBezTo>
                  <a:pt x="54570" y="39172"/>
                  <a:pt x="50124" y="34727"/>
                  <a:pt x="44648" y="34727"/>
                </a:cubicBezTo>
                <a:cubicBezTo>
                  <a:pt x="39172" y="34727"/>
                  <a:pt x="34727" y="39172"/>
                  <a:pt x="34727" y="44648"/>
                </a:cubicBezTo>
                <a:cubicBezTo>
                  <a:pt x="34727" y="50124"/>
                  <a:pt x="39172" y="54570"/>
                  <a:pt x="44648" y="54570"/>
                </a:cubicBezTo>
                <a:cubicBezTo>
                  <a:pt x="50124" y="54570"/>
                  <a:pt x="54570" y="50124"/>
                  <a:pt x="54570" y="44648"/>
                </a:cubicBezTo>
                <a:close/>
                <a:moveTo>
                  <a:pt x="29766" y="89297"/>
                </a:moveTo>
                <a:cubicBezTo>
                  <a:pt x="35242" y="89297"/>
                  <a:pt x="39688" y="84851"/>
                  <a:pt x="39688" y="79375"/>
                </a:cubicBezTo>
                <a:cubicBezTo>
                  <a:pt x="39688" y="73899"/>
                  <a:pt x="35242" y="69453"/>
                  <a:pt x="29766" y="69453"/>
                </a:cubicBezTo>
                <a:cubicBezTo>
                  <a:pt x="24290" y="69453"/>
                  <a:pt x="19844" y="73899"/>
                  <a:pt x="19844" y="79375"/>
                </a:cubicBezTo>
                <a:cubicBezTo>
                  <a:pt x="19844" y="84851"/>
                  <a:pt x="24290" y="89297"/>
                  <a:pt x="29766" y="89297"/>
                </a:cubicBezTo>
                <a:close/>
                <a:moveTo>
                  <a:pt x="138906" y="79375"/>
                </a:moveTo>
                <a:cubicBezTo>
                  <a:pt x="138906" y="73899"/>
                  <a:pt x="134460" y="69453"/>
                  <a:pt x="128984" y="69453"/>
                </a:cubicBezTo>
                <a:cubicBezTo>
                  <a:pt x="123508" y="69453"/>
                  <a:pt x="119062" y="73899"/>
                  <a:pt x="119062" y="79375"/>
                </a:cubicBezTo>
                <a:cubicBezTo>
                  <a:pt x="119062" y="84851"/>
                  <a:pt x="123508" y="89297"/>
                  <a:pt x="128984" y="89297"/>
                </a:cubicBezTo>
                <a:cubicBezTo>
                  <a:pt x="134460" y="89297"/>
                  <a:pt x="138906" y="84851"/>
                  <a:pt x="138906" y="79375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1" name="Text 69"/>
          <p:cNvSpPr/>
          <p:nvPr/>
        </p:nvSpPr>
        <p:spPr>
          <a:xfrm>
            <a:off x="4853484" y="4565256"/>
            <a:ext cx="1658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Efficiency Breakthroughs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4383584" y="4993881"/>
            <a:ext cx="3427413" cy="841375"/>
          </a:xfrm>
          <a:custGeom>
            <a:avLst/>
            <a:gdLst/>
            <a:ahLst/>
            <a:cxnLst/>
            <a:rect l="l" t="t" r="r" b="b"/>
            <a:pathLst>
              <a:path w="3427413" h="841375">
                <a:moveTo>
                  <a:pt x="12700" y="0"/>
                </a:moveTo>
                <a:lnTo>
                  <a:pt x="3363914" y="0"/>
                </a:lnTo>
                <a:cubicBezTo>
                  <a:pt x="3398983" y="0"/>
                  <a:pt x="3427413" y="28429"/>
                  <a:pt x="3427413" y="63499"/>
                </a:cubicBezTo>
                <a:lnTo>
                  <a:pt x="3427413" y="777876"/>
                </a:lnTo>
                <a:cubicBezTo>
                  <a:pt x="3427413" y="812946"/>
                  <a:pt x="3398983" y="841375"/>
                  <a:pt x="3363914" y="841375"/>
                </a:cubicBezTo>
                <a:lnTo>
                  <a:pt x="12700" y="841375"/>
                </a:lnTo>
                <a:cubicBezTo>
                  <a:pt x="5691" y="841375"/>
                  <a:pt x="0" y="835684"/>
                  <a:pt x="0" y="828675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4383584" y="4993881"/>
            <a:ext cx="12700" cy="841375"/>
          </a:xfrm>
          <a:custGeom>
            <a:avLst/>
            <a:gdLst/>
            <a:ahLst/>
            <a:cxnLst/>
            <a:rect l="l" t="t" r="r" b="b"/>
            <a:pathLst>
              <a:path w="12700" h="841375">
                <a:moveTo>
                  <a:pt x="12700" y="0"/>
                </a:moveTo>
                <a:lnTo>
                  <a:pt x="12700" y="0"/>
                </a:lnTo>
                <a:lnTo>
                  <a:pt x="12700" y="841375"/>
                </a:lnTo>
                <a:lnTo>
                  <a:pt x="12700" y="841375"/>
                </a:lnTo>
                <a:cubicBezTo>
                  <a:pt x="5691" y="841375"/>
                  <a:pt x="0" y="835684"/>
                  <a:pt x="0" y="828675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4" name="Text 72"/>
          <p:cNvSpPr/>
          <p:nvPr/>
        </p:nvSpPr>
        <p:spPr>
          <a:xfrm>
            <a:off x="4485184" y="5089131"/>
            <a:ext cx="328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LLM-Free Inference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4485184" y="5279631"/>
            <a:ext cx="3286125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Enriched features learned at train time and cached, enabling inference without LLM calls. SDM-InstructGLM demonstrates GNN-free graph learning.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4383584" y="5912647"/>
            <a:ext cx="3427413" cy="690563"/>
          </a:xfrm>
          <a:custGeom>
            <a:avLst/>
            <a:gdLst/>
            <a:ahLst/>
            <a:cxnLst/>
            <a:rect l="l" t="t" r="r" b="b"/>
            <a:pathLst>
              <a:path w="3427413" h="690563">
                <a:moveTo>
                  <a:pt x="12700" y="0"/>
                </a:moveTo>
                <a:lnTo>
                  <a:pt x="3363915" y="0"/>
                </a:lnTo>
                <a:cubicBezTo>
                  <a:pt x="3398984" y="0"/>
                  <a:pt x="3427413" y="28429"/>
                  <a:pt x="3427413" y="63497"/>
                </a:cubicBezTo>
                <a:lnTo>
                  <a:pt x="3427413" y="627065"/>
                </a:lnTo>
                <a:cubicBezTo>
                  <a:pt x="3427413" y="662134"/>
                  <a:pt x="3398984" y="690563"/>
                  <a:pt x="3363915" y="690563"/>
                </a:cubicBezTo>
                <a:lnTo>
                  <a:pt x="12700" y="690563"/>
                </a:lnTo>
                <a:cubicBezTo>
                  <a:pt x="5691" y="690563"/>
                  <a:pt x="0" y="684872"/>
                  <a:pt x="0" y="677863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4383584" y="5912647"/>
            <a:ext cx="12700" cy="690563"/>
          </a:xfrm>
          <a:custGeom>
            <a:avLst/>
            <a:gdLst/>
            <a:ahLst/>
            <a:cxnLst/>
            <a:rect l="l" t="t" r="r" b="b"/>
            <a:pathLst>
              <a:path w="12700" h="690563">
                <a:moveTo>
                  <a:pt x="12700" y="0"/>
                </a:moveTo>
                <a:lnTo>
                  <a:pt x="12700" y="0"/>
                </a:lnTo>
                <a:lnTo>
                  <a:pt x="12700" y="690563"/>
                </a:lnTo>
                <a:lnTo>
                  <a:pt x="12700" y="690563"/>
                </a:lnTo>
                <a:cubicBezTo>
                  <a:pt x="5691" y="690563"/>
                  <a:pt x="0" y="684872"/>
                  <a:pt x="0" y="677863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8" name="Text 76"/>
          <p:cNvSpPr/>
          <p:nvPr/>
        </p:nvSpPr>
        <p:spPr>
          <a:xfrm>
            <a:off x="4485184" y="6007897"/>
            <a:ext cx="328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Similarity-Degree Sampling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4485184" y="6198397"/>
            <a:ext cx="328612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Biased random walk based on node-feature similarity and degree centrality for scalable graph encoding within token limits.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4383584" y="6678616"/>
            <a:ext cx="3427413" cy="841375"/>
          </a:xfrm>
          <a:custGeom>
            <a:avLst/>
            <a:gdLst/>
            <a:ahLst/>
            <a:cxnLst/>
            <a:rect l="l" t="t" r="r" b="b"/>
            <a:pathLst>
              <a:path w="3427413" h="841375">
                <a:moveTo>
                  <a:pt x="12700" y="0"/>
                </a:moveTo>
                <a:lnTo>
                  <a:pt x="3363914" y="0"/>
                </a:lnTo>
                <a:cubicBezTo>
                  <a:pt x="3398983" y="0"/>
                  <a:pt x="3427413" y="28429"/>
                  <a:pt x="3427413" y="63499"/>
                </a:cubicBezTo>
                <a:lnTo>
                  <a:pt x="3427413" y="777876"/>
                </a:lnTo>
                <a:cubicBezTo>
                  <a:pt x="3427413" y="812946"/>
                  <a:pt x="3398983" y="841375"/>
                  <a:pt x="3363914" y="841375"/>
                </a:cubicBezTo>
                <a:lnTo>
                  <a:pt x="12700" y="841375"/>
                </a:lnTo>
                <a:cubicBezTo>
                  <a:pt x="5691" y="841375"/>
                  <a:pt x="0" y="835684"/>
                  <a:pt x="0" y="828675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4383584" y="6678616"/>
            <a:ext cx="12700" cy="841375"/>
          </a:xfrm>
          <a:custGeom>
            <a:avLst/>
            <a:gdLst/>
            <a:ahLst/>
            <a:cxnLst/>
            <a:rect l="l" t="t" r="r" b="b"/>
            <a:pathLst>
              <a:path w="12700" h="841375">
                <a:moveTo>
                  <a:pt x="12700" y="0"/>
                </a:moveTo>
                <a:lnTo>
                  <a:pt x="12700" y="0"/>
                </a:lnTo>
                <a:lnTo>
                  <a:pt x="12700" y="841375"/>
                </a:lnTo>
                <a:lnTo>
                  <a:pt x="12700" y="841375"/>
                </a:lnTo>
                <a:cubicBezTo>
                  <a:pt x="5691" y="841375"/>
                  <a:pt x="0" y="835684"/>
                  <a:pt x="0" y="828675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2" name="Text 80"/>
          <p:cNvSpPr/>
          <p:nvPr/>
        </p:nvSpPr>
        <p:spPr>
          <a:xfrm>
            <a:off x="4485184" y="6773866"/>
            <a:ext cx="328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Query-Aware Systems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4485184" y="6964366"/>
            <a:ext cx="3286125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KG-WISE demonstrates 28× inference speedup and 98% memory reduction through partial model loading and semantic subgraph retrieval.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8109942" y="4323958"/>
            <a:ext cx="3760787" cy="3355975"/>
          </a:xfrm>
          <a:custGeom>
            <a:avLst/>
            <a:gdLst/>
            <a:ahLst/>
            <a:cxnLst/>
            <a:rect l="l" t="t" r="r" b="b"/>
            <a:pathLst>
              <a:path w="3760787" h="3355975">
                <a:moveTo>
                  <a:pt x="95243" y="0"/>
                </a:moveTo>
                <a:lnTo>
                  <a:pt x="3665545" y="0"/>
                </a:lnTo>
                <a:cubicBezTo>
                  <a:pt x="3718146" y="0"/>
                  <a:pt x="3760787" y="42642"/>
                  <a:pt x="3760787" y="95243"/>
                </a:cubicBezTo>
                <a:lnTo>
                  <a:pt x="3760787" y="3260732"/>
                </a:lnTo>
                <a:cubicBezTo>
                  <a:pt x="3760787" y="3313333"/>
                  <a:pt x="3718146" y="3355975"/>
                  <a:pt x="3665545" y="3355975"/>
                </a:cubicBezTo>
                <a:lnTo>
                  <a:pt x="95243" y="3355975"/>
                </a:lnTo>
                <a:cubicBezTo>
                  <a:pt x="42642" y="3355975"/>
                  <a:pt x="0" y="3313333"/>
                  <a:pt x="0" y="3260732"/>
                </a:cubicBezTo>
                <a:lnTo>
                  <a:pt x="0" y="95243"/>
                </a:lnTo>
                <a:cubicBezTo>
                  <a:pt x="0" y="42642"/>
                  <a:pt x="42642" y="0"/>
                  <a:pt x="95243" y="0"/>
                </a:cubicBezTo>
                <a:close/>
              </a:path>
            </a:pathLst>
          </a:custGeom>
          <a:solidFill>
            <a:srgbClr val="FFD166">
              <a:alpha val="10196"/>
            </a:srgbClr>
          </a:solidFill>
          <a:ln w="10160">
            <a:solidFill>
              <a:srgbClr val="FFD166">
                <a:alpha val="30196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300641" y="5216131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35719" y="0"/>
                </a:moveTo>
                <a:cubicBezTo>
                  <a:pt x="40658" y="0"/>
                  <a:pt x="44648" y="3990"/>
                  <a:pt x="44648" y="8930"/>
                </a:cubicBezTo>
                <a:lnTo>
                  <a:pt x="44648" y="17859"/>
                </a:lnTo>
                <a:lnTo>
                  <a:pt x="80367" y="17859"/>
                </a:lnTo>
                <a:lnTo>
                  <a:pt x="80367" y="8930"/>
                </a:lnTo>
                <a:cubicBezTo>
                  <a:pt x="80367" y="3990"/>
                  <a:pt x="84358" y="0"/>
                  <a:pt x="89297" y="0"/>
                </a:cubicBezTo>
                <a:cubicBezTo>
                  <a:pt x="94236" y="0"/>
                  <a:pt x="98227" y="3990"/>
                  <a:pt x="98227" y="8930"/>
                </a:cubicBezTo>
                <a:lnTo>
                  <a:pt x="98227" y="17859"/>
                </a:lnTo>
                <a:lnTo>
                  <a:pt x="107156" y="17859"/>
                </a:lnTo>
                <a:cubicBezTo>
                  <a:pt x="117007" y="17859"/>
                  <a:pt x="125016" y="25868"/>
                  <a:pt x="125016" y="35719"/>
                </a:cubicBezTo>
                <a:lnTo>
                  <a:pt x="125016" y="116086"/>
                </a:lnTo>
                <a:cubicBezTo>
                  <a:pt x="125016" y="125936"/>
                  <a:pt x="117007" y="133945"/>
                  <a:pt x="107156" y="133945"/>
                </a:cubicBezTo>
                <a:lnTo>
                  <a:pt x="17859" y="133945"/>
                </a:lnTo>
                <a:cubicBezTo>
                  <a:pt x="8009" y="133945"/>
                  <a:pt x="0" y="125936"/>
                  <a:pt x="0" y="116086"/>
                </a:cubicBezTo>
                <a:lnTo>
                  <a:pt x="0" y="35719"/>
                </a:lnTo>
                <a:cubicBezTo>
                  <a:pt x="0" y="25868"/>
                  <a:pt x="8009" y="17859"/>
                  <a:pt x="17859" y="17859"/>
                </a:cubicBezTo>
                <a:lnTo>
                  <a:pt x="26789" y="17859"/>
                </a:lnTo>
                <a:lnTo>
                  <a:pt x="26789" y="8930"/>
                </a:lnTo>
                <a:cubicBezTo>
                  <a:pt x="26789" y="3990"/>
                  <a:pt x="30780" y="0"/>
                  <a:pt x="35719" y="0"/>
                </a:cubicBezTo>
                <a:close/>
                <a:moveTo>
                  <a:pt x="17859" y="66973"/>
                </a:moveTo>
                <a:lnTo>
                  <a:pt x="17859" y="75902"/>
                </a:lnTo>
                <a:cubicBezTo>
                  <a:pt x="17859" y="78358"/>
                  <a:pt x="19869" y="80367"/>
                  <a:pt x="22324" y="80367"/>
                </a:cubicBezTo>
                <a:lnTo>
                  <a:pt x="31254" y="80367"/>
                </a:lnTo>
                <a:cubicBezTo>
                  <a:pt x="33710" y="80367"/>
                  <a:pt x="35719" y="78358"/>
                  <a:pt x="35719" y="75902"/>
                </a:cubicBezTo>
                <a:lnTo>
                  <a:pt x="35719" y="66973"/>
                </a:lnTo>
                <a:cubicBezTo>
                  <a:pt x="35719" y="64517"/>
                  <a:pt x="33710" y="62508"/>
                  <a:pt x="31254" y="62508"/>
                </a:cubicBezTo>
                <a:lnTo>
                  <a:pt x="22324" y="62508"/>
                </a:lnTo>
                <a:cubicBezTo>
                  <a:pt x="19869" y="62508"/>
                  <a:pt x="17859" y="64517"/>
                  <a:pt x="17859" y="66973"/>
                </a:cubicBezTo>
                <a:close/>
                <a:moveTo>
                  <a:pt x="53578" y="66973"/>
                </a:moveTo>
                <a:lnTo>
                  <a:pt x="53578" y="75902"/>
                </a:lnTo>
                <a:cubicBezTo>
                  <a:pt x="53578" y="78358"/>
                  <a:pt x="55587" y="80367"/>
                  <a:pt x="58043" y="80367"/>
                </a:cubicBezTo>
                <a:lnTo>
                  <a:pt x="66973" y="80367"/>
                </a:lnTo>
                <a:cubicBezTo>
                  <a:pt x="69428" y="80367"/>
                  <a:pt x="71438" y="78358"/>
                  <a:pt x="71438" y="75902"/>
                </a:cubicBezTo>
                <a:lnTo>
                  <a:pt x="71438" y="66973"/>
                </a:lnTo>
                <a:cubicBezTo>
                  <a:pt x="71438" y="64517"/>
                  <a:pt x="69428" y="62508"/>
                  <a:pt x="66973" y="62508"/>
                </a:cubicBezTo>
                <a:lnTo>
                  <a:pt x="58043" y="62508"/>
                </a:lnTo>
                <a:cubicBezTo>
                  <a:pt x="55587" y="62508"/>
                  <a:pt x="53578" y="64517"/>
                  <a:pt x="53578" y="66973"/>
                </a:cubicBezTo>
                <a:close/>
                <a:moveTo>
                  <a:pt x="93762" y="62508"/>
                </a:moveTo>
                <a:cubicBezTo>
                  <a:pt x="91306" y="62508"/>
                  <a:pt x="89297" y="64517"/>
                  <a:pt x="89297" y="66973"/>
                </a:cubicBezTo>
                <a:lnTo>
                  <a:pt x="89297" y="75902"/>
                </a:lnTo>
                <a:cubicBezTo>
                  <a:pt x="89297" y="78358"/>
                  <a:pt x="91306" y="80367"/>
                  <a:pt x="93762" y="80367"/>
                </a:cubicBezTo>
                <a:lnTo>
                  <a:pt x="102691" y="80367"/>
                </a:lnTo>
                <a:cubicBezTo>
                  <a:pt x="105147" y="80367"/>
                  <a:pt x="107156" y="78358"/>
                  <a:pt x="107156" y="75902"/>
                </a:cubicBezTo>
                <a:lnTo>
                  <a:pt x="107156" y="66973"/>
                </a:lnTo>
                <a:cubicBezTo>
                  <a:pt x="107156" y="64517"/>
                  <a:pt x="105147" y="62508"/>
                  <a:pt x="102691" y="62508"/>
                </a:cubicBezTo>
                <a:lnTo>
                  <a:pt x="93762" y="62508"/>
                </a:lnTo>
                <a:close/>
                <a:moveTo>
                  <a:pt x="17859" y="102691"/>
                </a:moveTo>
                <a:lnTo>
                  <a:pt x="17859" y="111621"/>
                </a:lnTo>
                <a:cubicBezTo>
                  <a:pt x="17859" y="114077"/>
                  <a:pt x="19869" y="116086"/>
                  <a:pt x="22324" y="116086"/>
                </a:cubicBezTo>
                <a:lnTo>
                  <a:pt x="31254" y="116086"/>
                </a:lnTo>
                <a:cubicBezTo>
                  <a:pt x="33710" y="116086"/>
                  <a:pt x="35719" y="114077"/>
                  <a:pt x="35719" y="111621"/>
                </a:cubicBezTo>
                <a:lnTo>
                  <a:pt x="35719" y="102691"/>
                </a:lnTo>
                <a:cubicBezTo>
                  <a:pt x="35719" y="100236"/>
                  <a:pt x="33710" y="98227"/>
                  <a:pt x="31254" y="98227"/>
                </a:cubicBezTo>
                <a:lnTo>
                  <a:pt x="22324" y="98227"/>
                </a:lnTo>
                <a:cubicBezTo>
                  <a:pt x="19869" y="98227"/>
                  <a:pt x="17859" y="100236"/>
                  <a:pt x="17859" y="102691"/>
                </a:cubicBezTo>
                <a:close/>
                <a:moveTo>
                  <a:pt x="58043" y="98227"/>
                </a:moveTo>
                <a:cubicBezTo>
                  <a:pt x="55587" y="98227"/>
                  <a:pt x="53578" y="100236"/>
                  <a:pt x="53578" y="102691"/>
                </a:cubicBezTo>
                <a:lnTo>
                  <a:pt x="53578" y="111621"/>
                </a:lnTo>
                <a:cubicBezTo>
                  <a:pt x="53578" y="114077"/>
                  <a:pt x="55587" y="116086"/>
                  <a:pt x="58043" y="116086"/>
                </a:cubicBezTo>
                <a:lnTo>
                  <a:pt x="66973" y="116086"/>
                </a:lnTo>
                <a:cubicBezTo>
                  <a:pt x="69428" y="116086"/>
                  <a:pt x="71438" y="114077"/>
                  <a:pt x="71438" y="111621"/>
                </a:cubicBezTo>
                <a:lnTo>
                  <a:pt x="71438" y="102691"/>
                </a:lnTo>
                <a:cubicBezTo>
                  <a:pt x="71438" y="100236"/>
                  <a:pt x="69428" y="98227"/>
                  <a:pt x="66973" y="98227"/>
                </a:cubicBezTo>
                <a:lnTo>
                  <a:pt x="58043" y="98227"/>
                </a:lnTo>
                <a:close/>
                <a:moveTo>
                  <a:pt x="89297" y="102691"/>
                </a:moveTo>
                <a:lnTo>
                  <a:pt x="89297" y="111621"/>
                </a:lnTo>
                <a:cubicBezTo>
                  <a:pt x="89297" y="114077"/>
                  <a:pt x="91306" y="116086"/>
                  <a:pt x="93762" y="116086"/>
                </a:cubicBezTo>
                <a:lnTo>
                  <a:pt x="102691" y="116086"/>
                </a:lnTo>
                <a:cubicBezTo>
                  <a:pt x="105147" y="116086"/>
                  <a:pt x="107156" y="114077"/>
                  <a:pt x="107156" y="111621"/>
                </a:cubicBezTo>
                <a:lnTo>
                  <a:pt x="107156" y="102691"/>
                </a:lnTo>
                <a:cubicBezTo>
                  <a:pt x="107156" y="100236"/>
                  <a:pt x="105147" y="98227"/>
                  <a:pt x="102691" y="98227"/>
                </a:cubicBezTo>
                <a:lnTo>
                  <a:pt x="93762" y="98227"/>
                </a:lnTo>
                <a:cubicBezTo>
                  <a:pt x="91306" y="98227"/>
                  <a:pt x="89297" y="100236"/>
                  <a:pt x="89297" y="102691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86" name="Text 84"/>
          <p:cNvSpPr/>
          <p:nvPr/>
        </p:nvSpPr>
        <p:spPr>
          <a:xfrm>
            <a:off x="8454430" y="5176444"/>
            <a:ext cx="3325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Timeline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8271867" y="5532042"/>
            <a:ext cx="435570" cy="190500"/>
          </a:xfrm>
          <a:custGeom>
            <a:avLst/>
            <a:gdLst/>
            <a:ahLst/>
            <a:cxnLst/>
            <a:rect l="l" t="t" r="r" b="b"/>
            <a:pathLst>
              <a:path w="435570" h="190500">
                <a:moveTo>
                  <a:pt x="63499" y="0"/>
                </a:moveTo>
                <a:lnTo>
                  <a:pt x="372071" y="0"/>
                </a:lnTo>
                <a:cubicBezTo>
                  <a:pt x="407141" y="0"/>
                  <a:pt x="435570" y="28430"/>
                  <a:pt x="435570" y="63499"/>
                </a:cubicBezTo>
                <a:lnTo>
                  <a:pt x="435570" y="127001"/>
                </a:lnTo>
                <a:cubicBezTo>
                  <a:pt x="435570" y="162070"/>
                  <a:pt x="407141" y="190500"/>
                  <a:pt x="372071" y="190500"/>
                </a:cubicBezTo>
                <a:lnTo>
                  <a:pt x="63499" y="190500"/>
                </a:lnTo>
                <a:cubicBezTo>
                  <a:pt x="28453" y="190500"/>
                  <a:pt x="0" y="162047"/>
                  <a:pt x="0" y="127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8271867" y="5532042"/>
            <a:ext cx="491133" cy="19050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9002117" y="5541569"/>
            <a:ext cx="2579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Parameter-efficient architectures, RL-based retrieval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8271867" y="5817792"/>
            <a:ext cx="437059" cy="190500"/>
          </a:xfrm>
          <a:custGeom>
            <a:avLst/>
            <a:gdLst/>
            <a:ahLst/>
            <a:cxnLst/>
            <a:rect l="l" t="t" r="r" b="b"/>
            <a:pathLst>
              <a:path w="437059" h="190500">
                <a:moveTo>
                  <a:pt x="63499" y="0"/>
                </a:moveTo>
                <a:lnTo>
                  <a:pt x="373559" y="0"/>
                </a:lnTo>
                <a:cubicBezTo>
                  <a:pt x="408629" y="0"/>
                  <a:pt x="437059" y="28430"/>
                  <a:pt x="437059" y="63499"/>
                </a:cubicBezTo>
                <a:lnTo>
                  <a:pt x="437059" y="127001"/>
                </a:lnTo>
                <a:cubicBezTo>
                  <a:pt x="437059" y="162070"/>
                  <a:pt x="408629" y="190500"/>
                  <a:pt x="373559" y="190500"/>
                </a:cubicBezTo>
                <a:lnTo>
                  <a:pt x="63499" y="190500"/>
                </a:lnTo>
                <a:cubicBezTo>
                  <a:pt x="28453" y="190500"/>
                  <a:pt x="0" y="162047"/>
                  <a:pt x="0" y="127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D166">
              <a:alpha val="20000"/>
            </a:srgbClr>
          </a:solidFill>
          <a:ln/>
        </p:spPr>
      </p:sp>
      <p:sp>
        <p:nvSpPr>
          <p:cNvPr id="91" name="Text 89"/>
          <p:cNvSpPr/>
          <p:nvPr/>
        </p:nvSpPr>
        <p:spPr>
          <a:xfrm>
            <a:off x="8271867" y="5817792"/>
            <a:ext cx="492621" cy="19050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9002117" y="5827319"/>
            <a:ext cx="267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Multimodal integration, enterprise deployment at scale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8271867" y="6167042"/>
            <a:ext cx="426541" cy="190500"/>
          </a:xfrm>
          <a:custGeom>
            <a:avLst/>
            <a:gdLst/>
            <a:ahLst/>
            <a:cxnLst/>
            <a:rect l="l" t="t" r="r" b="b"/>
            <a:pathLst>
              <a:path w="426541" h="190500">
                <a:moveTo>
                  <a:pt x="63499" y="0"/>
                </a:moveTo>
                <a:lnTo>
                  <a:pt x="363042" y="0"/>
                </a:lnTo>
                <a:cubicBezTo>
                  <a:pt x="398112" y="0"/>
                  <a:pt x="426541" y="28430"/>
                  <a:pt x="426541" y="63499"/>
                </a:cubicBezTo>
                <a:lnTo>
                  <a:pt x="426541" y="127001"/>
                </a:lnTo>
                <a:cubicBezTo>
                  <a:pt x="426541" y="162070"/>
                  <a:pt x="398112" y="190500"/>
                  <a:pt x="363042" y="190500"/>
                </a:cubicBezTo>
                <a:lnTo>
                  <a:pt x="63499" y="190500"/>
                </a:lnTo>
                <a:cubicBezTo>
                  <a:pt x="28453" y="190500"/>
                  <a:pt x="0" y="162047"/>
                  <a:pt x="0" y="127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94" name="Text 92"/>
          <p:cNvSpPr/>
          <p:nvPr/>
        </p:nvSpPr>
        <p:spPr>
          <a:xfrm>
            <a:off x="8271867" y="6167042"/>
            <a:ext cx="482104" cy="19050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2027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9002117" y="6097194"/>
            <a:ext cx="27622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LLM-free inference, 10+ hop reasoning, theoretical foundations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8271867" y="6579792"/>
            <a:ext cx="493018" cy="190500"/>
          </a:xfrm>
          <a:custGeom>
            <a:avLst/>
            <a:gdLst/>
            <a:ahLst/>
            <a:cxnLst/>
            <a:rect l="l" t="t" r="r" b="b"/>
            <a:pathLst>
              <a:path w="493018" h="190500">
                <a:moveTo>
                  <a:pt x="63499" y="0"/>
                </a:moveTo>
                <a:lnTo>
                  <a:pt x="429519" y="0"/>
                </a:lnTo>
                <a:cubicBezTo>
                  <a:pt x="464588" y="0"/>
                  <a:pt x="493018" y="28430"/>
                  <a:pt x="493018" y="63499"/>
                </a:cubicBezTo>
                <a:lnTo>
                  <a:pt x="493018" y="127001"/>
                </a:lnTo>
                <a:cubicBezTo>
                  <a:pt x="493018" y="162070"/>
                  <a:pt x="464588" y="190500"/>
                  <a:pt x="429519" y="190500"/>
                </a:cubicBezTo>
                <a:lnTo>
                  <a:pt x="63499" y="190500"/>
                </a:lnTo>
                <a:cubicBezTo>
                  <a:pt x="28453" y="190500"/>
                  <a:pt x="0" y="162047"/>
                  <a:pt x="0" y="127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D166">
              <a:alpha val="20000"/>
            </a:srgbClr>
          </a:solidFill>
          <a:ln/>
        </p:spPr>
      </p:sp>
      <p:sp>
        <p:nvSpPr>
          <p:cNvPr id="97" name="Text 95"/>
          <p:cNvSpPr/>
          <p:nvPr/>
        </p:nvSpPr>
        <p:spPr>
          <a:xfrm>
            <a:off x="8271867" y="6579792"/>
            <a:ext cx="548580" cy="19050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2028+</a:t>
            </a:r>
            <a:endParaRPr lang="en-US" sz="1600" dirty="0"/>
          </a:p>
        </p:txBody>
      </p:sp>
      <p:sp>
        <p:nvSpPr>
          <p:cNvPr id="98" name="Text 96"/>
          <p:cNvSpPr/>
          <p:nvPr/>
        </p:nvSpPr>
        <p:spPr>
          <a:xfrm>
            <a:off x="9002117" y="6509944"/>
            <a:ext cx="27622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Universal multimodal reasoning, autonomous agent ecosystems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eaa84d99b8be4170bc6afdf0fefca93c69f565c4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222" r="222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971931" y="243362"/>
            <a:ext cx="914400" cy="9525"/>
          </a:xfrm>
          <a:custGeom>
            <a:avLst/>
            <a:gdLst/>
            <a:ahLst/>
            <a:cxnLst/>
            <a:rect l="l" t="t" r="r" b="b"/>
            <a:pathLst>
              <a:path w="914400" h="9525">
                <a:moveTo>
                  <a:pt x="0" y="0"/>
                </a:moveTo>
                <a:lnTo>
                  <a:pt x="914400" y="0"/>
                </a:lnTo>
                <a:lnTo>
                  <a:pt x="9144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0"/>
                </a:srgbClr>
              </a:gs>
              <a:gs pos="100000">
                <a:srgbClr val="4ECDC4">
                  <a:alpha val="50000"/>
                </a:srgbClr>
              </a:gs>
            </a:gsLst>
            <a:lin ang="0" scaled="1"/>
          </a:gradFill>
          <a:ln/>
        </p:spPr>
      </p:sp>
      <p:sp>
        <p:nvSpPr>
          <p:cNvPr id="5" name="Shape 2"/>
          <p:cNvSpPr/>
          <p:nvPr/>
        </p:nvSpPr>
        <p:spPr>
          <a:xfrm>
            <a:off x="6038731" y="190974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" name="Shape 3"/>
          <p:cNvSpPr/>
          <p:nvPr/>
        </p:nvSpPr>
        <p:spPr>
          <a:xfrm>
            <a:off x="6305431" y="243362"/>
            <a:ext cx="914400" cy="9525"/>
          </a:xfrm>
          <a:custGeom>
            <a:avLst/>
            <a:gdLst/>
            <a:ahLst/>
            <a:cxnLst/>
            <a:rect l="l" t="t" r="r" b="b"/>
            <a:pathLst>
              <a:path w="914400" h="9525">
                <a:moveTo>
                  <a:pt x="0" y="0"/>
                </a:moveTo>
                <a:lnTo>
                  <a:pt x="914400" y="0"/>
                </a:lnTo>
                <a:lnTo>
                  <a:pt x="9144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0"/>
                </a:srgbClr>
              </a:gs>
              <a:gs pos="100000">
                <a:srgbClr val="FFD166">
                  <a:alpha val="50000"/>
                </a:srgbClr>
              </a:gs>
            </a:gsLst>
            <a:lin ang="1080000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3972997" y="610074"/>
            <a:ext cx="4248150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Future is</a:t>
            </a:r>
            <a:endParaRPr lang="en-US" sz="1600" dirty="0"/>
          </a:p>
          <a:p>
            <a:pPr algn="ctr">
              <a:lnSpc>
                <a:spcPct val="90000"/>
              </a:lnSpc>
            </a:pPr>
            <a:r>
              <a:rPr lang="en-US" sz="54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Converged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71650" y="2728438"/>
            <a:ext cx="86487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integration of </a:t>
            </a:r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GNNs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LLMs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RAG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represents more than technological advancement—it's a 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paradigm shift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how AI systems reason, retrieve, and generate knowledge.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81175" y="4071463"/>
            <a:ext cx="86296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Organizations that embrace this convergence today will lead the intelligent systems of tomorrow.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702844" y="4765836"/>
            <a:ext cx="598170" cy="598170"/>
          </a:xfrm>
          <a:custGeom>
            <a:avLst/>
            <a:gdLst/>
            <a:ahLst/>
            <a:cxnLst/>
            <a:rect l="l" t="t" r="r" b="b"/>
            <a:pathLst>
              <a:path w="598170" h="598170">
                <a:moveTo>
                  <a:pt x="152402" y="0"/>
                </a:moveTo>
                <a:lnTo>
                  <a:pt x="445768" y="0"/>
                </a:lnTo>
                <a:cubicBezTo>
                  <a:pt x="529881" y="0"/>
                  <a:pt x="598170" y="68289"/>
                  <a:pt x="598170" y="152402"/>
                </a:cubicBezTo>
                <a:lnTo>
                  <a:pt x="598170" y="445768"/>
                </a:lnTo>
                <a:cubicBezTo>
                  <a:pt x="598170" y="529881"/>
                  <a:pt x="529881" y="598170"/>
                  <a:pt x="445768" y="598170"/>
                </a:cubicBezTo>
                <a:lnTo>
                  <a:pt x="152402" y="598170"/>
                </a:lnTo>
                <a:cubicBezTo>
                  <a:pt x="68289" y="598170"/>
                  <a:pt x="0" y="529881"/>
                  <a:pt x="0" y="44576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4ECDC4">
              <a:alpha val="14902"/>
            </a:srgbClr>
          </a:solidFill>
          <a:ln w="1016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89534" y="495252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2" name="Text 9"/>
          <p:cNvSpPr/>
          <p:nvPr/>
        </p:nvSpPr>
        <p:spPr>
          <a:xfrm>
            <a:off x="3062645" y="5524026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076932" y="5866926"/>
            <a:ext cx="185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 topology &amp; relationships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794891" y="4765836"/>
            <a:ext cx="598170" cy="598170"/>
          </a:xfrm>
          <a:custGeom>
            <a:avLst/>
            <a:gdLst/>
            <a:ahLst/>
            <a:cxnLst/>
            <a:rect l="l" t="t" r="r" b="b"/>
            <a:pathLst>
              <a:path w="598170" h="598170">
                <a:moveTo>
                  <a:pt x="152402" y="0"/>
                </a:moveTo>
                <a:lnTo>
                  <a:pt x="445768" y="0"/>
                </a:lnTo>
                <a:cubicBezTo>
                  <a:pt x="529881" y="0"/>
                  <a:pt x="598170" y="68289"/>
                  <a:pt x="598170" y="152402"/>
                </a:cubicBezTo>
                <a:lnTo>
                  <a:pt x="598170" y="445768"/>
                </a:lnTo>
                <a:cubicBezTo>
                  <a:pt x="598170" y="529881"/>
                  <a:pt x="529881" y="598170"/>
                  <a:pt x="445768" y="598170"/>
                </a:cubicBezTo>
                <a:lnTo>
                  <a:pt x="152402" y="598170"/>
                </a:lnTo>
                <a:cubicBezTo>
                  <a:pt x="68289" y="598170"/>
                  <a:pt x="0" y="529881"/>
                  <a:pt x="0" y="44576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FD166">
              <a:alpha val="14902"/>
            </a:srgbClr>
          </a:solidFill>
          <a:ln w="10160">
            <a:solidFill>
              <a:srgbClr val="FFD166">
                <a:alpha val="30196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81581" y="495252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16" name="Text 13"/>
          <p:cNvSpPr/>
          <p:nvPr/>
        </p:nvSpPr>
        <p:spPr>
          <a:xfrm>
            <a:off x="5154692" y="5524026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D1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168979" y="5866926"/>
            <a:ext cx="185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Language &amp; reasoning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886938" y="4765836"/>
            <a:ext cx="598170" cy="598170"/>
          </a:xfrm>
          <a:custGeom>
            <a:avLst/>
            <a:gdLst/>
            <a:ahLst/>
            <a:cxnLst/>
            <a:rect l="l" t="t" r="r" b="b"/>
            <a:pathLst>
              <a:path w="598170" h="598170">
                <a:moveTo>
                  <a:pt x="152402" y="0"/>
                </a:moveTo>
                <a:lnTo>
                  <a:pt x="445768" y="0"/>
                </a:lnTo>
                <a:cubicBezTo>
                  <a:pt x="529881" y="0"/>
                  <a:pt x="598170" y="68289"/>
                  <a:pt x="598170" y="152402"/>
                </a:cubicBezTo>
                <a:lnTo>
                  <a:pt x="598170" y="445768"/>
                </a:lnTo>
                <a:cubicBezTo>
                  <a:pt x="598170" y="529881"/>
                  <a:pt x="529881" y="598170"/>
                  <a:pt x="445768" y="598170"/>
                </a:cubicBezTo>
                <a:lnTo>
                  <a:pt x="152402" y="598170"/>
                </a:lnTo>
                <a:cubicBezTo>
                  <a:pt x="68289" y="598170"/>
                  <a:pt x="0" y="529881"/>
                  <a:pt x="0" y="44576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4ECDC4">
              <a:alpha val="14902"/>
            </a:srgbClr>
          </a:solidFill>
          <a:ln w="1016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87916" y="4952526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0" name="Text 17"/>
          <p:cNvSpPr/>
          <p:nvPr/>
        </p:nvSpPr>
        <p:spPr>
          <a:xfrm>
            <a:off x="7246739" y="5524026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261027" y="5866926"/>
            <a:ext cx="185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retrieval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588193" y="651462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3" name="Text 20"/>
          <p:cNvSpPr/>
          <p:nvPr/>
        </p:nvSpPr>
        <p:spPr>
          <a:xfrm>
            <a:off x="4740593" y="6438426"/>
            <a:ext cx="2714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convergence revolution begins now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527489" y="651462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Convergence Revolution: GNN + LLM + RAG</dc:title>
  <dc:subject>The Convergence Revolution: GNN + LLM + RAG</dc:subject>
  <dc:creator>Kimi</dc:creator>
  <cp:lastModifiedBy>Kimi</cp:lastModifiedBy>
  <cp:revision>1</cp:revision>
  <dcterms:created xsi:type="dcterms:W3CDTF">2026-03-23T05:58:28Z</dcterms:created>
  <dcterms:modified xsi:type="dcterms:W3CDTF">2026-03-23T05:58:28Z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{"Label":"The Convergence Revolution: GNN + LLM + RAG","ContentProducer":"001191110108MACG2KBH8F10000","ProduceID":"19d18e1a-d962-8a7c-8000-00007503997e","ReservedCode1":"","ContentPropagator":"001191110108MACG2KBH8F20000","PropagateID":"19d18e1a-d962-8a7c-8000-00007503997e","ReservedCode2":""}</vt:lpwstr>
  </property>
</Properties>
</file>